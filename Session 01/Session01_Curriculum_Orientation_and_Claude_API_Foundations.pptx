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Weight</c:v>
                </c:pt>
              </c:strCache>
            </c:strRef>
          </c:tx>
          <c:spPr>
            <a:solidFill>
              <a:srgbClr val="D97757"/>
            </a:solidFill>
            <a:effectLst/>
          </c:spPr>
          <c:invertIfNegative val="0"/>
          <c:dLbls>
            <c:numFmt formatCode="#,##0" sourceLinked="0"/>
            <c:txPr>
              <a:bodyPr/>
              <a:lstStyle/>
              <a:p>
                <a:pPr>
                  <a:defRPr b="0" i="0" strike="noStrike" sz="1400" u="none">
                    <a:solidFill>
                      <a:srgbClr val="14141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D1 Agentic Architecture</c:v>
                  </c:pt>
                  <c:pt idx="1">
                    <c:v>D3 Claude Code</c:v>
                  </c:pt>
                  <c:pt idx="2">
                    <c:v>D4 Prompt Engineering</c:v>
                  </c:pt>
                  <c:pt idx="3">
                    <c:v>D2 Tool Design &amp; MCP</c:v>
                  </c:pt>
                  <c:pt idx="4">
                    <c:v>D5 Context &amp; Reliability</c:v>
                  </c:pt>
                </c:lvl>
              </c:multiLvlStrCache>
            </c:multiLvlStrRef>
          </c:cat>
          <c:val>
            <c:numRef>
              <c:f>Sheet1!$B$2:$B$6</c:f>
              <c:numCache>
                <c:formatCode>General</c:formatCode>
                <c:ptCount val="5"/>
                <c:pt idx="0">
                  <c:v>27</c:v>
                </c:pt>
                <c:pt idx="1">
                  <c:v>20</c:v>
                </c:pt>
                <c:pt idx="2">
                  <c:v>20</c:v>
                </c:pt>
                <c:pt idx="3">
                  <c:v>18</c:v>
                </c:pt>
                <c:pt idx="4">
                  <c:v>15</c:v>
                </c:pt>
              </c:numCache>
            </c:numRef>
          </c:val>
        </c:ser>
        <c:dLbls>
          <c:numFmt formatCode="#,##0" sourceLinked="0"/>
          <c:txPr>
            <a:bodyPr/>
            <a:lstStyle/>
            <a:p>
              <a:pPr>
                <a:defRPr b="0" i="0" strike="noStrike" sz="1400" u="none">
                  <a:solidFill>
                    <a:srgbClr val="141413"/>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41413"/>
                </a:solidFill>
                <a:latin typeface="Calibri"/>
              </a:defRPr>
            </a:pPr>
            <a:endParaRPr lang="en-US"/>
          </a:p>
        </c:txPr>
        <c:crossAx val="2094734552"/>
        <c:crosses val="autoZero"/>
        <c:auto val="1"/>
        <c:lblAlgn val="ctr"/>
        <c:noMultiLvlLbl val="1"/>
      </c:catAx>
      <c:valAx>
        <c:axId val="2094734552"/>
        <c:scaling>
          <c:orientation val="minMax"/>
          <c:max val="3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[0:00–1:00] Transcript: Slide 1.
Welcome. Set the tone: this is a skills curriculum using the CCAR-F exam guide as the syllabus.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[1:00–3:00] Transcript: Slide 2.
Walk the timeline. Emphasize the balance: about 40% API mechanics, 25% exam reasoning, the rest orientation and wrap-up.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[3:00–5:00] Transcript: Slide 3.
Explain weights. Point out Domain 1 is largest, so sessions 2, 5 and 6 carry a lot of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[5:00–6:00] Transcript: Slide 4.
Explain the loop: pre-work, session, homework,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[6:00–7:00] Transcript: Slide 5.
Show where today sits. Tiles are colored by primary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[7:00–12:00] Transcript: Slide 6.
Ask: which scenario do you have the least experience with? Note that Sample Q2 and Q3 come from Scenario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[13:00–15:00] Transcript: Slide 7.
Read the skip list aloud. Prompt caching appears today only as existence.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[15:00–15:30] Transcript: Slide 8.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[15:20–17:30] Transcript: Slide 9.
Introduce the mental model before any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[17:30–19:30] Transcript: Slide 10.
Walk the five parameters. Authentication details are out of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[19:30–21:30] Transcript: Slide 11.
Point at the text plus tool_use pair; Session 2 returns to this as an anti-pattern.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[21:30–24:00] Transcript: Slide 12.
Ask: what do you think happens to cost and context as the conversation grows? Foreshadow Domain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[24:00–26:00] Transcript: Slide 13.
Stress the description. This is a preview of Session 3 and Sample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[26:00–29:30] Transcript: Slide 14.
Trace one request slowly. Ask the learner to predict step 5 before revealing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[29:30–32:00] Transcript: Slide 15.
Emphasize the two exam-critical values. The others are handled per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[32:00–33:00] Transcript: Slide 16.
Keep this to one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[33:00–37:00] Transcript: Slide 17.
Run the script live if API access is ready. Otherwise show this expected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[37:00–37:30] Transcript: Slide 18.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[37:00–40:00] Transcript: Slide 19.
Teach the method, then apply it to two real samples.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[40–42 min] Transcript: Slide 20.
Give the learner two minutes to answer and reason aloud before revealing.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[42–46 min] Transcript: Slide 21.
Reveal B and walk each rejection.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[46–48 min] Transcript: Slide 22.
Same routine. Ask what the root cause is before reading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[48–51 min] Transcript: Slide 23.
Reveal A. Ask why B feels intuitive but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[51–52 min] Transcript: Slide 24.
Introduce the running principles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[52–54 min] Transcript: Slide 25.
Ask the learner to say each one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[54–57 min] Transcript: Slide 26.
Confirm everyone can get an API key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[57–58 min] Transcript: Slide 27.
Hand these out. Answers are in the instructor transcript appendix and are reviewed at the start of Session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[58–59 min] Transcript: Slide 28.
Hand these out. Answers are in the instructor transcript appendix and are reviewed at the start of Session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min] Transcript: Slide 29.
Close. Next session: agentic loops.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slideLayout" Target="../slideLayouts/slideLayout1.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3"/>
        </a:solidFill>
      </p:bgPr>
    </p:bg>
    <p:spTree>
      <p:nvGrpSpPr>
        <p:cNvPr id="1" name=""/>
        <p:cNvGrpSpPr/>
        <p:nvPr/>
      </p:nvGrpSpPr>
      <p:grpSpPr>
        <a:xfrm>
          <a:off x="0" y="0"/>
          <a:ext cx="0" cy="0"/>
          <a:chOff x="0" y="0"/>
          <a:chExt cx="0" cy="0"/>
        </a:xfrm>
      </p:grpSpPr>
      <p:sp>
        <p:nvSpPr>
          <p:cNvPr id="2" name="Shape 0"/>
          <p:cNvSpPr/>
          <p:nvPr/>
        </p:nvSpPr>
        <p:spPr>
          <a:xfrm>
            <a:off x="6949440" y="868680"/>
            <a:ext cx="5120640" cy="5120640"/>
          </a:xfrm>
          <a:prstGeom prst="ellipse">
            <a:avLst/>
          </a:prstGeom>
          <a:solidFill>
            <a:srgbClr val="D97757">
              <a:alpha val="20000"/>
            </a:srgbClr>
          </a:solidFill>
          <a:ln w="12700">
            <a:solidFill>
              <a:srgbClr val="D97757">
                <a:alpha val="20000"/>
              </a:srgbClr>
            </a:solidFill>
            <a:prstDash val="solid"/>
          </a:ln>
        </p:spPr>
      </p:sp>
      <p:sp>
        <p:nvSpPr>
          <p:cNvPr id="3" name="Shape 1"/>
          <p:cNvSpPr/>
          <p:nvPr/>
        </p:nvSpPr>
        <p:spPr>
          <a:xfrm>
            <a:off x="7680960" y="1600200"/>
            <a:ext cx="3657600" cy="3657600"/>
          </a:xfrm>
          <a:prstGeom prst="ellipse">
            <a:avLst/>
          </a:prstGeom>
          <a:solidFill>
            <a:srgbClr val="D97757">
              <a:alpha val="45000"/>
            </a:srgbClr>
          </a:solidFill>
          <a:ln w="12700">
            <a:solidFill>
              <a:srgbClr val="D97757">
                <a:alpha val="45000"/>
              </a:srgbClr>
            </a:solidFill>
            <a:prstDash val="solid"/>
          </a:ln>
        </p:spPr>
      </p:sp>
      <p:sp>
        <p:nvSpPr>
          <p:cNvPr id="4" name="Shape 2"/>
          <p:cNvSpPr/>
          <p:nvPr/>
        </p:nvSpPr>
        <p:spPr>
          <a:xfrm>
            <a:off x="8503920" y="2423160"/>
            <a:ext cx="2011680" cy="2011680"/>
          </a:xfrm>
          <a:prstGeom prst="ellipse">
            <a:avLst/>
          </a:prstGeom>
          <a:solidFill>
            <a:srgbClr val="D97757"/>
          </a:solidFill>
          <a:ln w="12700">
            <a:solidFill>
              <a:srgbClr val="D97757"/>
            </a:solidFill>
            <a:prstDash val="solid"/>
          </a:ln>
        </p:spPr>
      </p:sp>
      <p:sp>
        <p:nvSpPr>
          <p:cNvPr id="5" name="Text 3"/>
          <p:cNvSpPr txBox="1"/>
          <p:nvPr/>
        </p:nvSpPr>
        <p:spPr>
          <a:xfrm>
            <a:off x="8503920" y="2423160"/>
            <a:ext cx="2011680" cy="2011680"/>
          </a:xfrm>
          <a:prstGeom prst="rect">
            <a:avLst/>
          </a:prstGeom>
          <a:noFill/>
          <a:ln/>
        </p:spPr>
        <p:txBody>
          <a:bodyPr wrap="square" lIns="0" tIns="0" rIns="0" bIns="0" rtlCol="0" anchor="ctr"/>
          <a:lstStyle/>
          <a:p>
            <a:pPr algn="ctr" indent="0" marL="0">
              <a:buNone/>
            </a:pPr>
            <a:r>
              <a:rPr lang="en-US" sz="9600" dirty="0">
                <a:solidFill>
                  <a:srgbClr val="141413"/>
                </a:solidFill>
                <a:latin typeface="Cambria" pitchFamily="34" charset="0"/>
                <a:ea typeface="Cambria" pitchFamily="34" charset="-122"/>
                <a:cs typeface="Cambria" pitchFamily="34" charset="-120"/>
              </a:rPr>
              <a:t>1</a:t>
            </a:r>
            <a:endParaRPr lang="en-US" sz="9600" dirty="0"/>
          </a:p>
        </p:txBody>
      </p:sp>
      <p:sp>
        <p:nvSpPr>
          <p:cNvPr id="6" name="Text 4"/>
          <p:cNvSpPr txBox="1"/>
          <p:nvPr/>
        </p:nvSpPr>
        <p:spPr>
          <a:xfrm>
            <a:off x="640080" y="1097280"/>
            <a:ext cx="6400800" cy="274320"/>
          </a:xfrm>
          <a:prstGeom prst="rect">
            <a:avLst/>
          </a:prstGeom>
          <a:noFill/>
          <a:ln/>
        </p:spPr>
        <p:txBody>
          <a:bodyPr wrap="square" lIns="0" tIns="0" rIns="0" bIns="0"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CLAUDE ARCHITECT SKILLS CURRICULUM  ·  SESSION 1 OF 16</a:t>
            </a:r>
            <a:endParaRPr lang="en-US" sz="1200" dirty="0"/>
          </a:p>
        </p:txBody>
      </p:sp>
      <p:sp>
        <p:nvSpPr>
          <p:cNvPr id="7" name="Text 5"/>
          <p:cNvSpPr txBox="1"/>
          <p:nvPr/>
        </p:nvSpPr>
        <p:spPr>
          <a:xfrm>
            <a:off x="640080" y="1600200"/>
            <a:ext cx="6035040" cy="2103120"/>
          </a:xfrm>
          <a:prstGeom prst="rect">
            <a:avLst/>
          </a:prstGeom>
          <a:noFill/>
          <a:ln/>
        </p:spPr>
        <p:txBody>
          <a:bodyPr wrap="square" lIns="0" tIns="0" rIns="0" bIns="0" rtlCol="0" anchor="t"/>
          <a:lstStyle/>
          <a:p>
            <a:pPr indent="0" marL="0">
              <a:buNone/>
            </a:pPr>
            <a:r>
              <a:rPr lang="en-US" sz="4400" dirty="0">
                <a:solidFill>
                  <a:srgbClr val="FAF9F5"/>
                </a:solidFill>
                <a:latin typeface="Cambria" pitchFamily="34" charset="0"/>
                <a:ea typeface="Cambria" pitchFamily="34" charset="-122"/>
                <a:cs typeface="Cambria" pitchFamily="34" charset="-120"/>
              </a:rPr>
              <a:t>Curriculum Orientation and Claude API Foundations</a:t>
            </a:r>
            <a:endParaRPr lang="en-US" sz="4400" dirty="0"/>
          </a:p>
        </p:txBody>
      </p:sp>
      <p:sp>
        <p:nvSpPr>
          <p:cNvPr id="8" name="Text 6"/>
          <p:cNvSpPr txBox="1"/>
          <p:nvPr/>
        </p:nvSpPr>
        <p:spPr>
          <a:xfrm>
            <a:off x="640080" y="3886200"/>
            <a:ext cx="5760720" cy="914400"/>
          </a:xfrm>
          <a:prstGeom prst="rect">
            <a:avLst/>
          </a:prstGeom>
          <a:noFill/>
          <a:ln/>
        </p:spPr>
        <p:txBody>
          <a:bodyPr wrap="square" lIns="0" tIns="0" rIns="0" bIns="0" rtlCol="0" anchor="t"/>
          <a:lstStyle/>
          <a:p>
            <a:pPr indent="0" marL="0">
              <a:buNone/>
            </a:pPr>
            <a:r>
              <a:rPr lang="en-US" sz="1700" dirty="0">
                <a:solidFill>
                  <a:srgbClr val="C9C7BC"/>
                </a:solidFill>
                <a:latin typeface="Calibri" pitchFamily="34" charset="0"/>
                <a:ea typeface="Calibri" pitchFamily="34" charset="-122"/>
                <a:cs typeface="Calibri" pitchFamily="34" charset="-120"/>
              </a:rPr>
              <a:t>How the plan maps to the five exam domains, the six scenarios you will reason about, and the API mechanics everything else is built on.</a:t>
            </a:r>
            <a:endParaRPr lang="en-US" sz="1700" dirty="0"/>
          </a:p>
        </p:txBody>
      </p:sp>
      <p:sp>
        <p:nvSpPr>
          <p:cNvPr id="9" name="Text 7"/>
          <p:cNvSpPr txBox="1"/>
          <p:nvPr/>
        </p:nvSpPr>
        <p:spPr>
          <a:xfrm>
            <a:off x="640080" y="5806440"/>
            <a:ext cx="6400800" cy="274320"/>
          </a:xfrm>
          <a:prstGeom prst="rect">
            <a:avLst/>
          </a:prstGeom>
          <a:noFill/>
          <a:ln/>
        </p:spPr>
        <p:txBody>
          <a:bodyPr wrap="square" lIns="0" tIns="0" rIns="0" bIns="0" rtlCol="0" anchor="ctr"/>
          <a:lstStyle/>
          <a:p>
            <a:pPr indent="0" marL="0">
              <a:buNone/>
            </a:pPr>
            <a:r>
              <a:rPr lang="en-US" sz="1200" dirty="0">
                <a:solidFill>
                  <a:srgbClr val="87867F"/>
                </a:solidFill>
                <a:latin typeface="Calibri" pitchFamily="34" charset="0"/>
                <a:ea typeface="Calibri" pitchFamily="34" charset="-122"/>
                <a:cs typeface="Calibri" pitchFamily="34" charset="-120"/>
              </a:rPr>
              <a:t>Built on the Claude Certified Architect – Foundations (CCAR-F) exam guide</a:t>
            </a:r>
            <a:endParaRPr lang="en-US" sz="1200" dirty="0"/>
          </a:p>
        </p:txBody>
      </p:sp>
      <p:sp>
        <p:nvSpPr>
          <p:cNvPr id="10" name="Text 8"/>
          <p:cNvSpPr txBox="1"/>
          <p:nvPr/>
        </p:nvSpPr>
        <p:spPr>
          <a:xfrm>
            <a:off x="640080" y="6080760"/>
            <a:ext cx="6400800" cy="274320"/>
          </a:xfrm>
          <a:prstGeom prst="rect">
            <a:avLst/>
          </a:prstGeom>
          <a:noFill/>
          <a:ln/>
        </p:spPr>
        <p:txBody>
          <a:bodyPr wrap="square" lIns="0" tIns="0" rIns="0" bIns="0" rtlCol="0" anchor="ctr"/>
          <a:lstStyle/>
          <a:p>
            <a:pPr indent="0" marL="0">
              <a:buNone/>
            </a:pPr>
            <a:r>
              <a:rPr lang="en-US" sz="1200" dirty="0">
                <a:solidFill>
                  <a:srgbClr val="87867F"/>
                </a:solidFill>
                <a:latin typeface="Calibri" pitchFamily="34" charset="0"/>
                <a:ea typeface="Calibri" pitchFamily="34" charset="-122"/>
                <a:cs typeface="Calibri" pitchFamily="34" charset="-120"/>
              </a:rPr>
              <a:t>Pre-work: AI Fluency course (optional)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548640" y="365760"/>
            <a:ext cx="8686800" cy="274320"/>
          </a:xfrm>
          <a:prstGeom prst="rect">
            <a:avLst/>
          </a:prstGeom>
          <a:noFill/>
          <a:ln/>
        </p:spPr>
        <p:txBody>
          <a:bodyPr wrap="square" lIns="0" tIns="0" rIns="0" bIns="0"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SESSION PLAN</a:t>
            </a:r>
            <a:endParaRPr lang="en-US" sz="1200" dirty="0"/>
          </a:p>
        </p:txBody>
      </p:sp>
      <p:sp>
        <p:nvSpPr>
          <p:cNvPr id="3" name="Text 1"/>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200" dirty="0">
                <a:solidFill>
                  <a:srgbClr val="141413"/>
                </a:solidFill>
                <a:latin typeface="Cambria" pitchFamily="34" charset="0"/>
                <a:ea typeface="Cambria" pitchFamily="34" charset="-122"/>
                <a:cs typeface="Cambria" pitchFamily="34" charset="-120"/>
              </a:rPr>
              <a:t>Today in 60 minutes</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87867F"/>
                </a:solidFill>
                <a:latin typeface="Calibri" pitchFamily="34" charset="0"/>
                <a:ea typeface="Calibri" pitchFamily="34" charset="-122"/>
                <a:cs typeface="Calibri" pitchFamily="34" charset="-120"/>
              </a:rPr>
              <a:t>CCAR-F Skills Curriculum  ·  Session 1  ·  2</a:t>
            </a:r>
            <a:endParaRPr lang="en-US" sz="1000" dirty="0"/>
          </a:p>
        </p:txBody>
      </p:sp>
      <p:sp>
        <p:nvSpPr>
          <p:cNvPr id="5" name="Text 3"/>
          <p:cNvSpPr txBox="1"/>
          <p:nvPr/>
        </p:nvSpPr>
        <p:spPr>
          <a:xfrm>
            <a:off x="8869680" y="365760"/>
            <a:ext cx="2770632" cy="274320"/>
          </a:xfrm>
          <a:prstGeom prst="rect">
            <a:avLst/>
          </a:prstGeom>
          <a:noFill/>
          <a:ln/>
        </p:spPr>
        <p:txBody>
          <a:bodyPr wrap="square" lIns="0" tIns="0" rIns="0" bIns="0" rtlCol="0" anchor="ctr"/>
          <a:lstStyle/>
          <a:p>
            <a:pPr algn="r" indent="0" marL="0">
              <a:buNone/>
            </a:pPr>
            <a:r>
              <a:rPr lang="en-US" sz="1100" dirty="0">
                <a:solidFill>
                  <a:srgbClr val="87867F"/>
                </a:solidFill>
                <a:latin typeface="Calibri" pitchFamily="34" charset="0"/>
                <a:ea typeface="Calibri" pitchFamily="34" charset="-122"/>
                <a:cs typeface="Calibri" pitchFamily="34" charset="-120"/>
              </a:rPr>
              <a:t>1–3 min</a:t>
            </a:r>
            <a:endParaRPr lang="en-US" sz="1100" dirty="0"/>
          </a:p>
        </p:txBody>
      </p:sp>
      <p:sp>
        <p:nvSpPr>
          <p:cNvPr id="6" name="Shape 4"/>
          <p:cNvSpPr/>
          <p:nvPr/>
        </p:nvSpPr>
        <p:spPr>
          <a:xfrm>
            <a:off x="548640" y="1783080"/>
            <a:ext cx="1257452" cy="731520"/>
          </a:xfrm>
          <a:prstGeom prst="rect">
            <a:avLst/>
          </a:prstGeom>
          <a:solidFill>
            <a:srgbClr val="D97757"/>
          </a:solidFill>
          <a:ln w="12700">
            <a:solidFill>
              <a:srgbClr val="FAF9F5"/>
            </a:solidFill>
            <a:prstDash val="solid"/>
          </a:ln>
        </p:spPr>
      </p:sp>
      <p:sp>
        <p:nvSpPr>
          <p:cNvPr id="7" name="Text 5"/>
          <p:cNvSpPr txBox="1"/>
          <p:nvPr/>
        </p:nvSpPr>
        <p:spPr>
          <a:xfrm>
            <a:off x="548640" y="1783080"/>
            <a:ext cx="1257452" cy="731520"/>
          </a:xfrm>
          <a:prstGeom prst="rect">
            <a:avLst/>
          </a:prstGeom>
          <a:noFill/>
          <a:ln/>
        </p:spPr>
        <p:txBody>
          <a:bodyPr wrap="square" lIns="0" tIns="0" rIns="0" bIns="0" rtlCol="0" anchor="ctr"/>
          <a:lstStyle/>
          <a:p>
            <a:pPr algn="ctr" indent="0" marL="0">
              <a:buNone/>
            </a:pPr>
            <a:r>
              <a:rPr lang="en-US" sz="1400" dirty="0">
                <a:solidFill>
                  <a:srgbClr val="FFFFFF"/>
                </a:solidFill>
                <a:latin typeface="Cambria" pitchFamily="34" charset="0"/>
                <a:ea typeface="Cambria" pitchFamily="34" charset="-122"/>
                <a:cs typeface="Cambria" pitchFamily="34" charset="-120"/>
              </a:rPr>
              <a:t>7 min</a:t>
            </a:r>
            <a:endParaRPr lang="en-US" sz="1400" dirty="0"/>
          </a:p>
        </p:txBody>
      </p:sp>
      <p:sp>
        <p:nvSpPr>
          <p:cNvPr id="8" name="Shape 6"/>
          <p:cNvSpPr/>
          <p:nvPr/>
        </p:nvSpPr>
        <p:spPr>
          <a:xfrm>
            <a:off x="1842668" y="1783080"/>
            <a:ext cx="1442314" cy="731520"/>
          </a:xfrm>
          <a:prstGeom prst="rect">
            <a:avLst/>
          </a:prstGeom>
          <a:solidFill>
            <a:srgbClr val="6A9BCC"/>
          </a:solidFill>
          <a:ln w="12700">
            <a:solidFill>
              <a:srgbClr val="FAF9F5"/>
            </a:solidFill>
            <a:prstDash val="solid"/>
          </a:ln>
        </p:spPr>
      </p:sp>
      <p:sp>
        <p:nvSpPr>
          <p:cNvPr id="9" name="Text 7"/>
          <p:cNvSpPr txBox="1"/>
          <p:nvPr/>
        </p:nvSpPr>
        <p:spPr>
          <a:xfrm>
            <a:off x="1842668" y="1783080"/>
            <a:ext cx="1442314" cy="731520"/>
          </a:xfrm>
          <a:prstGeom prst="rect">
            <a:avLst/>
          </a:prstGeom>
          <a:noFill/>
          <a:ln/>
        </p:spPr>
        <p:txBody>
          <a:bodyPr wrap="square" lIns="0" tIns="0" rIns="0" bIns="0" rtlCol="0" anchor="ctr"/>
          <a:lstStyle/>
          <a:p>
            <a:pPr algn="ctr" indent="0" marL="0">
              <a:buNone/>
            </a:pPr>
            <a:r>
              <a:rPr lang="en-US" sz="1400" dirty="0">
                <a:solidFill>
                  <a:srgbClr val="FFFFFF"/>
                </a:solidFill>
                <a:latin typeface="Cambria" pitchFamily="34" charset="0"/>
                <a:ea typeface="Cambria" pitchFamily="34" charset="-122"/>
                <a:cs typeface="Cambria" pitchFamily="34" charset="-120"/>
              </a:rPr>
              <a:t>8 min</a:t>
            </a:r>
            <a:endParaRPr lang="en-US" sz="1400" dirty="0"/>
          </a:p>
        </p:txBody>
      </p:sp>
      <p:sp>
        <p:nvSpPr>
          <p:cNvPr id="10" name="Shape 8"/>
          <p:cNvSpPr/>
          <p:nvPr/>
        </p:nvSpPr>
        <p:spPr>
          <a:xfrm>
            <a:off x="3321558" y="1783080"/>
            <a:ext cx="4030370" cy="731520"/>
          </a:xfrm>
          <a:prstGeom prst="rect">
            <a:avLst/>
          </a:prstGeom>
          <a:solidFill>
            <a:srgbClr val="141413"/>
          </a:solidFill>
          <a:ln w="12700">
            <a:solidFill>
              <a:srgbClr val="FAF9F5"/>
            </a:solidFill>
            <a:prstDash val="solid"/>
          </a:ln>
        </p:spPr>
      </p:sp>
      <p:sp>
        <p:nvSpPr>
          <p:cNvPr id="11" name="Text 9"/>
          <p:cNvSpPr txBox="1"/>
          <p:nvPr/>
        </p:nvSpPr>
        <p:spPr>
          <a:xfrm>
            <a:off x="3321558" y="1783080"/>
            <a:ext cx="4030370" cy="731520"/>
          </a:xfrm>
          <a:prstGeom prst="rect">
            <a:avLst/>
          </a:prstGeom>
          <a:noFill/>
          <a:ln/>
        </p:spPr>
        <p:txBody>
          <a:bodyPr wrap="square" lIns="0" tIns="0" rIns="0" bIns="0" rtlCol="0" anchor="ctr"/>
          <a:lstStyle/>
          <a:p>
            <a:pPr algn="ctr" indent="0" marL="0">
              <a:buNone/>
            </a:pPr>
            <a:r>
              <a:rPr lang="en-US" sz="2000" dirty="0">
                <a:solidFill>
                  <a:srgbClr val="FAF9F5"/>
                </a:solidFill>
                <a:latin typeface="Cambria" pitchFamily="34" charset="0"/>
                <a:ea typeface="Cambria" pitchFamily="34" charset="-122"/>
                <a:cs typeface="Cambria" pitchFamily="34" charset="-120"/>
              </a:rPr>
              <a:t>22 min</a:t>
            </a:r>
            <a:endParaRPr lang="en-US" sz="2000" dirty="0"/>
          </a:p>
        </p:txBody>
      </p:sp>
      <p:sp>
        <p:nvSpPr>
          <p:cNvPr id="12" name="Shape 10"/>
          <p:cNvSpPr/>
          <p:nvPr/>
        </p:nvSpPr>
        <p:spPr>
          <a:xfrm>
            <a:off x="7388504" y="1783080"/>
            <a:ext cx="2736342" cy="731520"/>
          </a:xfrm>
          <a:prstGeom prst="rect">
            <a:avLst/>
          </a:prstGeom>
          <a:solidFill>
            <a:srgbClr val="788C5D"/>
          </a:solidFill>
          <a:ln w="12700">
            <a:solidFill>
              <a:srgbClr val="FAF9F5"/>
            </a:solidFill>
            <a:prstDash val="solid"/>
          </a:ln>
        </p:spPr>
      </p:sp>
      <p:sp>
        <p:nvSpPr>
          <p:cNvPr id="13" name="Text 11"/>
          <p:cNvSpPr txBox="1"/>
          <p:nvPr/>
        </p:nvSpPr>
        <p:spPr>
          <a:xfrm>
            <a:off x="7388504" y="1783080"/>
            <a:ext cx="2736342" cy="731520"/>
          </a:xfrm>
          <a:prstGeom prst="rect">
            <a:avLst/>
          </a:prstGeom>
          <a:noFill/>
          <a:ln/>
        </p:spPr>
        <p:txBody>
          <a:bodyPr wrap="square" lIns="0" tIns="0" rIns="0" bIns="0" rtlCol="0" anchor="ctr"/>
          <a:lstStyle/>
          <a:p>
            <a:pPr algn="ctr" indent="0" marL="0">
              <a:buNone/>
            </a:pPr>
            <a:r>
              <a:rPr lang="en-US" sz="2000" dirty="0">
                <a:solidFill>
                  <a:srgbClr val="FFFFFF"/>
                </a:solidFill>
                <a:latin typeface="Cambria" pitchFamily="34" charset="0"/>
                <a:ea typeface="Cambria" pitchFamily="34" charset="-122"/>
                <a:cs typeface="Cambria" pitchFamily="34" charset="-120"/>
              </a:rPr>
              <a:t>15 min</a:t>
            </a:r>
            <a:endParaRPr lang="en-US" sz="2000" dirty="0"/>
          </a:p>
        </p:txBody>
      </p:sp>
      <p:sp>
        <p:nvSpPr>
          <p:cNvPr id="14" name="Shape 12"/>
          <p:cNvSpPr/>
          <p:nvPr/>
        </p:nvSpPr>
        <p:spPr>
          <a:xfrm>
            <a:off x="10161422" y="1783080"/>
            <a:ext cx="1442314" cy="731520"/>
          </a:xfrm>
          <a:prstGeom prst="rect">
            <a:avLst/>
          </a:prstGeom>
          <a:solidFill>
            <a:srgbClr val="C8A24A"/>
          </a:solidFill>
          <a:ln w="12700">
            <a:solidFill>
              <a:srgbClr val="FAF9F5"/>
            </a:solidFill>
            <a:prstDash val="solid"/>
          </a:ln>
        </p:spPr>
      </p:sp>
      <p:sp>
        <p:nvSpPr>
          <p:cNvPr id="15" name="Text 13"/>
          <p:cNvSpPr txBox="1"/>
          <p:nvPr/>
        </p:nvSpPr>
        <p:spPr>
          <a:xfrm>
            <a:off x="10161422" y="1783080"/>
            <a:ext cx="1442314" cy="731520"/>
          </a:xfrm>
          <a:prstGeom prst="rect">
            <a:avLst/>
          </a:prstGeom>
          <a:noFill/>
          <a:ln/>
        </p:spPr>
        <p:txBody>
          <a:bodyPr wrap="square" lIns="0" tIns="0" rIns="0" bIns="0" rtlCol="0" anchor="ctr"/>
          <a:lstStyle/>
          <a:p>
            <a:pPr algn="ctr" indent="0" marL="0">
              <a:buNone/>
            </a:pPr>
            <a:r>
              <a:rPr lang="en-US" sz="1400" dirty="0">
                <a:solidFill>
                  <a:srgbClr val="141413"/>
                </a:solidFill>
                <a:latin typeface="Cambria" pitchFamily="34" charset="0"/>
                <a:ea typeface="Cambria" pitchFamily="34" charset="-122"/>
                <a:cs typeface="Cambria" pitchFamily="34" charset="-120"/>
              </a:rPr>
              <a:t>8 min</a:t>
            </a:r>
            <a:endParaRPr lang="en-US" sz="1400" dirty="0"/>
          </a:p>
        </p:txBody>
      </p:sp>
      <p:sp>
        <p:nvSpPr>
          <p:cNvPr id="16" name="Text 14"/>
          <p:cNvSpPr txBox="1"/>
          <p:nvPr/>
        </p:nvSpPr>
        <p:spPr>
          <a:xfrm>
            <a:off x="548640" y="2560320"/>
            <a:ext cx="457200" cy="228600"/>
          </a:xfrm>
          <a:prstGeom prst="rect">
            <a:avLst/>
          </a:prstGeom>
          <a:noFill/>
          <a:ln/>
        </p:spPr>
        <p:txBody>
          <a:bodyPr wrap="square" lIns="0" tIns="0" rIns="0" bIns="0" rtlCol="0" anchor="ctr"/>
          <a:lstStyle/>
          <a:p>
            <a:pPr indent="0" marL="0">
              <a:buNone/>
            </a:pPr>
            <a:r>
              <a:rPr lang="en-US" sz="1000" dirty="0">
                <a:solidFill>
                  <a:srgbClr val="87867F"/>
                </a:solidFill>
              </a:rPr>
              <a:t>0</a:t>
            </a:r>
            <a:endParaRPr lang="en-US" sz="1000" dirty="0"/>
          </a:p>
        </p:txBody>
      </p:sp>
      <p:sp>
        <p:nvSpPr>
          <p:cNvPr id="17" name="Text 15"/>
          <p:cNvSpPr txBox="1"/>
          <p:nvPr/>
        </p:nvSpPr>
        <p:spPr>
          <a:xfrm>
            <a:off x="11183112" y="2560320"/>
            <a:ext cx="457200" cy="228600"/>
          </a:xfrm>
          <a:prstGeom prst="rect">
            <a:avLst/>
          </a:prstGeom>
          <a:noFill/>
          <a:ln/>
        </p:spPr>
        <p:txBody>
          <a:bodyPr wrap="square" lIns="0" tIns="0" rIns="0" bIns="0" rtlCol="0" anchor="ctr"/>
          <a:lstStyle/>
          <a:p>
            <a:pPr algn="r" indent="0" marL="0">
              <a:buNone/>
            </a:pPr>
            <a:r>
              <a:rPr lang="en-US" sz="1000" dirty="0">
                <a:solidFill>
                  <a:srgbClr val="87867F"/>
                </a:solidFill>
              </a:rPr>
              <a:t>60 min</a:t>
            </a:r>
            <a:endParaRPr lang="en-US" sz="1000" dirty="0"/>
          </a:p>
        </p:txBody>
      </p:sp>
      <p:sp>
        <p:nvSpPr>
          <p:cNvPr id="18" name="Shape 16"/>
          <p:cNvSpPr/>
          <p:nvPr/>
        </p:nvSpPr>
        <p:spPr>
          <a:xfrm>
            <a:off x="548640" y="3063240"/>
            <a:ext cx="2103120" cy="3017520"/>
          </a:xfrm>
          <a:prstGeom prst="roundRect">
            <a:avLst>
              <a:gd name="adj" fmla="val 5217"/>
            </a:avLst>
          </a:prstGeom>
          <a:solidFill>
            <a:srgbClr val="FFFFFF"/>
          </a:solidFill>
          <a:ln w="9525">
            <a:solidFill>
              <a:srgbClr val="E8E6DC"/>
            </a:solidFill>
            <a:prstDash val="solid"/>
          </a:ln>
        </p:spPr>
      </p:sp>
      <p:sp>
        <p:nvSpPr>
          <p:cNvPr id="19" name="Shape 17"/>
          <p:cNvSpPr/>
          <p:nvPr/>
        </p:nvSpPr>
        <p:spPr>
          <a:xfrm>
            <a:off x="777240" y="3291840"/>
            <a:ext cx="201168" cy="201168"/>
          </a:xfrm>
          <a:prstGeom prst="ellipse">
            <a:avLst/>
          </a:prstGeom>
          <a:solidFill>
            <a:srgbClr val="D97757"/>
          </a:solidFill>
          <a:ln w="12700">
            <a:solidFill>
              <a:srgbClr val="D97757"/>
            </a:solidFill>
            <a:prstDash val="solid"/>
          </a:ln>
        </p:spPr>
      </p:sp>
      <p:sp>
        <p:nvSpPr>
          <p:cNvPr id="20" name="Text 18"/>
          <p:cNvSpPr txBox="1"/>
          <p:nvPr/>
        </p:nvSpPr>
        <p:spPr>
          <a:xfrm>
            <a:off x="777240" y="3611880"/>
            <a:ext cx="1645920" cy="640080"/>
          </a:xfrm>
          <a:prstGeom prst="rect">
            <a:avLst/>
          </a:prstGeom>
          <a:noFill/>
          <a:ln/>
        </p:spPr>
        <p:txBody>
          <a:bodyPr wrap="square" lIns="0" tIns="0" rIns="0" bIns="0" rtlCol="0" anchor="t"/>
          <a:lstStyle/>
          <a:p>
            <a:pPr indent="0" marL="0">
              <a:buNone/>
            </a:pPr>
            <a:r>
              <a:rPr lang="en-US" sz="1700" dirty="0">
                <a:solidFill>
                  <a:srgbClr val="141413"/>
                </a:solidFill>
                <a:latin typeface="Cambria" pitchFamily="34" charset="0"/>
                <a:ea typeface="Cambria" pitchFamily="34" charset="-122"/>
                <a:cs typeface="Cambria" pitchFamily="34" charset="-120"/>
              </a:rPr>
              <a:t>Orientation</a:t>
            </a:r>
            <a:endParaRPr lang="en-US" sz="1700" dirty="0"/>
          </a:p>
        </p:txBody>
      </p:sp>
      <p:sp>
        <p:nvSpPr>
          <p:cNvPr id="21" name="Text 19"/>
          <p:cNvSpPr txBox="1"/>
          <p:nvPr/>
        </p:nvSpPr>
        <p:spPr>
          <a:xfrm>
            <a:off x="777240" y="4297680"/>
            <a:ext cx="1645920" cy="274320"/>
          </a:xfrm>
          <a:prstGeom prst="rect">
            <a:avLst/>
          </a:prstGeom>
          <a:noFill/>
          <a:ln/>
        </p:spPr>
        <p:txBody>
          <a:bodyPr wrap="square" lIns="0" tIns="0" rIns="0" bIns="0" rtlCol="0" anchor="ctr"/>
          <a:lstStyle/>
          <a:p>
            <a:pPr indent="0" marL="0">
              <a:buNone/>
            </a:pPr>
            <a:r>
              <a:rPr lang="en-US" sz="1200" b="1" dirty="0">
                <a:solidFill>
                  <a:srgbClr val="B85C3E"/>
                </a:solidFill>
                <a:latin typeface="Calibri" pitchFamily="34" charset="0"/>
                <a:ea typeface="Calibri" pitchFamily="34" charset="-122"/>
                <a:cs typeface="Calibri" pitchFamily="34" charset="-120"/>
              </a:rPr>
              <a:t>Overview + discussion</a:t>
            </a:r>
            <a:endParaRPr lang="en-US" sz="1200" dirty="0"/>
          </a:p>
        </p:txBody>
      </p:sp>
      <p:sp>
        <p:nvSpPr>
          <p:cNvPr id="22" name="Text 20"/>
          <p:cNvSpPr txBox="1"/>
          <p:nvPr/>
        </p:nvSpPr>
        <p:spPr>
          <a:xfrm>
            <a:off x="777240" y="4617720"/>
            <a:ext cx="1645920" cy="1280160"/>
          </a:xfrm>
          <a:prstGeom prst="rect">
            <a:avLst/>
          </a:prstGeom>
          <a:noFill/>
          <a:ln/>
        </p:spPr>
        <p:txBody>
          <a:bodyPr wrap="square" lIns="0" tIns="0" rIns="0" bIns="0" rtlCol="0" anchor="t"/>
          <a:lstStyle/>
          <a:p>
            <a:pPr indent="0" marL="0">
              <a:buNone/>
            </a:pPr>
            <a:r>
              <a:rPr lang="en-US" sz="1300" dirty="0">
                <a:solidFill>
                  <a:srgbClr val="5E5D59"/>
                </a:solidFill>
                <a:latin typeface="Calibri" pitchFamily="34" charset="0"/>
                <a:ea typeface="Calibri" pitchFamily="34" charset="-122"/>
                <a:cs typeface="Calibri" pitchFamily="34" charset="-120"/>
              </a:rPr>
              <a:t>How the plan is organized: five domains, weights, pre-work, exercises.</a:t>
            </a:r>
            <a:endParaRPr lang="en-US" sz="1300" dirty="0"/>
          </a:p>
        </p:txBody>
      </p:sp>
      <p:sp>
        <p:nvSpPr>
          <p:cNvPr id="23" name="Shape 21"/>
          <p:cNvSpPr/>
          <p:nvPr/>
        </p:nvSpPr>
        <p:spPr>
          <a:xfrm>
            <a:off x="2793492" y="3063240"/>
            <a:ext cx="2103120" cy="3017520"/>
          </a:xfrm>
          <a:prstGeom prst="roundRect">
            <a:avLst>
              <a:gd name="adj" fmla="val 5217"/>
            </a:avLst>
          </a:prstGeom>
          <a:solidFill>
            <a:srgbClr val="FFFFFF"/>
          </a:solidFill>
          <a:ln w="9525">
            <a:solidFill>
              <a:srgbClr val="E8E6DC"/>
            </a:solidFill>
            <a:prstDash val="solid"/>
          </a:ln>
        </p:spPr>
      </p:sp>
      <p:sp>
        <p:nvSpPr>
          <p:cNvPr id="24" name="Shape 22"/>
          <p:cNvSpPr/>
          <p:nvPr/>
        </p:nvSpPr>
        <p:spPr>
          <a:xfrm>
            <a:off x="3022092" y="3291840"/>
            <a:ext cx="201168" cy="201168"/>
          </a:xfrm>
          <a:prstGeom prst="ellipse">
            <a:avLst/>
          </a:prstGeom>
          <a:solidFill>
            <a:srgbClr val="6A9BCC"/>
          </a:solidFill>
          <a:ln w="12700">
            <a:solidFill>
              <a:srgbClr val="6A9BCC"/>
            </a:solidFill>
            <a:prstDash val="solid"/>
          </a:ln>
        </p:spPr>
      </p:sp>
      <p:sp>
        <p:nvSpPr>
          <p:cNvPr id="25" name="Text 23"/>
          <p:cNvSpPr txBox="1"/>
          <p:nvPr/>
        </p:nvSpPr>
        <p:spPr>
          <a:xfrm>
            <a:off x="3022092" y="3611880"/>
            <a:ext cx="1645920" cy="640080"/>
          </a:xfrm>
          <a:prstGeom prst="rect">
            <a:avLst/>
          </a:prstGeom>
          <a:noFill/>
          <a:ln/>
        </p:spPr>
        <p:txBody>
          <a:bodyPr wrap="square" lIns="0" tIns="0" rIns="0" bIns="0" rtlCol="0" anchor="t"/>
          <a:lstStyle/>
          <a:p>
            <a:pPr indent="0" marL="0">
              <a:buNone/>
            </a:pPr>
            <a:r>
              <a:rPr lang="en-US" sz="1700" dirty="0">
                <a:solidFill>
                  <a:srgbClr val="141413"/>
                </a:solidFill>
                <a:latin typeface="Cambria" pitchFamily="34" charset="0"/>
                <a:ea typeface="Cambria" pitchFamily="34" charset="-122"/>
                <a:cs typeface="Cambria" pitchFamily="34" charset="-120"/>
              </a:rPr>
              <a:t>Scenarios</a:t>
            </a:r>
            <a:endParaRPr lang="en-US" sz="1700" dirty="0"/>
          </a:p>
        </p:txBody>
      </p:sp>
      <p:sp>
        <p:nvSpPr>
          <p:cNvPr id="26" name="Text 24"/>
          <p:cNvSpPr txBox="1"/>
          <p:nvPr/>
        </p:nvSpPr>
        <p:spPr>
          <a:xfrm>
            <a:off x="3022092" y="4297680"/>
            <a:ext cx="1645920" cy="274320"/>
          </a:xfrm>
          <a:prstGeom prst="rect">
            <a:avLst/>
          </a:prstGeom>
          <a:noFill/>
          <a:ln/>
        </p:spPr>
        <p:txBody>
          <a:bodyPr wrap="square" lIns="0" tIns="0" rIns="0" bIns="0" rtlCol="0" anchor="ctr"/>
          <a:lstStyle/>
          <a:p>
            <a:pPr indent="0" marL="0">
              <a:buNone/>
            </a:pPr>
            <a:r>
              <a:rPr lang="en-US" sz="1200" b="1" dirty="0">
                <a:solidFill>
                  <a:srgbClr val="B85C3E"/>
                </a:solidFill>
                <a:latin typeface="Calibri" pitchFamily="34" charset="0"/>
                <a:ea typeface="Calibri" pitchFamily="34" charset="-122"/>
                <a:cs typeface="Calibri" pitchFamily="34" charset="-120"/>
              </a:rPr>
              <a:t>Overview</a:t>
            </a:r>
            <a:endParaRPr lang="en-US" sz="1200" dirty="0"/>
          </a:p>
        </p:txBody>
      </p:sp>
      <p:sp>
        <p:nvSpPr>
          <p:cNvPr id="27" name="Text 25"/>
          <p:cNvSpPr txBox="1"/>
          <p:nvPr/>
        </p:nvSpPr>
        <p:spPr>
          <a:xfrm>
            <a:off x="3022092" y="4617720"/>
            <a:ext cx="1645920" cy="1280160"/>
          </a:xfrm>
          <a:prstGeom prst="rect">
            <a:avLst/>
          </a:prstGeom>
          <a:noFill/>
          <a:ln/>
        </p:spPr>
        <p:txBody>
          <a:bodyPr wrap="square" lIns="0" tIns="0" rIns="0" bIns="0" rtlCol="0" anchor="t"/>
          <a:lstStyle/>
          <a:p>
            <a:pPr indent="0" marL="0">
              <a:buNone/>
            </a:pPr>
            <a:r>
              <a:rPr lang="en-US" sz="1300" dirty="0">
                <a:solidFill>
                  <a:srgbClr val="5E5D59"/>
                </a:solidFill>
                <a:latin typeface="Calibri" pitchFamily="34" charset="0"/>
                <a:ea typeface="Calibri" pitchFamily="34" charset="-122"/>
                <a:cs typeface="Calibri" pitchFamily="34" charset="-120"/>
              </a:rPr>
              <a:t>The six exam scenarios, the out-of-scope list, modules to skip.</a:t>
            </a:r>
            <a:endParaRPr lang="en-US" sz="1300" dirty="0"/>
          </a:p>
        </p:txBody>
      </p:sp>
      <p:sp>
        <p:nvSpPr>
          <p:cNvPr id="28" name="Shape 26"/>
          <p:cNvSpPr/>
          <p:nvPr/>
        </p:nvSpPr>
        <p:spPr>
          <a:xfrm>
            <a:off x="5038344" y="3063240"/>
            <a:ext cx="2103120" cy="3017520"/>
          </a:xfrm>
          <a:prstGeom prst="roundRect">
            <a:avLst>
              <a:gd name="adj" fmla="val 5217"/>
            </a:avLst>
          </a:prstGeom>
          <a:solidFill>
            <a:srgbClr val="FFFFFF"/>
          </a:solidFill>
          <a:ln w="9525">
            <a:solidFill>
              <a:srgbClr val="E8E6DC"/>
            </a:solidFill>
            <a:prstDash val="solid"/>
          </a:ln>
        </p:spPr>
      </p:sp>
      <p:sp>
        <p:nvSpPr>
          <p:cNvPr id="29" name="Shape 27"/>
          <p:cNvSpPr/>
          <p:nvPr/>
        </p:nvSpPr>
        <p:spPr>
          <a:xfrm>
            <a:off x="5266944" y="3291840"/>
            <a:ext cx="201168" cy="201168"/>
          </a:xfrm>
          <a:prstGeom prst="ellipse">
            <a:avLst/>
          </a:prstGeom>
          <a:solidFill>
            <a:srgbClr val="141413"/>
          </a:solidFill>
          <a:ln w="12700">
            <a:solidFill>
              <a:srgbClr val="141413"/>
            </a:solidFill>
            <a:prstDash val="solid"/>
          </a:ln>
        </p:spPr>
      </p:sp>
      <p:sp>
        <p:nvSpPr>
          <p:cNvPr id="30" name="Text 28"/>
          <p:cNvSpPr txBox="1"/>
          <p:nvPr/>
        </p:nvSpPr>
        <p:spPr>
          <a:xfrm>
            <a:off x="5266944" y="3611880"/>
            <a:ext cx="1645920" cy="640080"/>
          </a:xfrm>
          <a:prstGeom prst="rect">
            <a:avLst/>
          </a:prstGeom>
          <a:noFill/>
          <a:ln/>
        </p:spPr>
        <p:txBody>
          <a:bodyPr wrap="square" lIns="0" tIns="0" rIns="0" bIns="0" rtlCol="0" anchor="t"/>
          <a:lstStyle/>
          <a:p>
            <a:pPr indent="0" marL="0">
              <a:buNone/>
            </a:pPr>
            <a:r>
              <a:rPr lang="en-US" sz="1700" dirty="0">
                <a:solidFill>
                  <a:srgbClr val="141413"/>
                </a:solidFill>
                <a:latin typeface="Cambria" pitchFamily="34" charset="0"/>
                <a:ea typeface="Cambria" pitchFamily="34" charset="-122"/>
                <a:cs typeface="Cambria" pitchFamily="34" charset="-120"/>
              </a:rPr>
              <a:t>Claude API essentials</a:t>
            </a:r>
            <a:endParaRPr lang="en-US" sz="1700" dirty="0"/>
          </a:p>
        </p:txBody>
      </p:sp>
      <p:sp>
        <p:nvSpPr>
          <p:cNvPr id="31" name="Text 29"/>
          <p:cNvSpPr txBox="1"/>
          <p:nvPr/>
        </p:nvSpPr>
        <p:spPr>
          <a:xfrm>
            <a:off x="5266944" y="4297680"/>
            <a:ext cx="1645920" cy="274320"/>
          </a:xfrm>
          <a:prstGeom prst="rect">
            <a:avLst/>
          </a:prstGeom>
          <a:noFill/>
          <a:ln/>
        </p:spPr>
        <p:txBody>
          <a:bodyPr wrap="square" lIns="0" tIns="0" rIns="0" bIns="0" rtlCol="0" anchor="ctr"/>
          <a:lstStyle/>
          <a:p>
            <a:pPr indent="0" marL="0">
              <a:buNone/>
            </a:pPr>
            <a:r>
              <a:rPr lang="en-US" sz="1200" b="1" dirty="0">
                <a:solidFill>
                  <a:srgbClr val="B85C3E"/>
                </a:solidFill>
                <a:latin typeface="Calibri" pitchFamily="34" charset="0"/>
                <a:ea typeface="Calibri" pitchFamily="34" charset="-122"/>
                <a:cs typeface="Calibri" pitchFamily="34" charset="-120"/>
              </a:rPr>
              <a:t>Theory + live demo</a:t>
            </a:r>
            <a:endParaRPr lang="en-US" sz="1200" dirty="0"/>
          </a:p>
        </p:txBody>
      </p:sp>
      <p:sp>
        <p:nvSpPr>
          <p:cNvPr id="32" name="Text 30"/>
          <p:cNvSpPr txBox="1"/>
          <p:nvPr/>
        </p:nvSpPr>
        <p:spPr>
          <a:xfrm>
            <a:off x="5266944" y="4617720"/>
            <a:ext cx="1645920" cy="1280160"/>
          </a:xfrm>
          <a:prstGeom prst="rect">
            <a:avLst/>
          </a:prstGeom>
          <a:noFill/>
          <a:ln/>
        </p:spPr>
        <p:txBody>
          <a:bodyPr wrap="square" lIns="0" tIns="0" rIns="0" bIns="0" rtlCol="0" anchor="t"/>
          <a:lstStyle/>
          <a:p>
            <a:pPr indent="0" marL="0">
              <a:buNone/>
            </a:pPr>
            <a:r>
              <a:rPr lang="en-US" sz="1300" dirty="0">
                <a:solidFill>
                  <a:srgbClr val="5E5D59"/>
                </a:solidFill>
                <a:latin typeface="Calibri" pitchFamily="34" charset="0"/>
                <a:ea typeface="Calibri" pitchFamily="34" charset="-122"/>
                <a:cs typeface="Calibri" pitchFamily="34" charset="-120"/>
              </a:rPr>
              <a:t>Messages API, tools, tool_use, stop_reason, statelessness, caching.</a:t>
            </a:r>
            <a:endParaRPr lang="en-US" sz="1300" dirty="0"/>
          </a:p>
        </p:txBody>
      </p:sp>
      <p:sp>
        <p:nvSpPr>
          <p:cNvPr id="33" name="Shape 31"/>
          <p:cNvSpPr/>
          <p:nvPr/>
        </p:nvSpPr>
        <p:spPr>
          <a:xfrm>
            <a:off x="7283196" y="3063240"/>
            <a:ext cx="2103120" cy="3017520"/>
          </a:xfrm>
          <a:prstGeom prst="roundRect">
            <a:avLst>
              <a:gd name="adj" fmla="val 5217"/>
            </a:avLst>
          </a:prstGeom>
          <a:solidFill>
            <a:srgbClr val="FFFFFF"/>
          </a:solidFill>
          <a:ln w="9525">
            <a:solidFill>
              <a:srgbClr val="E8E6DC"/>
            </a:solidFill>
            <a:prstDash val="solid"/>
          </a:ln>
        </p:spPr>
      </p:sp>
      <p:sp>
        <p:nvSpPr>
          <p:cNvPr id="34" name="Shape 32"/>
          <p:cNvSpPr/>
          <p:nvPr/>
        </p:nvSpPr>
        <p:spPr>
          <a:xfrm>
            <a:off x="7511796" y="3291840"/>
            <a:ext cx="201168" cy="201168"/>
          </a:xfrm>
          <a:prstGeom prst="ellipse">
            <a:avLst/>
          </a:prstGeom>
          <a:solidFill>
            <a:srgbClr val="788C5D"/>
          </a:solidFill>
          <a:ln w="12700">
            <a:solidFill>
              <a:srgbClr val="788C5D"/>
            </a:solidFill>
            <a:prstDash val="solid"/>
          </a:ln>
        </p:spPr>
      </p:sp>
      <p:sp>
        <p:nvSpPr>
          <p:cNvPr id="35" name="Text 33"/>
          <p:cNvSpPr txBox="1"/>
          <p:nvPr/>
        </p:nvSpPr>
        <p:spPr>
          <a:xfrm>
            <a:off x="7511796" y="3611880"/>
            <a:ext cx="1645920" cy="640080"/>
          </a:xfrm>
          <a:prstGeom prst="rect">
            <a:avLst/>
          </a:prstGeom>
          <a:noFill/>
          <a:ln/>
        </p:spPr>
        <p:txBody>
          <a:bodyPr wrap="square" lIns="0" tIns="0" rIns="0" bIns="0" rtlCol="0" anchor="t"/>
          <a:lstStyle/>
          <a:p>
            <a:pPr indent="0" marL="0">
              <a:buNone/>
            </a:pPr>
            <a:r>
              <a:rPr lang="en-US" sz="1700" dirty="0">
                <a:solidFill>
                  <a:srgbClr val="141413"/>
                </a:solidFill>
                <a:latin typeface="Cambria" pitchFamily="34" charset="0"/>
                <a:ea typeface="Cambria" pitchFamily="34" charset="-122"/>
                <a:cs typeface="Cambria" pitchFamily="34" charset="-120"/>
              </a:rPr>
              <a:t>Scenario reasoning</a:t>
            </a:r>
            <a:endParaRPr lang="en-US" sz="1700" dirty="0"/>
          </a:p>
        </p:txBody>
      </p:sp>
      <p:sp>
        <p:nvSpPr>
          <p:cNvPr id="36" name="Text 34"/>
          <p:cNvSpPr txBox="1"/>
          <p:nvPr/>
        </p:nvSpPr>
        <p:spPr>
          <a:xfrm>
            <a:off x="7511796" y="4297680"/>
            <a:ext cx="1645920" cy="274320"/>
          </a:xfrm>
          <a:prstGeom prst="rect">
            <a:avLst/>
          </a:prstGeom>
          <a:noFill/>
          <a:ln/>
        </p:spPr>
        <p:txBody>
          <a:bodyPr wrap="square" lIns="0" tIns="0" rIns="0" bIns="0" rtlCol="0" anchor="ctr"/>
          <a:lstStyle/>
          <a:p>
            <a:pPr indent="0" marL="0">
              <a:buNone/>
            </a:pPr>
            <a:r>
              <a:rPr lang="en-US" sz="1200" b="1" dirty="0">
                <a:solidFill>
                  <a:srgbClr val="B85C3E"/>
                </a:solidFill>
                <a:latin typeface="Calibri" pitchFamily="34" charset="0"/>
                <a:ea typeface="Calibri" pitchFamily="34" charset="-122"/>
                <a:cs typeface="Calibri" pitchFamily="34" charset="-120"/>
              </a:rPr>
              <a:t>Exam-style discussion</a:t>
            </a:r>
            <a:endParaRPr lang="en-US" sz="1200" dirty="0"/>
          </a:p>
        </p:txBody>
      </p:sp>
      <p:sp>
        <p:nvSpPr>
          <p:cNvPr id="37" name="Text 35"/>
          <p:cNvSpPr txBox="1"/>
          <p:nvPr/>
        </p:nvSpPr>
        <p:spPr>
          <a:xfrm>
            <a:off x="7511796" y="4617720"/>
            <a:ext cx="1645920" cy="1280160"/>
          </a:xfrm>
          <a:prstGeom prst="rect">
            <a:avLst/>
          </a:prstGeom>
          <a:noFill/>
          <a:ln/>
        </p:spPr>
        <p:txBody>
          <a:bodyPr wrap="square" lIns="0" tIns="0" rIns="0" bIns="0" rtlCol="0" anchor="t"/>
          <a:lstStyle/>
          <a:p>
            <a:pPr indent="0" marL="0">
              <a:buNone/>
            </a:pPr>
            <a:r>
              <a:rPr lang="en-US" sz="1300" dirty="0">
                <a:solidFill>
                  <a:srgbClr val="5E5D59"/>
                </a:solidFill>
                <a:latin typeface="Calibri" pitchFamily="34" charset="0"/>
                <a:ea typeface="Calibri" pitchFamily="34" charset="-122"/>
                <a:cs typeface="Calibri" pitchFamily="34" charset="-120"/>
              </a:rPr>
              <a:t>Sample Q2 and Q3 worked with a repeatable method.</a:t>
            </a:r>
            <a:endParaRPr lang="en-US" sz="1300" dirty="0"/>
          </a:p>
        </p:txBody>
      </p:sp>
      <p:sp>
        <p:nvSpPr>
          <p:cNvPr id="38" name="Shape 36"/>
          <p:cNvSpPr/>
          <p:nvPr/>
        </p:nvSpPr>
        <p:spPr>
          <a:xfrm>
            <a:off x="9528048" y="3063240"/>
            <a:ext cx="2103120" cy="3017520"/>
          </a:xfrm>
          <a:prstGeom prst="roundRect">
            <a:avLst>
              <a:gd name="adj" fmla="val 5217"/>
            </a:avLst>
          </a:prstGeom>
          <a:solidFill>
            <a:srgbClr val="FFFFFF"/>
          </a:solidFill>
          <a:ln w="9525">
            <a:solidFill>
              <a:srgbClr val="E8E6DC"/>
            </a:solidFill>
            <a:prstDash val="solid"/>
          </a:ln>
        </p:spPr>
      </p:sp>
      <p:sp>
        <p:nvSpPr>
          <p:cNvPr id="39" name="Shape 37"/>
          <p:cNvSpPr/>
          <p:nvPr/>
        </p:nvSpPr>
        <p:spPr>
          <a:xfrm>
            <a:off x="9756648" y="3291840"/>
            <a:ext cx="201168" cy="201168"/>
          </a:xfrm>
          <a:prstGeom prst="ellipse">
            <a:avLst/>
          </a:prstGeom>
          <a:solidFill>
            <a:srgbClr val="C8A24A"/>
          </a:solidFill>
          <a:ln w="12700">
            <a:solidFill>
              <a:srgbClr val="C8A24A"/>
            </a:solidFill>
            <a:prstDash val="solid"/>
          </a:ln>
        </p:spPr>
      </p:sp>
      <p:sp>
        <p:nvSpPr>
          <p:cNvPr id="40" name="Text 38"/>
          <p:cNvSpPr txBox="1"/>
          <p:nvPr/>
        </p:nvSpPr>
        <p:spPr>
          <a:xfrm>
            <a:off x="9756648" y="3611880"/>
            <a:ext cx="1645920" cy="640080"/>
          </a:xfrm>
          <a:prstGeom prst="rect">
            <a:avLst/>
          </a:prstGeom>
          <a:noFill/>
          <a:ln/>
        </p:spPr>
        <p:txBody>
          <a:bodyPr wrap="square" lIns="0" tIns="0" rIns="0" bIns="0" rtlCol="0" anchor="t"/>
          <a:lstStyle/>
          <a:p>
            <a:pPr indent="0" marL="0">
              <a:buNone/>
            </a:pPr>
            <a:r>
              <a:rPr lang="en-US" sz="1700" dirty="0">
                <a:solidFill>
                  <a:srgbClr val="141413"/>
                </a:solidFill>
                <a:latin typeface="Cambria" pitchFamily="34" charset="0"/>
                <a:ea typeface="Cambria" pitchFamily="34" charset="-122"/>
                <a:cs typeface="Cambria" pitchFamily="34" charset="-120"/>
              </a:rPr>
              <a:t>Wrap-up</a:t>
            </a:r>
            <a:endParaRPr lang="en-US" sz="1700" dirty="0"/>
          </a:p>
        </p:txBody>
      </p:sp>
      <p:sp>
        <p:nvSpPr>
          <p:cNvPr id="41" name="Text 39"/>
          <p:cNvSpPr txBox="1"/>
          <p:nvPr/>
        </p:nvSpPr>
        <p:spPr>
          <a:xfrm>
            <a:off x="9756648" y="4297680"/>
            <a:ext cx="1645920" cy="274320"/>
          </a:xfrm>
          <a:prstGeom prst="rect">
            <a:avLst/>
          </a:prstGeom>
          <a:noFill/>
          <a:ln/>
        </p:spPr>
        <p:txBody>
          <a:bodyPr wrap="square" lIns="0" tIns="0" rIns="0" bIns="0" rtlCol="0" anchor="ctr"/>
          <a:lstStyle/>
          <a:p>
            <a:pPr indent="0" marL="0">
              <a:buNone/>
            </a:pPr>
            <a:r>
              <a:rPr lang="en-US" sz="1200" b="1" dirty="0">
                <a:solidFill>
                  <a:srgbClr val="B85C3E"/>
                </a:solidFill>
                <a:latin typeface="Calibri" pitchFamily="34" charset="0"/>
                <a:ea typeface="Calibri" pitchFamily="34" charset="-122"/>
                <a:cs typeface="Calibri" pitchFamily="34" charset="-120"/>
              </a:rPr>
              <a:t>Review + briefing</a:t>
            </a:r>
            <a:endParaRPr lang="en-US" sz="1200" dirty="0"/>
          </a:p>
        </p:txBody>
      </p:sp>
      <p:sp>
        <p:nvSpPr>
          <p:cNvPr id="42" name="Text 40"/>
          <p:cNvSpPr txBox="1"/>
          <p:nvPr/>
        </p:nvSpPr>
        <p:spPr>
          <a:xfrm>
            <a:off x="9756648" y="4617720"/>
            <a:ext cx="1645920" cy="1280160"/>
          </a:xfrm>
          <a:prstGeom prst="rect">
            <a:avLst/>
          </a:prstGeom>
          <a:noFill/>
          <a:ln/>
        </p:spPr>
        <p:txBody>
          <a:bodyPr wrap="square" lIns="0" tIns="0" rIns="0" bIns="0" rtlCol="0" anchor="t"/>
          <a:lstStyle/>
          <a:p>
            <a:pPr indent="0" marL="0">
              <a:buNone/>
            </a:pPr>
            <a:r>
              <a:rPr lang="en-US" sz="1300" dirty="0">
                <a:solidFill>
                  <a:srgbClr val="5E5D59"/>
                </a:solidFill>
                <a:latin typeface="Calibri" pitchFamily="34" charset="0"/>
                <a:ea typeface="Calibri" pitchFamily="34" charset="-122"/>
                <a:cs typeface="Calibri" pitchFamily="34" charset="-120"/>
              </a:rPr>
              <a:t>Key concepts, take-home questions, homework.</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548640" y="365760"/>
            <a:ext cx="8686800" cy="274320"/>
          </a:xfrm>
          <a:prstGeom prst="rect">
            <a:avLst/>
          </a:prstGeom>
          <a:noFill/>
          <a:ln/>
        </p:spPr>
        <p:txBody>
          <a:bodyPr wrap="square" lIns="0" tIns="0" rIns="0" bIns="0"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CURRICULUM OVERVIEW</a:t>
            </a:r>
            <a:endParaRPr lang="en-US" sz="1200" dirty="0"/>
          </a:p>
        </p:txBody>
      </p:sp>
      <p:sp>
        <p:nvSpPr>
          <p:cNvPr id="3" name="Text 1"/>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200" dirty="0">
                <a:solidFill>
                  <a:srgbClr val="141413"/>
                </a:solidFill>
                <a:latin typeface="Cambria" pitchFamily="34" charset="0"/>
                <a:ea typeface="Cambria" pitchFamily="34" charset="-122"/>
                <a:cs typeface="Cambria" pitchFamily="34" charset="-120"/>
              </a:rPr>
              <a:t>One syllabus, five domains</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87867F"/>
                </a:solidFill>
                <a:latin typeface="Calibri" pitchFamily="34" charset="0"/>
                <a:ea typeface="Calibri" pitchFamily="34" charset="-122"/>
                <a:cs typeface="Calibri" pitchFamily="34" charset="-120"/>
              </a:rPr>
              <a:t>CCAR-F Skills Curriculum  ·  Session 1  ·  3</a:t>
            </a:r>
            <a:endParaRPr lang="en-US" sz="1000" dirty="0"/>
          </a:p>
        </p:txBody>
      </p:sp>
      <p:sp>
        <p:nvSpPr>
          <p:cNvPr id="5" name="Text 3"/>
          <p:cNvSpPr txBox="1"/>
          <p:nvPr/>
        </p:nvSpPr>
        <p:spPr>
          <a:xfrm>
            <a:off x="8869680" y="365760"/>
            <a:ext cx="2770632" cy="274320"/>
          </a:xfrm>
          <a:prstGeom prst="rect">
            <a:avLst/>
          </a:prstGeom>
          <a:noFill/>
          <a:ln/>
        </p:spPr>
        <p:txBody>
          <a:bodyPr wrap="square" lIns="0" tIns="0" rIns="0" bIns="0" rtlCol="0" anchor="ctr"/>
          <a:lstStyle/>
          <a:p>
            <a:pPr algn="r" indent="0" marL="0">
              <a:buNone/>
            </a:pPr>
            <a:r>
              <a:rPr lang="en-US" sz="1100" dirty="0">
                <a:solidFill>
                  <a:srgbClr val="87867F"/>
                </a:solidFill>
                <a:latin typeface="Calibri" pitchFamily="34" charset="0"/>
                <a:ea typeface="Calibri" pitchFamily="34" charset="-122"/>
                <a:cs typeface="Calibri" pitchFamily="34" charset="-120"/>
              </a:rPr>
              <a:t>3–5 min</a:t>
            </a:r>
            <a:endParaRPr lang="en-US" sz="1100" dirty="0"/>
          </a:p>
        </p:txBody>
      </p:sp>
      <p:sp>
        <p:nvSpPr>
          <p:cNvPr id="6" name="Text 4"/>
          <p:cNvSpPr txBox="1"/>
          <p:nvPr/>
        </p:nvSpPr>
        <p:spPr>
          <a:xfrm>
            <a:off x="548640" y="1600200"/>
            <a:ext cx="5943600" cy="274320"/>
          </a:xfrm>
          <a:prstGeom prst="rect">
            <a:avLst/>
          </a:prstGeom>
          <a:noFill/>
          <a:ln/>
        </p:spPr>
        <p:txBody>
          <a:bodyPr wrap="square" lIns="0" tIns="0" rIns="0" bIns="0" rtlCol="0" anchor="ctr"/>
          <a:lstStyle/>
          <a:p>
            <a:pPr indent="0" marL="0">
              <a:buNone/>
            </a:pPr>
            <a:r>
              <a:rPr lang="en-US" sz="1300" b="1" dirty="0">
                <a:solidFill>
                  <a:srgbClr val="5E5D59"/>
                </a:solidFill>
                <a:latin typeface="Calibri" pitchFamily="34" charset="0"/>
                <a:ea typeface="Calibri" pitchFamily="34" charset="-122"/>
                <a:cs typeface="Calibri" pitchFamily="34" charset="-120"/>
              </a:rPr>
              <a:t>Exam-guide domain weights (%)</a:t>
            </a:r>
            <a:endParaRPr lang="en-US" sz="1300" dirty="0"/>
          </a:p>
        </p:txBody>
      </p:sp>
      <p:graphicFrame>
        <p:nvGraphicFramePr>
          <p:cNvPr id="7" name="Chart 0" descr=""/>
          <p:cNvGraphicFramePr/>
          <p:nvPr/>
        </p:nvGraphicFramePr>
        <p:xfrm>
          <a:off x="457200" y="1874520"/>
          <a:ext cx="6400800" cy="42062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315200" y="1828800"/>
            <a:ext cx="2057400" cy="1783080"/>
          </a:xfrm>
          <a:prstGeom prst="roundRect">
            <a:avLst>
              <a:gd name="adj" fmla="val 6154"/>
            </a:avLst>
          </a:prstGeom>
          <a:solidFill>
            <a:srgbClr val="FFFFFF"/>
          </a:solidFill>
          <a:ln w="9525">
            <a:solidFill>
              <a:srgbClr val="E8E6DC"/>
            </a:solidFill>
            <a:prstDash val="solid"/>
          </a:ln>
        </p:spPr>
      </p:sp>
      <p:sp>
        <p:nvSpPr>
          <p:cNvPr id="9" name="Text 6"/>
          <p:cNvSpPr txBox="1"/>
          <p:nvPr/>
        </p:nvSpPr>
        <p:spPr>
          <a:xfrm>
            <a:off x="7498080" y="2057400"/>
            <a:ext cx="1691640" cy="777240"/>
          </a:xfrm>
          <a:prstGeom prst="rect">
            <a:avLst/>
          </a:prstGeom>
          <a:noFill/>
          <a:ln/>
        </p:spPr>
        <p:txBody>
          <a:bodyPr wrap="square" lIns="0" tIns="0" rIns="0" bIns="0" rtlCol="0" anchor="ctr"/>
          <a:lstStyle/>
          <a:p>
            <a:pPr indent="0" marL="0">
              <a:buNone/>
            </a:pPr>
            <a:r>
              <a:rPr lang="en-US" sz="4400" dirty="0">
                <a:solidFill>
                  <a:srgbClr val="D97757"/>
                </a:solidFill>
                <a:latin typeface="Cambria" pitchFamily="34" charset="0"/>
                <a:ea typeface="Cambria" pitchFamily="34" charset="-122"/>
                <a:cs typeface="Cambria" pitchFamily="34" charset="-120"/>
              </a:rPr>
              <a:t>16</a:t>
            </a:r>
            <a:endParaRPr lang="en-US" sz="4400" dirty="0"/>
          </a:p>
        </p:txBody>
      </p:sp>
      <p:sp>
        <p:nvSpPr>
          <p:cNvPr id="10" name="Text 7"/>
          <p:cNvSpPr txBox="1"/>
          <p:nvPr/>
        </p:nvSpPr>
        <p:spPr>
          <a:xfrm>
            <a:off x="7498080" y="2880360"/>
            <a:ext cx="1691640" cy="594360"/>
          </a:xfrm>
          <a:prstGeom prst="rect">
            <a:avLst/>
          </a:prstGeom>
          <a:noFill/>
          <a:ln/>
        </p:spPr>
        <p:txBody>
          <a:bodyPr wrap="square" lIns="0" tIns="0" rIns="0" bIns="0" rtlCol="0" anchor="t"/>
          <a:lstStyle/>
          <a:p>
            <a:pPr indent="0" marL="0">
              <a:buNone/>
            </a:pPr>
            <a:r>
              <a:rPr lang="en-US" sz="1300" dirty="0">
                <a:solidFill>
                  <a:srgbClr val="5E5D59"/>
                </a:solidFill>
                <a:latin typeface="Calibri" pitchFamily="34" charset="0"/>
                <a:ea typeface="Calibri" pitchFamily="34" charset="-122"/>
                <a:cs typeface="Calibri" pitchFamily="34" charset="-120"/>
              </a:rPr>
              <a:t>sessions of about 1 hour</a:t>
            </a:r>
            <a:endParaRPr lang="en-US" sz="1300" dirty="0"/>
          </a:p>
        </p:txBody>
      </p:sp>
      <p:sp>
        <p:nvSpPr>
          <p:cNvPr id="11" name="Shape 8"/>
          <p:cNvSpPr/>
          <p:nvPr/>
        </p:nvSpPr>
        <p:spPr>
          <a:xfrm>
            <a:off x="9509760" y="1828800"/>
            <a:ext cx="2057400" cy="1783080"/>
          </a:xfrm>
          <a:prstGeom prst="roundRect">
            <a:avLst>
              <a:gd name="adj" fmla="val 6154"/>
            </a:avLst>
          </a:prstGeom>
          <a:solidFill>
            <a:srgbClr val="FFFFFF"/>
          </a:solidFill>
          <a:ln w="9525">
            <a:solidFill>
              <a:srgbClr val="E8E6DC"/>
            </a:solidFill>
            <a:prstDash val="solid"/>
          </a:ln>
        </p:spPr>
      </p:sp>
      <p:sp>
        <p:nvSpPr>
          <p:cNvPr id="12" name="Text 9"/>
          <p:cNvSpPr txBox="1"/>
          <p:nvPr/>
        </p:nvSpPr>
        <p:spPr>
          <a:xfrm>
            <a:off x="9692640" y="2057400"/>
            <a:ext cx="1691640" cy="777240"/>
          </a:xfrm>
          <a:prstGeom prst="rect">
            <a:avLst/>
          </a:prstGeom>
          <a:noFill/>
          <a:ln/>
        </p:spPr>
        <p:txBody>
          <a:bodyPr wrap="square" lIns="0" tIns="0" rIns="0" bIns="0" rtlCol="0" anchor="ctr"/>
          <a:lstStyle/>
          <a:p>
            <a:pPr indent="0" marL="0">
              <a:buNone/>
            </a:pPr>
            <a:r>
              <a:rPr lang="en-US" sz="4400" dirty="0">
                <a:solidFill>
                  <a:srgbClr val="D97757"/>
                </a:solidFill>
                <a:latin typeface="Cambria" pitchFamily="34" charset="0"/>
                <a:ea typeface="Cambria" pitchFamily="34" charset="-122"/>
                <a:cs typeface="Cambria" pitchFamily="34" charset="-120"/>
              </a:rPr>
              <a:t>5</a:t>
            </a:r>
            <a:endParaRPr lang="en-US" sz="4400" dirty="0"/>
          </a:p>
        </p:txBody>
      </p:sp>
      <p:sp>
        <p:nvSpPr>
          <p:cNvPr id="13" name="Text 10"/>
          <p:cNvSpPr txBox="1"/>
          <p:nvPr/>
        </p:nvSpPr>
        <p:spPr>
          <a:xfrm>
            <a:off x="9692640" y="2880360"/>
            <a:ext cx="1691640" cy="594360"/>
          </a:xfrm>
          <a:prstGeom prst="rect">
            <a:avLst/>
          </a:prstGeom>
          <a:noFill/>
          <a:ln/>
        </p:spPr>
        <p:txBody>
          <a:bodyPr wrap="square" lIns="0" tIns="0" rIns="0" bIns="0" rtlCol="0" anchor="t"/>
          <a:lstStyle/>
          <a:p>
            <a:pPr indent="0" marL="0">
              <a:buNone/>
            </a:pPr>
            <a:r>
              <a:rPr lang="en-US" sz="1300" dirty="0">
                <a:solidFill>
                  <a:srgbClr val="5E5D59"/>
                </a:solidFill>
                <a:latin typeface="Calibri" pitchFamily="34" charset="0"/>
                <a:ea typeface="Calibri" pitchFamily="34" charset="-122"/>
                <a:cs typeface="Calibri" pitchFamily="34" charset="-120"/>
              </a:rPr>
              <a:t>domains from the exam guide</a:t>
            </a:r>
            <a:endParaRPr lang="en-US" sz="1300" dirty="0"/>
          </a:p>
        </p:txBody>
      </p:sp>
      <p:sp>
        <p:nvSpPr>
          <p:cNvPr id="14" name="Shape 11"/>
          <p:cNvSpPr/>
          <p:nvPr/>
        </p:nvSpPr>
        <p:spPr>
          <a:xfrm>
            <a:off x="7315200" y="3794760"/>
            <a:ext cx="2057400" cy="1783080"/>
          </a:xfrm>
          <a:prstGeom prst="roundRect">
            <a:avLst>
              <a:gd name="adj" fmla="val 6154"/>
            </a:avLst>
          </a:prstGeom>
          <a:solidFill>
            <a:srgbClr val="FFFFFF"/>
          </a:solidFill>
          <a:ln w="9525">
            <a:solidFill>
              <a:srgbClr val="E8E6DC"/>
            </a:solidFill>
            <a:prstDash val="solid"/>
          </a:ln>
        </p:spPr>
      </p:sp>
      <p:sp>
        <p:nvSpPr>
          <p:cNvPr id="15" name="Text 12"/>
          <p:cNvSpPr txBox="1"/>
          <p:nvPr/>
        </p:nvSpPr>
        <p:spPr>
          <a:xfrm>
            <a:off x="7498080" y="4023360"/>
            <a:ext cx="1691640" cy="777240"/>
          </a:xfrm>
          <a:prstGeom prst="rect">
            <a:avLst/>
          </a:prstGeom>
          <a:noFill/>
          <a:ln/>
        </p:spPr>
        <p:txBody>
          <a:bodyPr wrap="square" lIns="0" tIns="0" rIns="0" bIns="0" rtlCol="0" anchor="ctr"/>
          <a:lstStyle/>
          <a:p>
            <a:pPr indent="0" marL="0">
              <a:buNone/>
            </a:pPr>
            <a:r>
              <a:rPr lang="en-US" sz="4400" dirty="0">
                <a:solidFill>
                  <a:srgbClr val="D97757"/>
                </a:solidFill>
                <a:latin typeface="Cambria" pitchFamily="34" charset="0"/>
                <a:ea typeface="Cambria" pitchFamily="34" charset="-122"/>
                <a:cs typeface="Cambria" pitchFamily="34" charset="-120"/>
              </a:rPr>
              <a:t>4</a:t>
            </a:r>
            <a:endParaRPr lang="en-US" sz="4400" dirty="0"/>
          </a:p>
        </p:txBody>
      </p:sp>
      <p:sp>
        <p:nvSpPr>
          <p:cNvPr id="16" name="Text 13"/>
          <p:cNvSpPr txBox="1"/>
          <p:nvPr/>
        </p:nvSpPr>
        <p:spPr>
          <a:xfrm>
            <a:off x="7498080" y="4846320"/>
            <a:ext cx="1691640" cy="594360"/>
          </a:xfrm>
          <a:prstGeom prst="rect">
            <a:avLst/>
          </a:prstGeom>
          <a:noFill/>
          <a:ln/>
        </p:spPr>
        <p:txBody>
          <a:bodyPr wrap="square" lIns="0" tIns="0" rIns="0" bIns="0" rtlCol="0" anchor="t"/>
          <a:lstStyle/>
          <a:p>
            <a:pPr indent="0" marL="0">
              <a:buNone/>
            </a:pPr>
            <a:r>
              <a:rPr lang="en-US" sz="1300" dirty="0">
                <a:solidFill>
                  <a:srgbClr val="5E5D59"/>
                </a:solidFill>
                <a:latin typeface="Calibri" pitchFamily="34" charset="0"/>
                <a:ea typeface="Calibri" pitchFamily="34" charset="-122"/>
                <a:cs typeface="Calibri" pitchFamily="34" charset="-120"/>
              </a:rPr>
              <a:t>hands-on preparation exercises</a:t>
            </a:r>
            <a:endParaRPr lang="en-US" sz="1300" dirty="0"/>
          </a:p>
        </p:txBody>
      </p:sp>
      <p:sp>
        <p:nvSpPr>
          <p:cNvPr id="17" name="Shape 14"/>
          <p:cNvSpPr/>
          <p:nvPr/>
        </p:nvSpPr>
        <p:spPr>
          <a:xfrm>
            <a:off x="9509760" y="3794760"/>
            <a:ext cx="2057400" cy="1783080"/>
          </a:xfrm>
          <a:prstGeom prst="roundRect">
            <a:avLst>
              <a:gd name="adj" fmla="val 6154"/>
            </a:avLst>
          </a:prstGeom>
          <a:solidFill>
            <a:srgbClr val="FFFFFF"/>
          </a:solidFill>
          <a:ln w="9525">
            <a:solidFill>
              <a:srgbClr val="E8E6DC"/>
            </a:solidFill>
            <a:prstDash val="solid"/>
          </a:ln>
        </p:spPr>
      </p:sp>
      <p:sp>
        <p:nvSpPr>
          <p:cNvPr id="18" name="Text 15"/>
          <p:cNvSpPr txBox="1"/>
          <p:nvPr/>
        </p:nvSpPr>
        <p:spPr>
          <a:xfrm>
            <a:off x="9692640" y="4023360"/>
            <a:ext cx="1691640" cy="777240"/>
          </a:xfrm>
          <a:prstGeom prst="rect">
            <a:avLst/>
          </a:prstGeom>
          <a:noFill/>
          <a:ln/>
        </p:spPr>
        <p:txBody>
          <a:bodyPr wrap="square" lIns="0" tIns="0" rIns="0" bIns="0" rtlCol="0" anchor="ctr"/>
          <a:lstStyle/>
          <a:p>
            <a:pPr indent="0" marL="0">
              <a:buNone/>
            </a:pPr>
            <a:r>
              <a:rPr lang="en-US" sz="2600" dirty="0">
                <a:solidFill>
                  <a:srgbClr val="D97757"/>
                </a:solidFill>
                <a:latin typeface="Cambria" pitchFamily="34" charset="0"/>
                <a:ea typeface="Cambria" pitchFamily="34" charset="-122"/>
                <a:cs typeface="Cambria" pitchFamily="34" charset="-120"/>
              </a:rPr>
              <a:t>1.1 – 5.6</a:t>
            </a:r>
            <a:endParaRPr lang="en-US" sz="2600" dirty="0"/>
          </a:p>
        </p:txBody>
      </p:sp>
      <p:sp>
        <p:nvSpPr>
          <p:cNvPr id="19" name="Text 16"/>
          <p:cNvSpPr txBox="1"/>
          <p:nvPr/>
        </p:nvSpPr>
        <p:spPr>
          <a:xfrm>
            <a:off x="9692640" y="4846320"/>
            <a:ext cx="1691640" cy="594360"/>
          </a:xfrm>
          <a:prstGeom prst="rect">
            <a:avLst/>
          </a:prstGeom>
          <a:noFill/>
          <a:ln/>
        </p:spPr>
        <p:txBody>
          <a:bodyPr wrap="square" lIns="0" tIns="0" rIns="0" bIns="0" rtlCol="0" anchor="t"/>
          <a:lstStyle/>
          <a:p>
            <a:pPr indent="0" marL="0">
              <a:buNone/>
            </a:pPr>
            <a:r>
              <a:rPr lang="en-US" sz="1300" dirty="0">
                <a:solidFill>
                  <a:srgbClr val="5E5D59"/>
                </a:solidFill>
                <a:latin typeface="Calibri" pitchFamily="34" charset="0"/>
                <a:ea typeface="Calibri" pitchFamily="34" charset="-122"/>
                <a:cs typeface="Calibri" pitchFamily="34" charset="-120"/>
              </a:rPr>
              <a:t>task statements, all covered</a:t>
            </a:r>
            <a:endParaRPr lang="en-US" sz="1300" dirty="0"/>
          </a:p>
        </p:txBody>
      </p:sp>
      <p:sp>
        <p:nvSpPr>
          <p:cNvPr id="20" name="Text 17"/>
          <p:cNvSpPr txBox="1"/>
          <p:nvPr/>
        </p:nvSpPr>
        <p:spPr>
          <a:xfrm>
            <a:off x="7315200" y="5806440"/>
            <a:ext cx="4297680" cy="548640"/>
          </a:xfrm>
          <a:prstGeom prst="rect">
            <a:avLst/>
          </a:prstGeom>
          <a:noFill/>
          <a:ln/>
        </p:spPr>
        <p:txBody>
          <a:bodyPr wrap="square" lIns="0" tIns="0" rIns="0" bIns="0" rtlCol="0" anchor="t"/>
          <a:lstStyle/>
          <a:p>
            <a:pPr indent="0" marL="0">
              <a:buNone/>
            </a:pPr>
            <a:r>
              <a:rPr lang="en-US" sz="1200" i="1" dirty="0">
                <a:solidFill>
                  <a:srgbClr val="87867F"/>
                </a:solidFill>
                <a:latin typeface="Calibri" pitchFamily="34" charset="0"/>
                <a:ea typeface="Calibri" pitchFamily="34" charset="-122"/>
                <a:cs typeface="Calibri" pitchFamily="34" charset="-120"/>
              </a:rPr>
              <a:t>Exam logistics (fees, scoring, registration) are left out on purpose. The guide is used as a skills syllabus.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548640" y="365760"/>
            <a:ext cx="8686800" cy="274320"/>
          </a:xfrm>
          <a:prstGeom prst="rect">
            <a:avLst/>
          </a:prstGeom>
          <a:noFill/>
          <a:ln/>
        </p:spPr>
        <p:txBody>
          <a:bodyPr wrap="square" lIns="0" tIns="0" rIns="0" bIns="0"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CURRICULUM OVERVIEW</a:t>
            </a:r>
            <a:endParaRPr lang="en-US" sz="1200" dirty="0"/>
          </a:p>
        </p:txBody>
      </p:sp>
      <p:sp>
        <p:nvSpPr>
          <p:cNvPr id="3" name="Text 1"/>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200" dirty="0">
                <a:solidFill>
                  <a:srgbClr val="141413"/>
                </a:solidFill>
                <a:latin typeface="Cambria" pitchFamily="34" charset="0"/>
                <a:ea typeface="Cambria" pitchFamily="34" charset="-122"/>
                <a:cs typeface="Cambria" pitchFamily="34" charset="-120"/>
              </a:rPr>
              <a:t>How sessions, courses and exercises fit together</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87867F"/>
                </a:solidFill>
                <a:latin typeface="Calibri" pitchFamily="34" charset="0"/>
                <a:ea typeface="Calibri" pitchFamily="34" charset="-122"/>
                <a:cs typeface="Calibri" pitchFamily="34" charset="-120"/>
              </a:rPr>
              <a:t>CCAR-F Skills Curriculum  ·  Session 1  ·  4</a:t>
            </a:r>
            <a:endParaRPr lang="en-US" sz="1000" dirty="0"/>
          </a:p>
        </p:txBody>
      </p:sp>
      <p:sp>
        <p:nvSpPr>
          <p:cNvPr id="5" name="Text 3"/>
          <p:cNvSpPr txBox="1"/>
          <p:nvPr/>
        </p:nvSpPr>
        <p:spPr>
          <a:xfrm>
            <a:off x="8869680" y="365760"/>
            <a:ext cx="2770632" cy="274320"/>
          </a:xfrm>
          <a:prstGeom prst="rect">
            <a:avLst/>
          </a:prstGeom>
          <a:noFill/>
          <a:ln/>
        </p:spPr>
        <p:txBody>
          <a:bodyPr wrap="square" lIns="0" tIns="0" rIns="0" bIns="0" rtlCol="0" anchor="ctr"/>
          <a:lstStyle/>
          <a:p>
            <a:pPr algn="r" indent="0" marL="0">
              <a:buNone/>
            </a:pPr>
            <a:r>
              <a:rPr lang="en-US" sz="1100" dirty="0">
                <a:solidFill>
                  <a:srgbClr val="87867F"/>
                </a:solidFill>
                <a:latin typeface="Calibri" pitchFamily="34" charset="0"/>
                <a:ea typeface="Calibri" pitchFamily="34" charset="-122"/>
                <a:cs typeface="Calibri" pitchFamily="34" charset="-120"/>
              </a:rPr>
              <a:t>5–6 min</a:t>
            </a:r>
            <a:endParaRPr lang="en-US" sz="1100" dirty="0"/>
          </a:p>
        </p:txBody>
      </p:sp>
      <p:sp>
        <p:nvSpPr>
          <p:cNvPr id="6" name="Shape 4"/>
          <p:cNvSpPr/>
          <p:nvPr/>
        </p:nvSpPr>
        <p:spPr>
          <a:xfrm>
            <a:off x="548640" y="1691640"/>
            <a:ext cx="2560320" cy="1783080"/>
          </a:xfrm>
          <a:prstGeom prst="roundRect">
            <a:avLst>
              <a:gd name="adj" fmla="val 6154"/>
            </a:avLst>
          </a:prstGeom>
          <a:solidFill>
            <a:srgbClr val="FFFFFF"/>
          </a:solidFill>
          <a:ln w="9525">
            <a:solidFill>
              <a:srgbClr val="E8E6DC"/>
            </a:solidFill>
            <a:prstDash val="solid"/>
          </a:ln>
        </p:spPr>
      </p:sp>
      <p:pic>
        <p:nvPicPr>
          <p:cNvPr id="7" name="Image 0" descr="preencoded.png">    </p:cNvPr>
          <p:cNvPicPr>
            <a:picLocks noChangeAspect="1"/>
          </p:cNvPicPr>
          <p:nvPr/>
        </p:nvPicPr>
        <p:blipFill>
          <a:blip r:embed="rId1"/>
          <a:stretch>
            <a:fillRect/>
          </a:stretch>
        </p:blipFill>
        <p:spPr>
          <a:xfrm>
            <a:off x="777240" y="1874520"/>
            <a:ext cx="365760" cy="365760"/>
          </a:xfrm>
          <a:prstGeom prst="rect">
            <a:avLst/>
          </a:prstGeom>
        </p:spPr>
      </p:pic>
      <p:sp>
        <p:nvSpPr>
          <p:cNvPr id="8" name="Text 5"/>
          <p:cNvSpPr txBox="1"/>
          <p:nvPr/>
        </p:nvSpPr>
        <p:spPr>
          <a:xfrm>
            <a:off x="1280160" y="1874520"/>
            <a:ext cx="1645920" cy="365760"/>
          </a:xfrm>
          <a:prstGeom prst="rect">
            <a:avLst/>
          </a:prstGeom>
          <a:noFill/>
          <a:ln/>
        </p:spPr>
        <p:txBody>
          <a:bodyPr wrap="square" lIns="0" tIns="0" rIns="0" bIns="0" rtlCol="0" anchor="ctr"/>
          <a:lstStyle/>
          <a:p>
            <a:pPr indent="0" marL="0">
              <a:buNone/>
            </a:pPr>
            <a:r>
              <a:rPr lang="en-US" sz="1800" dirty="0">
                <a:solidFill>
                  <a:srgbClr val="141413"/>
                </a:solidFill>
                <a:latin typeface="Cambria" pitchFamily="34" charset="0"/>
                <a:ea typeface="Cambria" pitchFamily="34" charset="-122"/>
                <a:cs typeface="Cambria" pitchFamily="34" charset="-120"/>
              </a:rPr>
              <a:t>Pre-work</a:t>
            </a:r>
            <a:endParaRPr lang="en-US" sz="1800" dirty="0"/>
          </a:p>
        </p:txBody>
      </p:sp>
      <p:sp>
        <p:nvSpPr>
          <p:cNvPr id="9" name="Text 6"/>
          <p:cNvSpPr txBox="1"/>
          <p:nvPr/>
        </p:nvSpPr>
        <p:spPr>
          <a:xfrm>
            <a:off x="777240" y="2377440"/>
            <a:ext cx="2103120" cy="1005840"/>
          </a:xfrm>
          <a:prstGeom prst="rect">
            <a:avLst/>
          </a:prstGeom>
          <a:noFill/>
          <a:ln/>
        </p:spPr>
        <p:txBody>
          <a:bodyPr wrap="square" lIns="0" tIns="0" rIns="0" bIns="0" rtlCol="0" anchor="t"/>
          <a:lstStyle/>
          <a:p>
            <a:pPr indent="0" marL="0">
              <a:buNone/>
            </a:pPr>
            <a:r>
              <a:rPr lang="en-US" sz="1300" dirty="0">
                <a:solidFill>
                  <a:srgbClr val="5E5D59"/>
                </a:solidFill>
                <a:latin typeface="Calibri" pitchFamily="34" charset="0"/>
                <a:ea typeface="Calibri" pitchFamily="34" charset="-122"/>
                <a:cs typeface="Calibri" pitchFamily="34" charset="-120"/>
              </a:rPr>
              <a:t>Official Anthropic course modules, so session time goes to judgment.</a:t>
            </a:r>
            <a:endParaRPr lang="en-US" sz="1300" dirty="0"/>
          </a:p>
        </p:txBody>
      </p:sp>
      <p:sp>
        <p:nvSpPr>
          <p:cNvPr id="10" name="Shape 7"/>
          <p:cNvSpPr/>
          <p:nvPr/>
        </p:nvSpPr>
        <p:spPr>
          <a:xfrm>
            <a:off x="3127248" y="2578608"/>
            <a:ext cx="246888" cy="0"/>
          </a:xfrm>
          <a:prstGeom prst="line">
            <a:avLst/>
          </a:prstGeom>
          <a:noFill/>
          <a:ln w="25400">
            <a:solidFill>
              <a:srgbClr val="D97757"/>
            </a:solidFill>
            <a:prstDash val="solid"/>
            <a:tailEnd type="triangle"/>
          </a:ln>
        </p:spPr>
      </p:sp>
      <p:sp>
        <p:nvSpPr>
          <p:cNvPr id="11" name="Shape 8"/>
          <p:cNvSpPr/>
          <p:nvPr/>
        </p:nvSpPr>
        <p:spPr>
          <a:xfrm>
            <a:off x="3392424" y="1691640"/>
            <a:ext cx="2560320" cy="1783080"/>
          </a:xfrm>
          <a:prstGeom prst="roundRect">
            <a:avLst>
              <a:gd name="adj" fmla="val 6154"/>
            </a:avLst>
          </a:prstGeom>
          <a:solidFill>
            <a:srgbClr val="FFFFFF"/>
          </a:solidFill>
          <a:ln w="9525">
            <a:solidFill>
              <a:srgbClr val="E8E6DC"/>
            </a:solidFill>
            <a:prstDash val="solid"/>
          </a:ln>
        </p:spPr>
      </p:sp>
      <p:pic>
        <p:nvPicPr>
          <p:cNvPr id="12" name="Image 1" descr="preencoded.png">    </p:cNvPr>
          <p:cNvPicPr>
            <a:picLocks noChangeAspect="1"/>
          </p:cNvPicPr>
          <p:nvPr/>
        </p:nvPicPr>
        <p:blipFill>
          <a:blip r:embed="rId2"/>
          <a:stretch>
            <a:fillRect/>
          </a:stretch>
        </p:blipFill>
        <p:spPr>
          <a:xfrm>
            <a:off x="3621024" y="1874520"/>
            <a:ext cx="365760" cy="365760"/>
          </a:xfrm>
          <a:prstGeom prst="rect">
            <a:avLst/>
          </a:prstGeom>
        </p:spPr>
      </p:pic>
      <p:sp>
        <p:nvSpPr>
          <p:cNvPr id="13" name="Text 9"/>
          <p:cNvSpPr txBox="1"/>
          <p:nvPr/>
        </p:nvSpPr>
        <p:spPr>
          <a:xfrm>
            <a:off x="4123944" y="1874520"/>
            <a:ext cx="1645920" cy="365760"/>
          </a:xfrm>
          <a:prstGeom prst="rect">
            <a:avLst/>
          </a:prstGeom>
          <a:noFill/>
          <a:ln/>
        </p:spPr>
        <p:txBody>
          <a:bodyPr wrap="square" lIns="0" tIns="0" rIns="0" bIns="0" rtlCol="0" anchor="ctr"/>
          <a:lstStyle/>
          <a:p>
            <a:pPr indent="0" marL="0">
              <a:buNone/>
            </a:pPr>
            <a:r>
              <a:rPr lang="en-US" sz="1800" dirty="0">
                <a:solidFill>
                  <a:srgbClr val="141413"/>
                </a:solidFill>
                <a:latin typeface="Cambria" pitchFamily="34" charset="0"/>
                <a:ea typeface="Cambria" pitchFamily="34" charset="-122"/>
                <a:cs typeface="Cambria" pitchFamily="34" charset="-120"/>
              </a:rPr>
              <a:t>Session</a:t>
            </a:r>
            <a:endParaRPr lang="en-US" sz="1800" dirty="0"/>
          </a:p>
        </p:txBody>
      </p:sp>
      <p:sp>
        <p:nvSpPr>
          <p:cNvPr id="14" name="Text 10"/>
          <p:cNvSpPr txBox="1"/>
          <p:nvPr/>
        </p:nvSpPr>
        <p:spPr>
          <a:xfrm>
            <a:off x="3621024" y="2377440"/>
            <a:ext cx="2103120" cy="1005840"/>
          </a:xfrm>
          <a:prstGeom prst="rect">
            <a:avLst/>
          </a:prstGeom>
          <a:noFill/>
          <a:ln/>
        </p:spPr>
        <p:txBody>
          <a:bodyPr wrap="square" lIns="0" tIns="0" rIns="0" bIns="0" rtlCol="0" anchor="t"/>
          <a:lstStyle/>
          <a:p>
            <a:pPr indent="0" marL="0">
              <a:buNone/>
            </a:pPr>
            <a:r>
              <a:rPr lang="en-US" sz="1300" dirty="0">
                <a:solidFill>
                  <a:srgbClr val="5E5D59"/>
                </a:solidFill>
                <a:latin typeface="Calibri" pitchFamily="34" charset="0"/>
                <a:ea typeface="Calibri" pitchFamily="34" charset="-122"/>
                <a:cs typeface="Calibri" pitchFamily="34" charset="-120"/>
              </a:rPr>
              <a:t>Recap, teaching, practice, exam-style questions, homework briefing.</a:t>
            </a:r>
            <a:endParaRPr lang="en-US" sz="1300" dirty="0"/>
          </a:p>
        </p:txBody>
      </p:sp>
      <p:sp>
        <p:nvSpPr>
          <p:cNvPr id="15" name="Shape 11"/>
          <p:cNvSpPr/>
          <p:nvPr/>
        </p:nvSpPr>
        <p:spPr>
          <a:xfrm>
            <a:off x="5971032" y="2578608"/>
            <a:ext cx="246888" cy="0"/>
          </a:xfrm>
          <a:prstGeom prst="line">
            <a:avLst/>
          </a:prstGeom>
          <a:noFill/>
          <a:ln w="25400">
            <a:solidFill>
              <a:srgbClr val="D97757"/>
            </a:solidFill>
            <a:prstDash val="solid"/>
            <a:tailEnd type="triangle"/>
          </a:ln>
        </p:spPr>
      </p:sp>
      <p:sp>
        <p:nvSpPr>
          <p:cNvPr id="16" name="Shape 12"/>
          <p:cNvSpPr/>
          <p:nvPr/>
        </p:nvSpPr>
        <p:spPr>
          <a:xfrm>
            <a:off x="6236208" y="1691640"/>
            <a:ext cx="2560320" cy="1783080"/>
          </a:xfrm>
          <a:prstGeom prst="roundRect">
            <a:avLst>
              <a:gd name="adj" fmla="val 6154"/>
            </a:avLst>
          </a:prstGeom>
          <a:solidFill>
            <a:srgbClr val="FFFFFF"/>
          </a:solidFill>
          <a:ln w="9525">
            <a:solidFill>
              <a:srgbClr val="E8E6DC"/>
            </a:solidFill>
            <a:prstDash val="solid"/>
          </a:ln>
        </p:spPr>
      </p:sp>
      <p:pic>
        <p:nvPicPr>
          <p:cNvPr id="17" name="Image 2" descr="preencoded.png">    </p:cNvPr>
          <p:cNvPicPr>
            <a:picLocks noChangeAspect="1"/>
          </p:cNvPicPr>
          <p:nvPr/>
        </p:nvPicPr>
        <p:blipFill>
          <a:blip r:embed="rId3"/>
          <a:stretch>
            <a:fillRect/>
          </a:stretch>
        </p:blipFill>
        <p:spPr>
          <a:xfrm>
            <a:off x="6464808" y="1874520"/>
            <a:ext cx="365760" cy="365760"/>
          </a:xfrm>
          <a:prstGeom prst="rect">
            <a:avLst/>
          </a:prstGeom>
        </p:spPr>
      </p:pic>
      <p:sp>
        <p:nvSpPr>
          <p:cNvPr id="18" name="Text 13"/>
          <p:cNvSpPr txBox="1"/>
          <p:nvPr/>
        </p:nvSpPr>
        <p:spPr>
          <a:xfrm>
            <a:off x="6967728" y="1874520"/>
            <a:ext cx="1645920" cy="365760"/>
          </a:xfrm>
          <a:prstGeom prst="rect">
            <a:avLst/>
          </a:prstGeom>
          <a:noFill/>
          <a:ln/>
        </p:spPr>
        <p:txBody>
          <a:bodyPr wrap="square" lIns="0" tIns="0" rIns="0" bIns="0" rtlCol="0" anchor="ctr"/>
          <a:lstStyle/>
          <a:p>
            <a:pPr indent="0" marL="0">
              <a:buNone/>
            </a:pPr>
            <a:r>
              <a:rPr lang="en-US" sz="1800" dirty="0">
                <a:solidFill>
                  <a:srgbClr val="141413"/>
                </a:solidFill>
                <a:latin typeface="Cambria" pitchFamily="34" charset="0"/>
                <a:ea typeface="Cambria" pitchFamily="34" charset="-122"/>
                <a:cs typeface="Cambria" pitchFamily="34" charset="-120"/>
              </a:rPr>
              <a:t>Homework</a:t>
            </a:r>
            <a:endParaRPr lang="en-US" sz="1800" dirty="0"/>
          </a:p>
        </p:txBody>
      </p:sp>
      <p:sp>
        <p:nvSpPr>
          <p:cNvPr id="19" name="Text 14"/>
          <p:cNvSpPr txBox="1"/>
          <p:nvPr/>
        </p:nvSpPr>
        <p:spPr>
          <a:xfrm>
            <a:off x="6464808" y="2377440"/>
            <a:ext cx="2103120" cy="1005840"/>
          </a:xfrm>
          <a:prstGeom prst="rect">
            <a:avLst/>
          </a:prstGeom>
          <a:noFill/>
          <a:ln/>
        </p:spPr>
        <p:txBody>
          <a:bodyPr wrap="square" lIns="0" tIns="0" rIns="0" bIns="0" rtlCol="0" anchor="t"/>
          <a:lstStyle/>
          <a:p>
            <a:pPr indent="0" marL="0">
              <a:buNone/>
            </a:pPr>
            <a:r>
              <a:rPr lang="en-US" sz="1300" dirty="0">
                <a:solidFill>
                  <a:srgbClr val="5E5D59"/>
                </a:solidFill>
                <a:latin typeface="Calibri" pitchFamily="34" charset="0"/>
                <a:ea typeface="Calibri" pitchFamily="34" charset="-122"/>
                <a:cs typeface="Calibri" pitchFamily="34" charset="-120"/>
              </a:rPr>
              <a:t>One step of a running exercise, built across sessions.</a:t>
            </a:r>
            <a:endParaRPr lang="en-US" sz="1300" dirty="0"/>
          </a:p>
        </p:txBody>
      </p:sp>
      <p:sp>
        <p:nvSpPr>
          <p:cNvPr id="20" name="Shape 15"/>
          <p:cNvSpPr/>
          <p:nvPr/>
        </p:nvSpPr>
        <p:spPr>
          <a:xfrm>
            <a:off x="8814816" y="2578608"/>
            <a:ext cx="246888" cy="0"/>
          </a:xfrm>
          <a:prstGeom prst="line">
            <a:avLst/>
          </a:prstGeom>
          <a:noFill/>
          <a:ln w="25400">
            <a:solidFill>
              <a:srgbClr val="D97757"/>
            </a:solidFill>
            <a:prstDash val="solid"/>
            <a:tailEnd type="triangle"/>
          </a:ln>
        </p:spPr>
      </p:sp>
      <p:sp>
        <p:nvSpPr>
          <p:cNvPr id="21" name="Shape 16"/>
          <p:cNvSpPr/>
          <p:nvPr/>
        </p:nvSpPr>
        <p:spPr>
          <a:xfrm>
            <a:off x="9079992" y="1691640"/>
            <a:ext cx="2560320" cy="1783080"/>
          </a:xfrm>
          <a:prstGeom prst="roundRect">
            <a:avLst>
              <a:gd name="adj" fmla="val 6154"/>
            </a:avLst>
          </a:prstGeom>
          <a:solidFill>
            <a:srgbClr val="FFFFFF"/>
          </a:solidFill>
          <a:ln w="9525">
            <a:solidFill>
              <a:srgbClr val="E8E6DC"/>
            </a:solidFill>
            <a:prstDash val="solid"/>
          </a:ln>
        </p:spPr>
      </p:sp>
      <p:pic>
        <p:nvPicPr>
          <p:cNvPr id="22" name="Image 3" descr="preencoded.png">    </p:cNvPr>
          <p:cNvPicPr>
            <a:picLocks noChangeAspect="1"/>
          </p:cNvPicPr>
          <p:nvPr/>
        </p:nvPicPr>
        <p:blipFill>
          <a:blip r:embed="rId4"/>
          <a:stretch>
            <a:fillRect/>
          </a:stretch>
        </p:blipFill>
        <p:spPr>
          <a:xfrm>
            <a:off x="9308592" y="1874520"/>
            <a:ext cx="365760" cy="365760"/>
          </a:xfrm>
          <a:prstGeom prst="rect">
            <a:avLst/>
          </a:prstGeom>
        </p:spPr>
      </p:pic>
      <p:sp>
        <p:nvSpPr>
          <p:cNvPr id="23" name="Text 17"/>
          <p:cNvSpPr txBox="1"/>
          <p:nvPr/>
        </p:nvSpPr>
        <p:spPr>
          <a:xfrm>
            <a:off x="9811512" y="1874520"/>
            <a:ext cx="1645920" cy="365760"/>
          </a:xfrm>
          <a:prstGeom prst="rect">
            <a:avLst/>
          </a:prstGeom>
          <a:noFill/>
          <a:ln/>
        </p:spPr>
        <p:txBody>
          <a:bodyPr wrap="square" lIns="0" tIns="0" rIns="0" bIns="0" rtlCol="0" anchor="ctr"/>
          <a:lstStyle/>
          <a:p>
            <a:pPr indent="0" marL="0">
              <a:buNone/>
            </a:pPr>
            <a:r>
              <a:rPr lang="en-US" sz="1800" dirty="0">
                <a:solidFill>
                  <a:srgbClr val="141413"/>
                </a:solidFill>
                <a:latin typeface="Cambria" pitchFamily="34" charset="0"/>
                <a:ea typeface="Cambria" pitchFamily="34" charset="-122"/>
                <a:cs typeface="Cambria" pitchFamily="34" charset="-120"/>
              </a:rPr>
              <a:t>Question bank</a:t>
            </a:r>
            <a:endParaRPr lang="en-US" sz="1800" dirty="0"/>
          </a:p>
        </p:txBody>
      </p:sp>
      <p:sp>
        <p:nvSpPr>
          <p:cNvPr id="24" name="Text 18"/>
          <p:cNvSpPr txBox="1"/>
          <p:nvPr/>
        </p:nvSpPr>
        <p:spPr>
          <a:xfrm>
            <a:off x="9308592" y="2377440"/>
            <a:ext cx="2103120" cy="1005840"/>
          </a:xfrm>
          <a:prstGeom prst="rect">
            <a:avLst/>
          </a:prstGeom>
          <a:noFill/>
          <a:ln/>
        </p:spPr>
        <p:txBody>
          <a:bodyPr wrap="square" lIns="0" tIns="0" rIns="0" bIns="0" rtlCol="0" anchor="t"/>
          <a:lstStyle/>
          <a:p>
            <a:pPr indent="0" marL="0">
              <a:buNone/>
            </a:pPr>
            <a:r>
              <a:rPr lang="en-US" sz="1300" dirty="0">
                <a:solidFill>
                  <a:srgbClr val="5E5D59"/>
                </a:solidFill>
                <a:latin typeface="Calibri" pitchFamily="34" charset="0"/>
                <a:ea typeface="Calibri" pitchFamily="34" charset="-122"/>
                <a:cs typeface="Calibri" pitchFamily="34" charset="-120"/>
              </a:rPr>
              <a:t>3 to 5 scenario questions per session. 60+ items by Session 15.</a:t>
            </a:r>
            <a:endParaRPr lang="en-US" sz="1300" dirty="0"/>
          </a:p>
        </p:txBody>
      </p:sp>
      <p:sp>
        <p:nvSpPr>
          <p:cNvPr id="25" name="Text 19"/>
          <p:cNvSpPr txBox="1"/>
          <p:nvPr/>
        </p:nvSpPr>
        <p:spPr>
          <a:xfrm>
            <a:off x="548640" y="3749040"/>
            <a:ext cx="5486400" cy="274320"/>
          </a:xfrm>
          <a:prstGeom prst="rect">
            <a:avLst/>
          </a:prstGeom>
          <a:noFill/>
          <a:ln/>
        </p:spPr>
        <p:txBody>
          <a:bodyPr wrap="square" lIns="0" tIns="0" rIns="0" bIns="0" rtlCol="0" anchor="ctr"/>
          <a:lstStyle/>
          <a:p>
            <a:pPr indent="0" marL="0">
              <a:buNone/>
            </a:pPr>
            <a:r>
              <a:rPr lang="en-US" sz="1700" dirty="0">
                <a:solidFill>
                  <a:srgbClr val="141413"/>
                </a:solidFill>
                <a:latin typeface="Cambria" pitchFamily="34" charset="0"/>
                <a:ea typeface="Cambria" pitchFamily="34" charset="-122"/>
                <a:cs typeface="Cambria" pitchFamily="34" charset="-120"/>
              </a:rPr>
              <a:t>Prep-course priorities</a:t>
            </a:r>
            <a:endParaRPr lang="en-US" sz="1700" dirty="0"/>
          </a:p>
        </p:txBody>
      </p:sp>
      <p:sp>
        <p:nvSpPr>
          <p:cNvPr id="26" name="Shape 20"/>
          <p:cNvSpPr/>
          <p:nvPr/>
        </p:nvSpPr>
        <p:spPr>
          <a:xfrm>
            <a:off x="548640" y="4142232"/>
            <a:ext cx="868680" cy="274320"/>
          </a:xfrm>
          <a:prstGeom prst="roundRect">
            <a:avLst>
              <a:gd name="adj" fmla="val 50000"/>
            </a:avLst>
          </a:prstGeom>
          <a:solidFill>
            <a:srgbClr val="D97757"/>
          </a:solidFill>
          <a:ln w="12700">
            <a:solidFill>
              <a:srgbClr val="D97757"/>
            </a:solidFill>
            <a:prstDash val="solid"/>
          </a:ln>
        </p:spPr>
      </p:sp>
      <p:sp>
        <p:nvSpPr>
          <p:cNvPr id="27" name="Text 21"/>
          <p:cNvSpPr txBox="1"/>
          <p:nvPr/>
        </p:nvSpPr>
        <p:spPr>
          <a:xfrm>
            <a:off x="548640" y="4142232"/>
            <a:ext cx="8686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Core</a:t>
            </a:r>
            <a:endParaRPr lang="en-US" sz="1100" dirty="0"/>
          </a:p>
        </p:txBody>
      </p:sp>
      <p:sp>
        <p:nvSpPr>
          <p:cNvPr id="28" name="Text 22"/>
          <p:cNvSpPr txBox="1"/>
          <p:nvPr/>
        </p:nvSpPr>
        <p:spPr>
          <a:xfrm>
            <a:off x="1600200" y="4114800"/>
            <a:ext cx="5120640" cy="329184"/>
          </a:xfrm>
          <a:prstGeom prst="rect">
            <a:avLst/>
          </a:prstGeom>
          <a:noFill/>
          <a:ln/>
        </p:spPr>
        <p:txBody>
          <a:bodyPr wrap="square" lIns="0" tIns="0" rIns="0" bIns="0" rtlCol="0" anchor="ctr"/>
          <a:lstStyle/>
          <a:p>
            <a:pPr indent="0" marL="0">
              <a:buNone/>
            </a:pPr>
            <a:r>
              <a:rPr lang="en-US" sz="1400" dirty="0">
                <a:solidFill>
                  <a:srgbClr val="141413"/>
                </a:solidFill>
                <a:latin typeface="Calibri" pitchFamily="34" charset="0"/>
                <a:ea typeface="Calibri" pitchFamily="34" charset="-122"/>
                <a:cs typeface="Calibri" pitchFamily="34" charset="-120"/>
              </a:rPr>
              <a:t>Building with the Claude API</a:t>
            </a:r>
            <a:endParaRPr lang="en-US" sz="1400" dirty="0"/>
          </a:p>
        </p:txBody>
      </p:sp>
      <p:sp>
        <p:nvSpPr>
          <p:cNvPr id="29" name="Text 23"/>
          <p:cNvSpPr txBox="1"/>
          <p:nvPr/>
        </p:nvSpPr>
        <p:spPr>
          <a:xfrm>
            <a:off x="6766560" y="4114800"/>
            <a:ext cx="2103120" cy="329184"/>
          </a:xfrm>
          <a:prstGeom prst="rect">
            <a:avLst/>
          </a:prstGeom>
          <a:noFill/>
          <a:ln/>
        </p:spPr>
        <p:txBody>
          <a:bodyPr wrap="square" lIns="0" tIns="0" rIns="0" bIns="0" rtlCol="0" anchor="ctr"/>
          <a:lstStyle/>
          <a:p>
            <a:pPr indent="0" marL="0">
              <a:buNone/>
            </a:pPr>
            <a:r>
              <a:rPr lang="en-US" sz="1300" dirty="0">
                <a:solidFill>
                  <a:srgbClr val="5E5D59"/>
                </a:solidFill>
                <a:latin typeface="Calibri" pitchFamily="34" charset="0"/>
                <a:ea typeface="Calibri" pitchFamily="34" charset="-122"/>
                <a:cs typeface="Calibri" pitchFamily="34" charset="-120"/>
              </a:rPr>
              <a:t>Sessions 1, 2, 3, 12, 13</a:t>
            </a:r>
            <a:endParaRPr lang="en-US" sz="1300" dirty="0"/>
          </a:p>
        </p:txBody>
      </p:sp>
      <p:sp>
        <p:nvSpPr>
          <p:cNvPr id="30" name="Shape 24"/>
          <p:cNvSpPr/>
          <p:nvPr/>
        </p:nvSpPr>
        <p:spPr>
          <a:xfrm>
            <a:off x="548640" y="4599432"/>
            <a:ext cx="868680" cy="274320"/>
          </a:xfrm>
          <a:prstGeom prst="roundRect">
            <a:avLst>
              <a:gd name="adj" fmla="val 50000"/>
            </a:avLst>
          </a:prstGeom>
          <a:solidFill>
            <a:srgbClr val="D97757"/>
          </a:solidFill>
          <a:ln w="12700">
            <a:solidFill>
              <a:srgbClr val="D97757"/>
            </a:solidFill>
            <a:prstDash val="solid"/>
          </a:ln>
        </p:spPr>
      </p:sp>
      <p:sp>
        <p:nvSpPr>
          <p:cNvPr id="31" name="Text 25"/>
          <p:cNvSpPr txBox="1"/>
          <p:nvPr/>
        </p:nvSpPr>
        <p:spPr>
          <a:xfrm>
            <a:off x="548640" y="4599432"/>
            <a:ext cx="8686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Core</a:t>
            </a:r>
            <a:endParaRPr lang="en-US" sz="1100" dirty="0"/>
          </a:p>
        </p:txBody>
      </p:sp>
      <p:sp>
        <p:nvSpPr>
          <p:cNvPr id="32" name="Text 26"/>
          <p:cNvSpPr txBox="1"/>
          <p:nvPr/>
        </p:nvSpPr>
        <p:spPr>
          <a:xfrm>
            <a:off x="1600200" y="4572000"/>
            <a:ext cx="5120640" cy="329184"/>
          </a:xfrm>
          <a:prstGeom prst="rect">
            <a:avLst/>
          </a:prstGeom>
          <a:noFill/>
          <a:ln/>
        </p:spPr>
        <p:txBody>
          <a:bodyPr wrap="square" lIns="0" tIns="0" rIns="0" bIns="0" rtlCol="0" anchor="ctr"/>
          <a:lstStyle/>
          <a:p>
            <a:pPr indent="0" marL="0">
              <a:buNone/>
            </a:pPr>
            <a:r>
              <a:rPr lang="en-US" sz="1400" dirty="0">
                <a:solidFill>
                  <a:srgbClr val="141413"/>
                </a:solidFill>
                <a:latin typeface="Calibri" pitchFamily="34" charset="0"/>
                <a:ea typeface="Calibri" pitchFamily="34" charset="-122"/>
                <a:cs typeface="Calibri" pitchFamily="34" charset="-120"/>
              </a:rPr>
              <a:t>Introduction to Model Context Protocol</a:t>
            </a:r>
            <a:endParaRPr lang="en-US" sz="1400" dirty="0"/>
          </a:p>
        </p:txBody>
      </p:sp>
      <p:sp>
        <p:nvSpPr>
          <p:cNvPr id="33" name="Text 27"/>
          <p:cNvSpPr txBox="1"/>
          <p:nvPr/>
        </p:nvSpPr>
        <p:spPr>
          <a:xfrm>
            <a:off x="6766560" y="4572000"/>
            <a:ext cx="2103120" cy="329184"/>
          </a:xfrm>
          <a:prstGeom prst="rect">
            <a:avLst/>
          </a:prstGeom>
          <a:noFill/>
          <a:ln/>
        </p:spPr>
        <p:txBody>
          <a:bodyPr wrap="square" lIns="0" tIns="0" rIns="0" bIns="0" rtlCol="0" anchor="ctr"/>
          <a:lstStyle/>
          <a:p>
            <a:pPr indent="0" marL="0">
              <a:buNone/>
            </a:pPr>
            <a:r>
              <a:rPr lang="en-US" sz="1300" dirty="0">
                <a:solidFill>
                  <a:srgbClr val="5E5D59"/>
                </a:solidFill>
                <a:latin typeface="Calibri" pitchFamily="34" charset="0"/>
                <a:ea typeface="Calibri" pitchFamily="34" charset="-122"/>
                <a:cs typeface="Calibri" pitchFamily="34" charset="-120"/>
              </a:rPr>
              <a:t>Session 7</a:t>
            </a:r>
            <a:endParaRPr lang="en-US" sz="1300" dirty="0"/>
          </a:p>
        </p:txBody>
      </p:sp>
      <p:sp>
        <p:nvSpPr>
          <p:cNvPr id="34" name="Shape 28"/>
          <p:cNvSpPr/>
          <p:nvPr/>
        </p:nvSpPr>
        <p:spPr>
          <a:xfrm>
            <a:off x="548640" y="5056632"/>
            <a:ext cx="868680" cy="274320"/>
          </a:xfrm>
          <a:prstGeom prst="roundRect">
            <a:avLst>
              <a:gd name="adj" fmla="val 50000"/>
            </a:avLst>
          </a:prstGeom>
          <a:solidFill>
            <a:srgbClr val="D97757"/>
          </a:solidFill>
          <a:ln w="12700">
            <a:solidFill>
              <a:srgbClr val="D97757"/>
            </a:solidFill>
            <a:prstDash val="solid"/>
          </a:ln>
        </p:spPr>
      </p:sp>
      <p:sp>
        <p:nvSpPr>
          <p:cNvPr id="35" name="Text 29"/>
          <p:cNvSpPr txBox="1"/>
          <p:nvPr/>
        </p:nvSpPr>
        <p:spPr>
          <a:xfrm>
            <a:off x="548640" y="5056632"/>
            <a:ext cx="8686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Core</a:t>
            </a:r>
            <a:endParaRPr lang="en-US" sz="1100" dirty="0"/>
          </a:p>
        </p:txBody>
      </p:sp>
      <p:sp>
        <p:nvSpPr>
          <p:cNvPr id="36" name="Text 30"/>
          <p:cNvSpPr txBox="1"/>
          <p:nvPr/>
        </p:nvSpPr>
        <p:spPr>
          <a:xfrm>
            <a:off x="1600200" y="5029200"/>
            <a:ext cx="5120640" cy="329184"/>
          </a:xfrm>
          <a:prstGeom prst="rect">
            <a:avLst/>
          </a:prstGeom>
          <a:noFill/>
          <a:ln/>
        </p:spPr>
        <p:txBody>
          <a:bodyPr wrap="square" lIns="0" tIns="0" rIns="0" bIns="0" rtlCol="0" anchor="ctr"/>
          <a:lstStyle/>
          <a:p>
            <a:pPr indent="0" marL="0">
              <a:buNone/>
            </a:pPr>
            <a:r>
              <a:rPr lang="en-US" sz="1400" dirty="0">
                <a:solidFill>
                  <a:srgbClr val="141413"/>
                </a:solidFill>
                <a:latin typeface="Calibri" pitchFamily="34" charset="0"/>
                <a:ea typeface="Calibri" pitchFamily="34" charset="-122"/>
                <a:cs typeface="Calibri" pitchFamily="34" charset="-120"/>
              </a:rPr>
              <a:t>Claude Code in Action</a:t>
            </a:r>
            <a:endParaRPr lang="en-US" sz="1400" dirty="0"/>
          </a:p>
        </p:txBody>
      </p:sp>
      <p:sp>
        <p:nvSpPr>
          <p:cNvPr id="37" name="Text 31"/>
          <p:cNvSpPr txBox="1"/>
          <p:nvPr/>
        </p:nvSpPr>
        <p:spPr>
          <a:xfrm>
            <a:off x="6766560" y="5029200"/>
            <a:ext cx="2103120" cy="329184"/>
          </a:xfrm>
          <a:prstGeom prst="rect">
            <a:avLst/>
          </a:prstGeom>
          <a:noFill/>
          <a:ln/>
        </p:spPr>
        <p:txBody>
          <a:bodyPr wrap="square" lIns="0" tIns="0" rIns="0" bIns="0" rtlCol="0" anchor="ctr"/>
          <a:lstStyle/>
          <a:p>
            <a:pPr indent="0" marL="0">
              <a:buNone/>
            </a:pPr>
            <a:r>
              <a:rPr lang="en-US" sz="1300" dirty="0">
                <a:solidFill>
                  <a:srgbClr val="5E5D59"/>
                </a:solidFill>
                <a:latin typeface="Calibri" pitchFamily="34" charset="0"/>
                <a:ea typeface="Calibri" pitchFamily="34" charset="-122"/>
                <a:cs typeface="Calibri" pitchFamily="34" charset="-120"/>
              </a:rPr>
              <a:t>Sessions 6, 8, 9, 10, 11</a:t>
            </a:r>
            <a:endParaRPr lang="en-US" sz="1300" dirty="0"/>
          </a:p>
        </p:txBody>
      </p:sp>
      <p:sp>
        <p:nvSpPr>
          <p:cNvPr id="38" name="Shape 32"/>
          <p:cNvSpPr/>
          <p:nvPr/>
        </p:nvSpPr>
        <p:spPr>
          <a:xfrm>
            <a:off x="548640" y="5513832"/>
            <a:ext cx="868680" cy="274320"/>
          </a:xfrm>
          <a:prstGeom prst="roundRect">
            <a:avLst>
              <a:gd name="adj" fmla="val 50000"/>
            </a:avLst>
          </a:prstGeom>
          <a:solidFill>
            <a:srgbClr val="87867F"/>
          </a:solidFill>
          <a:ln w="12700">
            <a:solidFill>
              <a:srgbClr val="87867F"/>
            </a:solidFill>
            <a:prstDash val="solid"/>
          </a:ln>
        </p:spPr>
      </p:sp>
      <p:sp>
        <p:nvSpPr>
          <p:cNvPr id="39" name="Text 33"/>
          <p:cNvSpPr txBox="1"/>
          <p:nvPr/>
        </p:nvSpPr>
        <p:spPr>
          <a:xfrm>
            <a:off x="548640" y="5513832"/>
            <a:ext cx="8686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Optional</a:t>
            </a:r>
            <a:endParaRPr lang="en-US" sz="1100" dirty="0"/>
          </a:p>
        </p:txBody>
      </p:sp>
      <p:sp>
        <p:nvSpPr>
          <p:cNvPr id="40" name="Text 34"/>
          <p:cNvSpPr txBox="1"/>
          <p:nvPr/>
        </p:nvSpPr>
        <p:spPr>
          <a:xfrm>
            <a:off x="1600200" y="5486400"/>
            <a:ext cx="5120640" cy="329184"/>
          </a:xfrm>
          <a:prstGeom prst="rect">
            <a:avLst/>
          </a:prstGeom>
          <a:noFill/>
          <a:ln/>
        </p:spPr>
        <p:txBody>
          <a:bodyPr wrap="square" lIns="0" tIns="0" rIns="0" bIns="0" rtlCol="0" anchor="ctr"/>
          <a:lstStyle/>
          <a:p>
            <a:pPr indent="0" marL="0">
              <a:buNone/>
            </a:pPr>
            <a:r>
              <a:rPr lang="en-US" sz="1400" dirty="0">
                <a:solidFill>
                  <a:srgbClr val="141413"/>
                </a:solidFill>
                <a:latin typeface="Calibri" pitchFamily="34" charset="0"/>
                <a:ea typeface="Calibri" pitchFamily="34" charset="-122"/>
                <a:cs typeface="Calibri" pitchFamily="34" charset="-120"/>
              </a:rPr>
              <a:t>AI Fluency; Claude 101; Google Cloud / Bedrock courses</a:t>
            </a:r>
            <a:endParaRPr lang="en-US" sz="1400" dirty="0"/>
          </a:p>
        </p:txBody>
      </p:sp>
      <p:sp>
        <p:nvSpPr>
          <p:cNvPr id="41" name="Text 35"/>
          <p:cNvSpPr txBox="1"/>
          <p:nvPr/>
        </p:nvSpPr>
        <p:spPr>
          <a:xfrm>
            <a:off x="6766560" y="5486400"/>
            <a:ext cx="2103120" cy="329184"/>
          </a:xfrm>
          <a:prstGeom prst="rect">
            <a:avLst/>
          </a:prstGeom>
          <a:noFill/>
          <a:ln/>
        </p:spPr>
        <p:txBody>
          <a:bodyPr wrap="square" lIns="0" tIns="0" rIns="0" bIns="0" rtlCol="0" anchor="ctr"/>
          <a:lstStyle/>
          <a:p>
            <a:pPr indent="0" marL="0">
              <a:buNone/>
            </a:pPr>
            <a:r>
              <a:rPr lang="en-US" sz="1300" dirty="0">
                <a:solidFill>
                  <a:srgbClr val="5E5D59"/>
                </a:solidFill>
                <a:latin typeface="Calibri" pitchFamily="34" charset="0"/>
                <a:ea typeface="Calibri" pitchFamily="34" charset="-122"/>
                <a:cs typeface="Calibri" pitchFamily="34" charset="-120"/>
              </a:rPr>
              <a:t>Background only</a:t>
            </a:r>
            <a:endParaRPr lang="en-US" sz="1300" dirty="0"/>
          </a:p>
        </p:txBody>
      </p:sp>
      <p:sp>
        <p:nvSpPr>
          <p:cNvPr id="42" name="Shape 36"/>
          <p:cNvSpPr/>
          <p:nvPr/>
        </p:nvSpPr>
        <p:spPr>
          <a:xfrm>
            <a:off x="9098280" y="3794760"/>
            <a:ext cx="2542032" cy="2148840"/>
          </a:xfrm>
          <a:prstGeom prst="roundRect">
            <a:avLst>
              <a:gd name="adj" fmla="val 5106"/>
            </a:avLst>
          </a:prstGeom>
          <a:solidFill>
            <a:srgbClr val="F6E4DB"/>
          </a:solidFill>
          <a:ln w="9525">
            <a:solidFill>
              <a:srgbClr val="F6E4DB"/>
            </a:solidFill>
            <a:prstDash val="solid"/>
          </a:ln>
        </p:spPr>
      </p:sp>
      <p:sp>
        <p:nvSpPr>
          <p:cNvPr id="43" name="Text 37"/>
          <p:cNvSpPr txBox="1"/>
          <p:nvPr/>
        </p:nvSpPr>
        <p:spPr>
          <a:xfrm>
            <a:off x="9281160" y="3931920"/>
            <a:ext cx="2194560" cy="274320"/>
          </a:xfrm>
          <a:prstGeom prst="rect">
            <a:avLst/>
          </a:prstGeom>
          <a:noFill/>
          <a:ln/>
        </p:spPr>
        <p:txBody>
          <a:bodyPr wrap="square" lIns="0" tIns="0" rIns="0" bIns="0" rtlCol="0" anchor="ctr"/>
          <a:lstStyle/>
          <a:p>
            <a:pPr indent="0" marL="0">
              <a:buNone/>
            </a:pPr>
            <a:r>
              <a:rPr lang="en-US" sz="1500" dirty="0">
                <a:solidFill>
                  <a:srgbClr val="B85C3E"/>
                </a:solidFill>
                <a:latin typeface="Cambria" pitchFamily="34" charset="0"/>
                <a:ea typeface="Cambria" pitchFamily="34" charset="-122"/>
                <a:cs typeface="Cambria" pitchFamily="34" charset="-120"/>
              </a:rPr>
              <a:t>Docs-led sessions</a:t>
            </a:r>
            <a:endParaRPr lang="en-US" sz="1500" dirty="0"/>
          </a:p>
        </p:txBody>
      </p:sp>
      <p:sp>
        <p:nvSpPr>
          <p:cNvPr id="44" name="Text 38"/>
          <p:cNvSpPr txBox="1"/>
          <p:nvPr/>
        </p:nvSpPr>
        <p:spPr>
          <a:xfrm>
            <a:off x="9281160" y="4251960"/>
            <a:ext cx="2194560" cy="1600200"/>
          </a:xfrm>
          <a:prstGeom prst="rect">
            <a:avLst/>
          </a:prstGeom>
          <a:noFill/>
          <a:ln/>
        </p:spPr>
        <p:txBody>
          <a:bodyPr wrap="square" lIns="0" tIns="0" rIns="0" bIns="0" rtlCol="0" anchor="t"/>
          <a:lstStyle/>
          <a:p>
            <a:pPr indent="0" marL="0">
              <a:buNone/>
            </a:pPr>
            <a:r>
              <a:rPr lang="en-US" sz="1300" dirty="0">
                <a:solidFill>
                  <a:srgbClr val="141413"/>
                </a:solidFill>
                <a:latin typeface="Calibri" pitchFamily="34" charset="0"/>
                <a:ea typeface="Calibri" pitchFamily="34" charset="-122"/>
                <a:cs typeface="Calibri" pitchFamily="34" charset="-120"/>
              </a:rPr>
              <a:t>Sessions 4, 5, 13, 14 and 15 lean on official docs and teaching, because the courses do not cover them.</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548640" y="365760"/>
            <a:ext cx="8686800" cy="274320"/>
          </a:xfrm>
          <a:prstGeom prst="rect">
            <a:avLst/>
          </a:prstGeom>
          <a:noFill/>
          <a:ln/>
        </p:spPr>
        <p:txBody>
          <a:bodyPr wrap="square" lIns="0" tIns="0" rIns="0" bIns="0"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CURRICULUM OVERVIEW</a:t>
            </a:r>
            <a:endParaRPr lang="en-US" sz="1200" dirty="0"/>
          </a:p>
        </p:txBody>
      </p:sp>
      <p:sp>
        <p:nvSpPr>
          <p:cNvPr id="3" name="Text 1"/>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200" dirty="0">
                <a:solidFill>
                  <a:srgbClr val="141413"/>
                </a:solidFill>
                <a:latin typeface="Cambria" pitchFamily="34" charset="0"/>
                <a:ea typeface="Cambria" pitchFamily="34" charset="-122"/>
                <a:cs typeface="Cambria" pitchFamily="34" charset="-120"/>
              </a:rPr>
              <a:t>The 16-session roadmap</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87867F"/>
                </a:solidFill>
                <a:latin typeface="Calibri" pitchFamily="34" charset="0"/>
                <a:ea typeface="Calibri" pitchFamily="34" charset="-122"/>
                <a:cs typeface="Calibri" pitchFamily="34" charset="-120"/>
              </a:rPr>
              <a:t>CCAR-F Skills Curriculum  ·  Session 1  ·  5</a:t>
            </a:r>
            <a:endParaRPr lang="en-US" sz="1000" dirty="0"/>
          </a:p>
        </p:txBody>
      </p:sp>
      <p:sp>
        <p:nvSpPr>
          <p:cNvPr id="5" name="Text 3"/>
          <p:cNvSpPr txBox="1"/>
          <p:nvPr/>
        </p:nvSpPr>
        <p:spPr>
          <a:xfrm>
            <a:off x="8869680" y="365760"/>
            <a:ext cx="2770632" cy="274320"/>
          </a:xfrm>
          <a:prstGeom prst="rect">
            <a:avLst/>
          </a:prstGeom>
          <a:noFill/>
          <a:ln/>
        </p:spPr>
        <p:txBody>
          <a:bodyPr wrap="square" lIns="0" tIns="0" rIns="0" bIns="0" rtlCol="0" anchor="ctr"/>
          <a:lstStyle/>
          <a:p>
            <a:pPr algn="r" indent="0" marL="0">
              <a:buNone/>
            </a:pPr>
            <a:r>
              <a:rPr lang="en-US" sz="1100" dirty="0">
                <a:solidFill>
                  <a:srgbClr val="87867F"/>
                </a:solidFill>
                <a:latin typeface="Calibri" pitchFamily="34" charset="0"/>
                <a:ea typeface="Calibri" pitchFamily="34" charset="-122"/>
                <a:cs typeface="Calibri" pitchFamily="34" charset="-120"/>
              </a:rPr>
              <a:t>6–7 min</a:t>
            </a:r>
            <a:endParaRPr lang="en-US" sz="1100" dirty="0"/>
          </a:p>
        </p:txBody>
      </p:sp>
      <p:sp>
        <p:nvSpPr>
          <p:cNvPr id="6" name="Shape 4"/>
          <p:cNvSpPr/>
          <p:nvPr/>
        </p:nvSpPr>
        <p:spPr>
          <a:xfrm>
            <a:off x="548640" y="1572768"/>
            <a:ext cx="2651760" cy="914400"/>
          </a:xfrm>
          <a:prstGeom prst="roundRect">
            <a:avLst>
              <a:gd name="adj" fmla="val 10000"/>
            </a:avLst>
          </a:prstGeom>
          <a:solidFill>
            <a:srgbClr val="141413"/>
          </a:solidFill>
          <a:ln w="12700">
            <a:solidFill>
              <a:srgbClr val="141413"/>
            </a:solidFill>
            <a:prstDash val="solid"/>
          </a:ln>
        </p:spPr>
      </p:sp>
      <p:sp>
        <p:nvSpPr>
          <p:cNvPr id="7" name="Shape 5"/>
          <p:cNvSpPr/>
          <p:nvPr/>
        </p:nvSpPr>
        <p:spPr>
          <a:xfrm>
            <a:off x="685800" y="1709928"/>
            <a:ext cx="384048" cy="384048"/>
          </a:xfrm>
          <a:prstGeom prst="ellipse">
            <a:avLst/>
          </a:prstGeom>
          <a:solidFill>
            <a:srgbClr val="D97757"/>
          </a:solidFill>
          <a:ln w="12700">
            <a:solidFill>
              <a:srgbClr val="D97757"/>
            </a:solidFill>
            <a:prstDash val="solid"/>
          </a:ln>
        </p:spPr>
      </p:sp>
      <p:sp>
        <p:nvSpPr>
          <p:cNvPr id="8" name="Text 6"/>
          <p:cNvSpPr txBox="1"/>
          <p:nvPr/>
        </p:nvSpPr>
        <p:spPr>
          <a:xfrm>
            <a:off x="685800" y="17099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9" name="Text 7"/>
          <p:cNvSpPr txBox="1"/>
          <p:nvPr/>
        </p:nvSpPr>
        <p:spPr>
          <a:xfrm>
            <a:off x="1188720" y="1645920"/>
            <a:ext cx="1920240" cy="566928"/>
          </a:xfrm>
          <a:prstGeom prst="rect">
            <a:avLst/>
          </a:prstGeom>
          <a:noFill/>
          <a:ln/>
        </p:spPr>
        <p:txBody>
          <a:bodyPr wrap="square" lIns="0" tIns="0" rIns="0" bIns="0" rtlCol="0" anchor="t"/>
          <a:lstStyle/>
          <a:p>
            <a:pPr indent="0" marL="0">
              <a:buNone/>
            </a:pPr>
            <a:r>
              <a:rPr lang="en-US" sz="1200" b="1" dirty="0">
                <a:solidFill>
                  <a:srgbClr val="FAF9F5"/>
                </a:solidFill>
                <a:latin typeface="Calibri" pitchFamily="34" charset="0"/>
                <a:ea typeface="Calibri" pitchFamily="34" charset="-122"/>
                <a:cs typeface="Calibri" pitchFamily="34" charset="-120"/>
              </a:rPr>
              <a:t>Orientation and API foundations</a:t>
            </a:r>
            <a:endParaRPr lang="en-US" sz="1200" dirty="0"/>
          </a:p>
        </p:txBody>
      </p:sp>
      <p:sp>
        <p:nvSpPr>
          <p:cNvPr id="10" name="Text 8"/>
          <p:cNvSpPr txBox="1"/>
          <p:nvPr/>
        </p:nvSpPr>
        <p:spPr>
          <a:xfrm>
            <a:off x="1188720" y="2194560"/>
            <a:ext cx="1920240" cy="237744"/>
          </a:xfrm>
          <a:prstGeom prst="rect">
            <a:avLst/>
          </a:prstGeom>
          <a:noFill/>
          <a:ln/>
        </p:spPr>
        <p:txBody>
          <a:bodyPr wrap="square" lIns="0" tIns="0" rIns="0" bIns="0" rtlCol="0" anchor="ctr"/>
          <a:lstStyle/>
          <a:p>
            <a:pPr indent="0" marL="0">
              <a:buNone/>
            </a:pPr>
            <a:r>
              <a:rPr lang="en-US" sz="1100" dirty="0">
                <a:solidFill>
                  <a:srgbClr val="C9C7BC"/>
                </a:solidFill>
                <a:latin typeface="Calibri" pitchFamily="34" charset="0"/>
                <a:ea typeface="Calibri" pitchFamily="34" charset="-122"/>
                <a:cs typeface="Calibri" pitchFamily="34" charset="-120"/>
              </a:rPr>
              <a:t>Overview, 5.1 (history)</a:t>
            </a:r>
            <a:endParaRPr lang="en-US" sz="1100" dirty="0"/>
          </a:p>
        </p:txBody>
      </p:sp>
      <p:sp>
        <p:nvSpPr>
          <p:cNvPr id="11" name="Shape 9"/>
          <p:cNvSpPr/>
          <p:nvPr/>
        </p:nvSpPr>
        <p:spPr>
          <a:xfrm>
            <a:off x="3362249" y="1572768"/>
            <a:ext cx="2651760" cy="914400"/>
          </a:xfrm>
          <a:prstGeom prst="roundRect">
            <a:avLst>
              <a:gd name="adj" fmla="val 10000"/>
            </a:avLst>
          </a:prstGeom>
          <a:solidFill>
            <a:srgbClr val="F6E4DB"/>
          </a:solidFill>
          <a:ln w="12700">
            <a:solidFill>
              <a:srgbClr val="F6E4DB"/>
            </a:solidFill>
            <a:prstDash val="solid"/>
          </a:ln>
        </p:spPr>
      </p:sp>
      <p:sp>
        <p:nvSpPr>
          <p:cNvPr id="12" name="Shape 10"/>
          <p:cNvSpPr/>
          <p:nvPr/>
        </p:nvSpPr>
        <p:spPr>
          <a:xfrm>
            <a:off x="3499409" y="1709928"/>
            <a:ext cx="384048" cy="384048"/>
          </a:xfrm>
          <a:prstGeom prst="ellipse">
            <a:avLst/>
          </a:prstGeom>
          <a:solidFill>
            <a:srgbClr val="D97757"/>
          </a:solidFill>
          <a:ln w="12700">
            <a:solidFill>
              <a:srgbClr val="D97757"/>
            </a:solidFill>
            <a:prstDash val="solid"/>
          </a:ln>
        </p:spPr>
      </p:sp>
      <p:sp>
        <p:nvSpPr>
          <p:cNvPr id="13" name="Text 11"/>
          <p:cNvSpPr txBox="1"/>
          <p:nvPr/>
        </p:nvSpPr>
        <p:spPr>
          <a:xfrm>
            <a:off x="3499409" y="17099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4" name="Text 12"/>
          <p:cNvSpPr txBox="1"/>
          <p:nvPr/>
        </p:nvSpPr>
        <p:spPr>
          <a:xfrm>
            <a:off x="4002329" y="1645920"/>
            <a:ext cx="1920240" cy="566928"/>
          </a:xfrm>
          <a:prstGeom prst="rect">
            <a:avLst/>
          </a:prstGeom>
          <a:noFill/>
          <a:ln/>
        </p:spPr>
        <p:txBody>
          <a:bodyPr wrap="square" lIns="0" tIns="0" rIns="0" bIns="0" rtlCol="0" anchor="t"/>
          <a:lstStyle/>
          <a:p>
            <a:pPr indent="0" marL="0">
              <a:buNone/>
            </a:pPr>
            <a:r>
              <a:rPr lang="en-US" sz="1200" b="1" dirty="0">
                <a:solidFill>
                  <a:srgbClr val="141413"/>
                </a:solidFill>
                <a:latin typeface="Calibri" pitchFamily="34" charset="0"/>
                <a:ea typeface="Calibri" pitchFamily="34" charset="-122"/>
                <a:cs typeface="Calibri" pitchFamily="34" charset="-120"/>
              </a:rPr>
              <a:t>Agentic loops and task decomposition</a:t>
            </a:r>
            <a:endParaRPr lang="en-US" sz="1200" dirty="0"/>
          </a:p>
        </p:txBody>
      </p:sp>
      <p:sp>
        <p:nvSpPr>
          <p:cNvPr id="15" name="Text 13"/>
          <p:cNvSpPr txBox="1"/>
          <p:nvPr/>
        </p:nvSpPr>
        <p:spPr>
          <a:xfrm>
            <a:off x="4002329" y="2194560"/>
            <a:ext cx="1920240" cy="237744"/>
          </a:xfrm>
          <a:prstGeom prst="rect">
            <a:avLst/>
          </a:prstGeom>
          <a:noFill/>
          <a:ln/>
        </p:spPr>
        <p:txBody>
          <a:bodyPr wrap="square" lIns="0" tIns="0" rIns="0" bIns="0" rtlCol="0" anchor="ctr"/>
          <a:lstStyle/>
          <a:p>
            <a:pPr indent="0" marL="0">
              <a:buNone/>
            </a:pPr>
            <a:r>
              <a:rPr lang="en-US" sz="1100" dirty="0">
                <a:solidFill>
                  <a:srgbClr val="5E5D59"/>
                </a:solidFill>
                <a:latin typeface="Calibri" pitchFamily="34" charset="0"/>
                <a:ea typeface="Calibri" pitchFamily="34" charset="-122"/>
                <a:cs typeface="Calibri" pitchFamily="34" charset="-120"/>
              </a:rPr>
              <a:t>1.1, 1.6</a:t>
            </a:r>
            <a:endParaRPr lang="en-US" sz="1100" dirty="0"/>
          </a:p>
        </p:txBody>
      </p:sp>
      <p:sp>
        <p:nvSpPr>
          <p:cNvPr id="16" name="Shape 14"/>
          <p:cNvSpPr/>
          <p:nvPr/>
        </p:nvSpPr>
        <p:spPr>
          <a:xfrm>
            <a:off x="6175858" y="1572768"/>
            <a:ext cx="2651760" cy="914400"/>
          </a:xfrm>
          <a:prstGeom prst="roundRect">
            <a:avLst>
              <a:gd name="adj" fmla="val 10000"/>
            </a:avLst>
          </a:prstGeom>
          <a:solidFill>
            <a:srgbClr val="E1ECF6"/>
          </a:solidFill>
          <a:ln w="12700">
            <a:solidFill>
              <a:srgbClr val="E1ECF6"/>
            </a:solidFill>
            <a:prstDash val="solid"/>
          </a:ln>
        </p:spPr>
      </p:sp>
      <p:sp>
        <p:nvSpPr>
          <p:cNvPr id="17" name="Shape 15"/>
          <p:cNvSpPr/>
          <p:nvPr/>
        </p:nvSpPr>
        <p:spPr>
          <a:xfrm>
            <a:off x="6313018" y="1709928"/>
            <a:ext cx="384048" cy="384048"/>
          </a:xfrm>
          <a:prstGeom prst="ellipse">
            <a:avLst/>
          </a:prstGeom>
          <a:solidFill>
            <a:srgbClr val="6A9BCC"/>
          </a:solidFill>
          <a:ln w="12700">
            <a:solidFill>
              <a:srgbClr val="6A9BCC"/>
            </a:solidFill>
            <a:prstDash val="solid"/>
          </a:ln>
        </p:spPr>
      </p:sp>
      <p:sp>
        <p:nvSpPr>
          <p:cNvPr id="18" name="Text 16"/>
          <p:cNvSpPr txBox="1"/>
          <p:nvPr/>
        </p:nvSpPr>
        <p:spPr>
          <a:xfrm>
            <a:off x="6313018" y="17099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9" name="Text 17"/>
          <p:cNvSpPr txBox="1"/>
          <p:nvPr/>
        </p:nvSpPr>
        <p:spPr>
          <a:xfrm>
            <a:off x="6815938" y="1645920"/>
            <a:ext cx="1920240" cy="566928"/>
          </a:xfrm>
          <a:prstGeom prst="rect">
            <a:avLst/>
          </a:prstGeom>
          <a:noFill/>
          <a:ln/>
        </p:spPr>
        <p:txBody>
          <a:bodyPr wrap="square" lIns="0" tIns="0" rIns="0" bIns="0" rtlCol="0" anchor="t"/>
          <a:lstStyle/>
          <a:p>
            <a:pPr indent="0" marL="0">
              <a:buNone/>
            </a:pPr>
            <a:r>
              <a:rPr lang="en-US" sz="1200" b="1" dirty="0">
                <a:solidFill>
                  <a:srgbClr val="141413"/>
                </a:solidFill>
                <a:latin typeface="Calibri" pitchFamily="34" charset="0"/>
                <a:ea typeface="Calibri" pitchFamily="34" charset="-122"/>
                <a:cs typeface="Calibri" pitchFamily="34" charset="-120"/>
              </a:rPr>
              <a:t>Tool interface design and distribution</a:t>
            </a:r>
            <a:endParaRPr lang="en-US" sz="1200" dirty="0"/>
          </a:p>
        </p:txBody>
      </p:sp>
      <p:sp>
        <p:nvSpPr>
          <p:cNvPr id="20" name="Text 18"/>
          <p:cNvSpPr txBox="1"/>
          <p:nvPr/>
        </p:nvSpPr>
        <p:spPr>
          <a:xfrm>
            <a:off x="6815938" y="2194560"/>
            <a:ext cx="1920240" cy="237744"/>
          </a:xfrm>
          <a:prstGeom prst="rect">
            <a:avLst/>
          </a:prstGeom>
          <a:noFill/>
          <a:ln/>
        </p:spPr>
        <p:txBody>
          <a:bodyPr wrap="square" lIns="0" tIns="0" rIns="0" bIns="0" rtlCol="0" anchor="ctr"/>
          <a:lstStyle/>
          <a:p>
            <a:pPr indent="0" marL="0">
              <a:buNone/>
            </a:pPr>
            <a:r>
              <a:rPr lang="en-US" sz="1100" dirty="0">
                <a:solidFill>
                  <a:srgbClr val="5E5D59"/>
                </a:solidFill>
                <a:latin typeface="Calibri" pitchFamily="34" charset="0"/>
                <a:ea typeface="Calibri" pitchFamily="34" charset="-122"/>
                <a:cs typeface="Calibri" pitchFamily="34" charset="-120"/>
              </a:rPr>
              <a:t>2.1, 2.3</a:t>
            </a:r>
            <a:endParaRPr lang="en-US" sz="1100" dirty="0"/>
          </a:p>
        </p:txBody>
      </p:sp>
      <p:sp>
        <p:nvSpPr>
          <p:cNvPr id="21" name="Shape 19"/>
          <p:cNvSpPr/>
          <p:nvPr/>
        </p:nvSpPr>
        <p:spPr>
          <a:xfrm>
            <a:off x="8989466" y="1572768"/>
            <a:ext cx="2651760" cy="914400"/>
          </a:xfrm>
          <a:prstGeom prst="roundRect">
            <a:avLst>
              <a:gd name="adj" fmla="val 10000"/>
            </a:avLst>
          </a:prstGeom>
          <a:solidFill>
            <a:srgbClr val="E1ECF6"/>
          </a:solidFill>
          <a:ln w="12700">
            <a:solidFill>
              <a:srgbClr val="E1ECF6"/>
            </a:solidFill>
            <a:prstDash val="solid"/>
          </a:ln>
        </p:spPr>
      </p:sp>
      <p:sp>
        <p:nvSpPr>
          <p:cNvPr id="22" name="Shape 20"/>
          <p:cNvSpPr/>
          <p:nvPr/>
        </p:nvSpPr>
        <p:spPr>
          <a:xfrm>
            <a:off x="9126626" y="1709928"/>
            <a:ext cx="384048" cy="384048"/>
          </a:xfrm>
          <a:prstGeom prst="ellipse">
            <a:avLst/>
          </a:prstGeom>
          <a:solidFill>
            <a:srgbClr val="6A9BCC"/>
          </a:solidFill>
          <a:ln w="12700">
            <a:solidFill>
              <a:srgbClr val="6A9BCC"/>
            </a:solidFill>
            <a:prstDash val="solid"/>
          </a:ln>
        </p:spPr>
      </p:sp>
      <p:sp>
        <p:nvSpPr>
          <p:cNvPr id="23" name="Text 21"/>
          <p:cNvSpPr txBox="1"/>
          <p:nvPr/>
        </p:nvSpPr>
        <p:spPr>
          <a:xfrm>
            <a:off x="9126626" y="17099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4" name="Text 22"/>
          <p:cNvSpPr txBox="1"/>
          <p:nvPr/>
        </p:nvSpPr>
        <p:spPr>
          <a:xfrm>
            <a:off x="9629546" y="1645920"/>
            <a:ext cx="1920240" cy="566928"/>
          </a:xfrm>
          <a:prstGeom prst="rect">
            <a:avLst/>
          </a:prstGeom>
          <a:noFill/>
          <a:ln/>
        </p:spPr>
        <p:txBody>
          <a:bodyPr wrap="square" lIns="0" tIns="0" rIns="0" bIns="0" rtlCol="0" anchor="t"/>
          <a:lstStyle/>
          <a:p>
            <a:pPr indent="0" marL="0">
              <a:buNone/>
            </a:pPr>
            <a:r>
              <a:rPr lang="en-US" sz="1200" b="1" dirty="0">
                <a:solidFill>
                  <a:srgbClr val="141413"/>
                </a:solidFill>
                <a:latin typeface="Calibri" pitchFamily="34" charset="0"/>
                <a:ea typeface="Calibri" pitchFamily="34" charset="-122"/>
                <a:cs typeface="Calibri" pitchFamily="34" charset="-120"/>
              </a:rPr>
              <a:t>Structured errors and propagation</a:t>
            </a:r>
            <a:endParaRPr lang="en-US" sz="1200" dirty="0"/>
          </a:p>
        </p:txBody>
      </p:sp>
      <p:sp>
        <p:nvSpPr>
          <p:cNvPr id="25" name="Text 23"/>
          <p:cNvSpPr txBox="1"/>
          <p:nvPr/>
        </p:nvSpPr>
        <p:spPr>
          <a:xfrm>
            <a:off x="9629546" y="2194560"/>
            <a:ext cx="1920240" cy="237744"/>
          </a:xfrm>
          <a:prstGeom prst="rect">
            <a:avLst/>
          </a:prstGeom>
          <a:noFill/>
          <a:ln/>
        </p:spPr>
        <p:txBody>
          <a:bodyPr wrap="square" lIns="0" tIns="0" rIns="0" bIns="0" rtlCol="0" anchor="ctr"/>
          <a:lstStyle/>
          <a:p>
            <a:pPr indent="0" marL="0">
              <a:buNone/>
            </a:pPr>
            <a:r>
              <a:rPr lang="en-US" sz="1100" dirty="0">
                <a:solidFill>
                  <a:srgbClr val="5E5D59"/>
                </a:solidFill>
                <a:latin typeface="Calibri" pitchFamily="34" charset="0"/>
                <a:ea typeface="Calibri" pitchFamily="34" charset="-122"/>
                <a:cs typeface="Calibri" pitchFamily="34" charset="-120"/>
              </a:rPr>
              <a:t>2.2, 5.3</a:t>
            </a:r>
            <a:endParaRPr lang="en-US" sz="1100" dirty="0"/>
          </a:p>
        </p:txBody>
      </p:sp>
      <p:sp>
        <p:nvSpPr>
          <p:cNvPr id="26" name="Shape 24"/>
          <p:cNvSpPr/>
          <p:nvPr/>
        </p:nvSpPr>
        <p:spPr>
          <a:xfrm>
            <a:off x="548640" y="2606040"/>
            <a:ext cx="2651760" cy="914400"/>
          </a:xfrm>
          <a:prstGeom prst="roundRect">
            <a:avLst>
              <a:gd name="adj" fmla="val 10000"/>
            </a:avLst>
          </a:prstGeom>
          <a:solidFill>
            <a:srgbClr val="F6E4DB"/>
          </a:solidFill>
          <a:ln w="12700">
            <a:solidFill>
              <a:srgbClr val="F6E4DB"/>
            </a:solidFill>
            <a:prstDash val="solid"/>
          </a:ln>
        </p:spPr>
      </p:sp>
      <p:sp>
        <p:nvSpPr>
          <p:cNvPr id="27" name="Shape 25"/>
          <p:cNvSpPr/>
          <p:nvPr/>
        </p:nvSpPr>
        <p:spPr>
          <a:xfrm>
            <a:off x="685800" y="2743200"/>
            <a:ext cx="384048" cy="384048"/>
          </a:xfrm>
          <a:prstGeom prst="ellipse">
            <a:avLst/>
          </a:prstGeom>
          <a:solidFill>
            <a:srgbClr val="D97757"/>
          </a:solidFill>
          <a:ln w="12700">
            <a:solidFill>
              <a:srgbClr val="D97757"/>
            </a:solidFill>
            <a:prstDash val="solid"/>
          </a:ln>
        </p:spPr>
      </p:sp>
      <p:sp>
        <p:nvSpPr>
          <p:cNvPr id="28" name="Text 26"/>
          <p:cNvSpPr txBox="1"/>
          <p:nvPr/>
        </p:nvSpPr>
        <p:spPr>
          <a:xfrm>
            <a:off x="685800" y="2743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9" name="Text 27"/>
          <p:cNvSpPr txBox="1"/>
          <p:nvPr/>
        </p:nvSpPr>
        <p:spPr>
          <a:xfrm>
            <a:off x="1188720" y="2679192"/>
            <a:ext cx="1920240" cy="566928"/>
          </a:xfrm>
          <a:prstGeom prst="rect">
            <a:avLst/>
          </a:prstGeom>
          <a:noFill/>
          <a:ln/>
        </p:spPr>
        <p:txBody>
          <a:bodyPr wrap="square" lIns="0" tIns="0" rIns="0" bIns="0" rtlCol="0" anchor="t"/>
          <a:lstStyle/>
          <a:p>
            <a:pPr indent="0" marL="0">
              <a:buNone/>
            </a:pPr>
            <a:r>
              <a:rPr lang="en-US" sz="1200" b="1" dirty="0">
                <a:solidFill>
                  <a:srgbClr val="141413"/>
                </a:solidFill>
                <a:latin typeface="Calibri" pitchFamily="34" charset="0"/>
                <a:ea typeface="Calibri" pitchFamily="34" charset="-122"/>
                <a:cs typeface="Calibri" pitchFamily="34" charset="-120"/>
              </a:rPr>
              <a:t>Multi-agent orchestration, subagents</a:t>
            </a:r>
            <a:endParaRPr lang="en-US" sz="1200" dirty="0"/>
          </a:p>
        </p:txBody>
      </p:sp>
      <p:sp>
        <p:nvSpPr>
          <p:cNvPr id="30" name="Text 28"/>
          <p:cNvSpPr txBox="1"/>
          <p:nvPr/>
        </p:nvSpPr>
        <p:spPr>
          <a:xfrm>
            <a:off x="1188720" y="3227832"/>
            <a:ext cx="1920240" cy="237744"/>
          </a:xfrm>
          <a:prstGeom prst="rect">
            <a:avLst/>
          </a:prstGeom>
          <a:noFill/>
          <a:ln/>
        </p:spPr>
        <p:txBody>
          <a:bodyPr wrap="square" lIns="0" tIns="0" rIns="0" bIns="0" rtlCol="0" anchor="ctr"/>
          <a:lstStyle/>
          <a:p>
            <a:pPr indent="0" marL="0">
              <a:buNone/>
            </a:pPr>
            <a:r>
              <a:rPr lang="en-US" sz="1100" dirty="0">
                <a:solidFill>
                  <a:srgbClr val="5E5D59"/>
                </a:solidFill>
                <a:latin typeface="Calibri" pitchFamily="34" charset="0"/>
                <a:ea typeface="Calibri" pitchFamily="34" charset="-122"/>
                <a:cs typeface="Calibri" pitchFamily="34" charset="-120"/>
              </a:rPr>
              <a:t>1.2, 1.3</a:t>
            </a:r>
            <a:endParaRPr lang="en-US" sz="1100" dirty="0"/>
          </a:p>
        </p:txBody>
      </p:sp>
      <p:sp>
        <p:nvSpPr>
          <p:cNvPr id="31" name="Shape 29"/>
          <p:cNvSpPr/>
          <p:nvPr/>
        </p:nvSpPr>
        <p:spPr>
          <a:xfrm>
            <a:off x="3362249" y="2606040"/>
            <a:ext cx="2651760" cy="914400"/>
          </a:xfrm>
          <a:prstGeom prst="roundRect">
            <a:avLst>
              <a:gd name="adj" fmla="val 10000"/>
            </a:avLst>
          </a:prstGeom>
          <a:solidFill>
            <a:srgbClr val="F6E4DB"/>
          </a:solidFill>
          <a:ln w="12700">
            <a:solidFill>
              <a:srgbClr val="F6E4DB"/>
            </a:solidFill>
            <a:prstDash val="solid"/>
          </a:ln>
        </p:spPr>
      </p:sp>
      <p:sp>
        <p:nvSpPr>
          <p:cNvPr id="32" name="Shape 30"/>
          <p:cNvSpPr/>
          <p:nvPr/>
        </p:nvSpPr>
        <p:spPr>
          <a:xfrm>
            <a:off x="3499409" y="2743200"/>
            <a:ext cx="384048" cy="384048"/>
          </a:xfrm>
          <a:prstGeom prst="ellipse">
            <a:avLst/>
          </a:prstGeom>
          <a:solidFill>
            <a:srgbClr val="D97757"/>
          </a:solidFill>
          <a:ln w="12700">
            <a:solidFill>
              <a:srgbClr val="D97757"/>
            </a:solidFill>
            <a:prstDash val="solid"/>
          </a:ln>
        </p:spPr>
      </p:sp>
      <p:sp>
        <p:nvSpPr>
          <p:cNvPr id="33" name="Text 31"/>
          <p:cNvSpPr txBox="1"/>
          <p:nvPr/>
        </p:nvSpPr>
        <p:spPr>
          <a:xfrm>
            <a:off x="3499409" y="2743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34" name="Text 32"/>
          <p:cNvSpPr txBox="1"/>
          <p:nvPr/>
        </p:nvSpPr>
        <p:spPr>
          <a:xfrm>
            <a:off x="4002329" y="2679192"/>
            <a:ext cx="1920240" cy="566928"/>
          </a:xfrm>
          <a:prstGeom prst="rect">
            <a:avLst/>
          </a:prstGeom>
          <a:noFill/>
          <a:ln/>
        </p:spPr>
        <p:txBody>
          <a:bodyPr wrap="square" lIns="0" tIns="0" rIns="0" bIns="0" rtlCol="0" anchor="t"/>
          <a:lstStyle/>
          <a:p>
            <a:pPr indent="0" marL="0">
              <a:buNone/>
            </a:pPr>
            <a:r>
              <a:rPr lang="en-US" sz="1200" b="1" dirty="0">
                <a:solidFill>
                  <a:srgbClr val="141413"/>
                </a:solidFill>
                <a:latin typeface="Calibri" pitchFamily="34" charset="0"/>
                <a:ea typeface="Calibri" pitchFamily="34" charset="-122"/>
                <a:cs typeface="Calibri" pitchFamily="34" charset="-120"/>
              </a:rPr>
              <a:t>Enforcement, hooks, handoffs, escalation</a:t>
            </a:r>
            <a:endParaRPr lang="en-US" sz="1200" dirty="0"/>
          </a:p>
        </p:txBody>
      </p:sp>
      <p:sp>
        <p:nvSpPr>
          <p:cNvPr id="35" name="Text 33"/>
          <p:cNvSpPr txBox="1"/>
          <p:nvPr/>
        </p:nvSpPr>
        <p:spPr>
          <a:xfrm>
            <a:off x="4002329" y="3227832"/>
            <a:ext cx="1920240" cy="237744"/>
          </a:xfrm>
          <a:prstGeom prst="rect">
            <a:avLst/>
          </a:prstGeom>
          <a:noFill/>
          <a:ln/>
        </p:spPr>
        <p:txBody>
          <a:bodyPr wrap="square" lIns="0" tIns="0" rIns="0" bIns="0" rtlCol="0" anchor="ctr"/>
          <a:lstStyle/>
          <a:p>
            <a:pPr indent="0" marL="0">
              <a:buNone/>
            </a:pPr>
            <a:r>
              <a:rPr lang="en-US" sz="1100" dirty="0">
                <a:solidFill>
                  <a:srgbClr val="5E5D59"/>
                </a:solidFill>
                <a:latin typeface="Calibri" pitchFamily="34" charset="0"/>
                <a:ea typeface="Calibri" pitchFamily="34" charset="-122"/>
                <a:cs typeface="Calibri" pitchFamily="34" charset="-120"/>
              </a:rPr>
              <a:t>1.4, 1.5, 5.2</a:t>
            </a:r>
            <a:endParaRPr lang="en-US" sz="1100" dirty="0"/>
          </a:p>
        </p:txBody>
      </p:sp>
      <p:sp>
        <p:nvSpPr>
          <p:cNvPr id="36" name="Shape 34"/>
          <p:cNvSpPr/>
          <p:nvPr/>
        </p:nvSpPr>
        <p:spPr>
          <a:xfrm>
            <a:off x="6175858" y="2606040"/>
            <a:ext cx="2651760" cy="914400"/>
          </a:xfrm>
          <a:prstGeom prst="roundRect">
            <a:avLst>
              <a:gd name="adj" fmla="val 10000"/>
            </a:avLst>
          </a:prstGeom>
          <a:solidFill>
            <a:srgbClr val="E1ECF6"/>
          </a:solidFill>
          <a:ln w="12700">
            <a:solidFill>
              <a:srgbClr val="E1ECF6"/>
            </a:solidFill>
            <a:prstDash val="solid"/>
          </a:ln>
        </p:spPr>
      </p:sp>
      <p:sp>
        <p:nvSpPr>
          <p:cNvPr id="37" name="Shape 35"/>
          <p:cNvSpPr/>
          <p:nvPr/>
        </p:nvSpPr>
        <p:spPr>
          <a:xfrm>
            <a:off x="6313018" y="2743200"/>
            <a:ext cx="384048" cy="384048"/>
          </a:xfrm>
          <a:prstGeom prst="ellipse">
            <a:avLst/>
          </a:prstGeom>
          <a:solidFill>
            <a:srgbClr val="6A9BCC"/>
          </a:solidFill>
          <a:ln w="12700">
            <a:solidFill>
              <a:srgbClr val="6A9BCC"/>
            </a:solidFill>
            <a:prstDash val="solid"/>
          </a:ln>
        </p:spPr>
      </p:sp>
      <p:sp>
        <p:nvSpPr>
          <p:cNvPr id="38" name="Text 36"/>
          <p:cNvSpPr txBox="1"/>
          <p:nvPr/>
        </p:nvSpPr>
        <p:spPr>
          <a:xfrm>
            <a:off x="6313018" y="2743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7</a:t>
            </a:r>
            <a:endParaRPr lang="en-US" sz="1300" dirty="0"/>
          </a:p>
        </p:txBody>
      </p:sp>
      <p:sp>
        <p:nvSpPr>
          <p:cNvPr id="39" name="Text 37"/>
          <p:cNvSpPr txBox="1"/>
          <p:nvPr/>
        </p:nvSpPr>
        <p:spPr>
          <a:xfrm>
            <a:off x="6815938" y="2679192"/>
            <a:ext cx="1920240" cy="566928"/>
          </a:xfrm>
          <a:prstGeom prst="rect">
            <a:avLst/>
          </a:prstGeom>
          <a:noFill/>
          <a:ln/>
        </p:spPr>
        <p:txBody>
          <a:bodyPr wrap="square" lIns="0" tIns="0" rIns="0" bIns="0" rtlCol="0" anchor="t"/>
          <a:lstStyle/>
          <a:p>
            <a:pPr indent="0" marL="0">
              <a:buNone/>
            </a:pPr>
            <a:r>
              <a:rPr lang="en-US" sz="1200" b="1" dirty="0">
                <a:solidFill>
                  <a:srgbClr val="141413"/>
                </a:solidFill>
                <a:latin typeface="Calibri" pitchFamily="34" charset="0"/>
                <a:ea typeface="Calibri" pitchFamily="34" charset="-122"/>
                <a:cs typeface="Calibri" pitchFamily="34" charset="-120"/>
              </a:rPr>
              <a:t>MCP integration and built-in tools</a:t>
            </a:r>
            <a:endParaRPr lang="en-US" sz="1200" dirty="0"/>
          </a:p>
        </p:txBody>
      </p:sp>
      <p:sp>
        <p:nvSpPr>
          <p:cNvPr id="40" name="Text 38"/>
          <p:cNvSpPr txBox="1"/>
          <p:nvPr/>
        </p:nvSpPr>
        <p:spPr>
          <a:xfrm>
            <a:off x="6815938" y="3227832"/>
            <a:ext cx="1920240" cy="237744"/>
          </a:xfrm>
          <a:prstGeom prst="rect">
            <a:avLst/>
          </a:prstGeom>
          <a:noFill/>
          <a:ln/>
        </p:spPr>
        <p:txBody>
          <a:bodyPr wrap="square" lIns="0" tIns="0" rIns="0" bIns="0" rtlCol="0" anchor="ctr"/>
          <a:lstStyle/>
          <a:p>
            <a:pPr indent="0" marL="0">
              <a:buNone/>
            </a:pPr>
            <a:r>
              <a:rPr lang="en-US" sz="1100" dirty="0">
                <a:solidFill>
                  <a:srgbClr val="5E5D59"/>
                </a:solidFill>
                <a:latin typeface="Calibri" pitchFamily="34" charset="0"/>
                <a:ea typeface="Calibri" pitchFamily="34" charset="-122"/>
                <a:cs typeface="Calibri" pitchFamily="34" charset="-120"/>
              </a:rPr>
              <a:t>2.4, 2.5</a:t>
            </a:r>
            <a:endParaRPr lang="en-US" sz="1100" dirty="0"/>
          </a:p>
        </p:txBody>
      </p:sp>
      <p:sp>
        <p:nvSpPr>
          <p:cNvPr id="41" name="Shape 39"/>
          <p:cNvSpPr/>
          <p:nvPr/>
        </p:nvSpPr>
        <p:spPr>
          <a:xfrm>
            <a:off x="8989466" y="2606040"/>
            <a:ext cx="2651760" cy="914400"/>
          </a:xfrm>
          <a:prstGeom prst="roundRect">
            <a:avLst>
              <a:gd name="adj" fmla="val 10000"/>
            </a:avLst>
          </a:prstGeom>
          <a:solidFill>
            <a:srgbClr val="E6ECDD"/>
          </a:solidFill>
          <a:ln w="12700">
            <a:solidFill>
              <a:srgbClr val="E6ECDD"/>
            </a:solidFill>
            <a:prstDash val="solid"/>
          </a:ln>
        </p:spPr>
      </p:sp>
      <p:sp>
        <p:nvSpPr>
          <p:cNvPr id="42" name="Shape 40"/>
          <p:cNvSpPr/>
          <p:nvPr/>
        </p:nvSpPr>
        <p:spPr>
          <a:xfrm>
            <a:off x="9126626" y="2743200"/>
            <a:ext cx="384048" cy="384048"/>
          </a:xfrm>
          <a:prstGeom prst="ellipse">
            <a:avLst/>
          </a:prstGeom>
          <a:solidFill>
            <a:srgbClr val="788C5D"/>
          </a:solidFill>
          <a:ln w="12700">
            <a:solidFill>
              <a:srgbClr val="788C5D"/>
            </a:solidFill>
            <a:prstDash val="solid"/>
          </a:ln>
        </p:spPr>
      </p:sp>
      <p:sp>
        <p:nvSpPr>
          <p:cNvPr id="43" name="Text 41"/>
          <p:cNvSpPr txBox="1"/>
          <p:nvPr/>
        </p:nvSpPr>
        <p:spPr>
          <a:xfrm>
            <a:off x="9126626" y="2743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8</a:t>
            </a:r>
            <a:endParaRPr lang="en-US" sz="1300" dirty="0"/>
          </a:p>
        </p:txBody>
      </p:sp>
      <p:sp>
        <p:nvSpPr>
          <p:cNvPr id="44" name="Text 42"/>
          <p:cNvSpPr txBox="1"/>
          <p:nvPr/>
        </p:nvSpPr>
        <p:spPr>
          <a:xfrm>
            <a:off x="9629546" y="2679192"/>
            <a:ext cx="1920240" cy="566928"/>
          </a:xfrm>
          <a:prstGeom prst="rect">
            <a:avLst/>
          </a:prstGeom>
          <a:noFill/>
          <a:ln/>
        </p:spPr>
        <p:txBody>
          <a:bodyPr wrap="square" lIns="0" tIns="0" rIns="0" bIns="0" rtlCol="0" anchor="t"/>
          <a:lstStyle/>
          <a:p>
            <a:pPr indent="0" marL="0">
              <a:buNone/>
            </a:pPr>
            <a:r>
              <a:rPr lang="en-US" sz="1200" b="1" dirty="0">
                <a:solidFill>
                  <a:srgbClr val="141413"/>
                </a:solidFill>
                <a:latin typeface="Calibri" pitchFamily="34" charset="0"/>
                <a:ea typeface="Calibri" pitchFamily="34" charset="-122"/>
                <a:cs typeface="Calibri" pitchFamily="34" charset="-120"/>
              </a:rPr>
              <a:t>CLAUDE.md hierarchy, path-specific rules</a:t>
            </a:r>
            <a:endParaRPr lang="en-US" sz="1200" dirty="0"/>
          </a:p>
        </p:txBody>
      </p:sp>
      <p:sp>
        <p:nvSpPr>
          <p:cNvPr id="45" name="Text 43"/>
          <p:cNvSpPr txBox="1"/>
          <p:nvPr/>
        </p:nvSpPr>
        <p:spPr>
          <a:xfrm>
            <a:off x="9629546" y="3227832"/>
            <a:ext cx="1920240" cy="237744"/>
          </a:xfrm>
          <a:prstGeom prst="rect">
            <a:avLst/>
          </a:prstGeom>
          <a:noFill/>
          <a:ln/>
        </p:spPr>
        <p:txBody>
          <a:bodyPr wrap="square" lIns="0" tIns="0" rIns="0" bIns="0" rtlCol="0" anchor="ctr"/>
          <a:lstStyle/>
          <a:p>
            <a:pPr indent="0" marL="0">
              <a:buNone/>
            </a:pPr>
            <a:r>
              <a:rPr lang="en-US" sz="1100" dirty="0">
                <a:solidFill>
                  <a:srgbClr val="5E5D59"/>
                </a:solidFill>
                <a:latin typeface="Calibri" pitchFamily="34" charset="0"/>
                <a:ea typeface="Calibri" pitchFamily="34" charset="-122"/>
                <a:cs typeface="Calibri" pitchFamily="34" charset="-120"/>
              </a:rPr>
              <a:t>3.1, 3.3</a:t>
            </a:r>
            <a:endParaRPr lang="en-US" sz="1100" dirty="0"/>
          </a:p>
        </p:txBody>
      </p:sp>
      <p:sp>
        <p:nvSpPr>
          <p:cNvPr id="46" name="Shape 44"/>
          <p:cNvSpPr/>
          <p:nvPr/>
        </p:nvSpPr>
        <p:spPr>
          <a:xfrm>
            <a:off x="548640" y="3639312"/>
            <a:ext cx="2651760" cy="914400"/>
          </a:xfrm>
          <a:prstGeom prst="roundRect">
            <a:avLst>
              <a:gd name="adj" fmla="val 10000"/>
            </a:avLst>
          </a:prstGeom>
          <a:solidFill>
            <a:srgbClr val="E6ECDD"/>
          </a:solidFill>
          <a:ln w="12700">
            <a:solidFill>
              <a:srgbClr val="E6ECDD"/>
            </a:solidFill>
            <a:prstDash val="solid"/>
          </a:ln>
        </p:spPr>
      </p:sp>
      <p:sp>
        <p:nvSpPr>
          <p:cNvPr id="47" name="Shape 45"/>
          <p:cNvSpPr/>
          <p:nvPr/>
        </p:nvSpPr>
        <p:spPr>
          <a:xfrm>
            <a:off x="685800" y="3776472"/>
            <a:ext cx="384048" cy="384048"/>
          </a:xfrm>
          <a:prstGeom prst="ellipse">
            <a:avLst/>
          </a:prstGeom>
          <a:solidFill>
            <a:srgbClr val="788C5D"/>
          </a:solidFill>
          <a:ln w="12700">
            <a:solidFill>
              <a:srgbClr val="788C5D"/>
            </a:solidFill>
            <a:prstDash val="solid"/>
          </a:ln>
        </p:spPr>
      </p:sp>
      <p:sp>
        <p:nvSpPr>
          <p:cNvPr id="48" name="Text 46"/>
          <p:cNvSpPr txBox="1"/>
          <p:nvPr/>
        </p:nvSpPr>
        <p:spPr>
          <a:xfrm>
            <a:off x="685800" y="37764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9</a:t>
            </a:r>
            <a:endParaRPr lang="en-US" sz="1300" dirty="0"/>
          </a:p>
        </p:txBody>
      </p:sp>
      <p:sp>
        <p:nvSpPr>
          <p:cNvPr id="49" name="Text 47"/>
          <p:cNvSpPr txBox="1"/>
          <p:nvPr/>
        </p:nvSpPr>
        <p:spPr>
          <a:xfrm>
            <a:off x="1188720" y="3712464"/>
            <a:ext cx="1920240" cy="566928"/>
          </a:xfrm>
          <a:prstGeom prst="rect">
            <a:avLst/>
          </a:prstGeom>
          <a:noFill/>
          <a:ln/>
        </p:spPr>
        <p:txBody>
          <a:bodyPr wrap="square" lIns="0" tIns="0" rIns="0" bIns="0" rtlCol="0" anchor="t"/>
          <a:lstStyle/>
          <a:p>
            <a:pPr indent="0" marL="0">
              <a:buNone/>
            </a:pPr>
            <a:r>
              <a:rPr lang="en-US" sz="1200" b="1" dirty="0">
                <a:solidFill>
                  <a:srgbClr val="141413"/>
                </a:solidFill>
                <a:latin typeface="Calibri" pitchFamily="34" charset="0"/>
                <a:ea typeface="Calibri" pitchFamily="34" charset="-122"/>
                <a:cs typeface="Calibri" pitchFamily="34" charset="-120"/>
              </a:rPr>
              <a:t>Slash commands, skills, plan mode</a:t>
            </a:r>
            <a:endParaRPr lang="en-US" sz="1200" dirty="0"/>
          </a:p>
        </p:txBody>
      </p:sp>
      <p:sp>
        <p:nvSpPr>
          <p:cNvPr id="50" name="Text 48"/>
          <p:cNvSpPr txBox="1"/>
          <p:nvPr/>
        </p:nvSpPr>
        <p:spPr>
          <a:xfrm>
            <a:off x="1188720" y="4261104"/>
            <a:ext cx="1920240" cy="237744"/>
          </a:xfrm>
          <a:prstGeom prst="rect">
            <a:avLst/>
          </a:prstGeom>
          <a:noFill/>
          <a:ln/>
        </p:spPr>
        <p:txBody>
          <a:bodyPr wrap="square" lIns="0" tIns="0" rIns="0" bIns="0" rtlCol="0" anchor="ctr"/>
          <a:lstStyle/>
          <a:p>
            <a:pPr indent="0" marL="0">
              <a:buNone/>
            </a:pPr>
            <a:r>
              <a:rPr lang="en-US" sz="1100" dirty="0">
                <a:solidFill>
                  <a:srgbClr val="5E5D59"/>
                </a:solidFill>
                <a:latin typeface="Calibri" pitchFamily="34" charset="0"/>
                <a:ea typeface="Calibri" pitchFamily="34" charset="-122"/>
                <a:cs typeface="Calibri" pitchFamily="34" charset="-120"/>
              </a:rPr>
              <a:t>3.2, 3.4</a:t>
            </a:r>
            <a:endParaRPr lang="en-US" sz="1100" dirty="0"/>
          </a:p>
        </p:txBody>
      </p:sp>
      <p:sp>
        <p:nvSpPr>
          <p:cNvPr id="51" name="Shape 49"/>
          <p:cNvSpPr/>
          <p:nvPr/>
        </p:nvSpPr>
        <p:spPr>
          <a:xfrm>
            <a:off x="3362249" y="3639312"/>
            <a:ext cx="2651760" cy="914400"/>
          </a:xfrm>
          <a:prstGeom prst="roundRect">
            <a:avLst>
              <a:gd name="adj" fmla="val 10000"/>
            </a:avLst>
          </a:prstGeom>
          <a:solidFill>
            <a:srgbClr val="E6ECDD"/>
          </a:solidFill>
          <a:ln w="12700">
            <a:solidFill>
              <a:srgbClr val="E6ECDD"/>
            </a:solidFill>
            <a:prstDash val="solid"/>
          </a:ln>
        </p:spPr>
      </p:sp>
      <p:sp>
        <p:nvSpPr>
          <p:cNvPr id="52" name="Shape 50"/>
          <p:cNvSpPr/>
          <p:nvPr/>
        </p:nvSpPr>
        <p:spPr>
          <a:xfrm>
            <a:off x="3499409" y="3776472"/>
            <a:ext cx="384048" cy="384048"/>
          </a:xfrm>
          <a:prstGeom prst="ellipse">
            <a:avLst/>
          </a:prstGeom>
          <a:solidFill>
            <a:srgbClr val="788C5D"/>
          </a:solidFill>
          <a:ln w="12700">
            <a:solidFill>
              <a:srgbClr val="788C5D"/>
            </a:solidFill>
            <a:prstDash val="solid"/>
          </a:ln>
        </p:spPr>
      </p:sp>
      <p:sp>
        <p:nvSpPr>
          <p:cNvPr id="53" name="Text 51"/>
          <p:cNvSpPr txBox="1"/>
          <p:nvPr/>
        </p:nvSpPr>
        <p:spPr>
          <a:xfrm>
            <a:off x="3499409" y="37764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10</a:t>
            </a:r>
            <a:endParaRPr lang="en-US" sz="1300" dirty="0"/>
          </a:p>
        </p:txBody>
      </p:sp>
      <p:sp>
        <p:nvSpPr>
          <p:cNvPr id="54" name="Text 52"/>
          <p:cNvSpPr txBox="1"/>
          <p:nvPr/>
        </p:nvSpPr>
        <p:spPr>
          <a:xfrm>
            <a:off x="4002329" y="3712464"/>
            <a:ext cx="1920240" cy="566928"/>
          </a:xfrm>
          <a:prstGeom prst="rect">
            <a:avLst/>
          </a:prstGeom>
          <a:noFill/>
          <a:ln/>
        </p:spPr>
        <p:txBody>
          <a:bodyPr wrap="square" lIns="0" tIns="0" rIns="0" bIns="0" rtlCol="0" anchor="t"/>
          <a:lstStyle/>
          <a:p>
            <a:pPr indent="0" marL="0">
              <a:buNone/>
            </a:pPr>
            <a:r>
              <a:rPr lang="en-US" sz="1200" b="1" dirty="0">
                <a:solidFill>
                  <a:srgbClr val="141413"/>
                </a:solidFill>
                <a:latin typeface="Calibri" pitchFamily="34" charset="0"/>
                <a:ea typeface="Calibri" pitchFamily="34" charset="-122"/>
                <a:cs typeface="Calibri" pitchFamily="34" charset="-120"/>
              </a:rPr>
              <a:t>Refinement, sessions, large-codebase context</a:t>
            </a:r>
            <a:endParaRPr lang="en-US" sz="1200" dirty="0"/>
          </a:p>
        </p:txBody>
      </p:sp>
      <p:sp>
        <p:nvSpPr>
          <p:cNvPr id="55" name="Text 53"/>
          <p:cNvSpPr txBox="1"/>
          <p:nvPr/>
        </p:nvSpPr>
        <p:spPr>
          <a:xfrm>
            <a:off x="4002329" y="4261104"/>
            <a:ext cx="1920240" cy="237744"/>
          </a:xfrm>
          <a:prstGeom prst="rect">
            <a:avLst/>
          </a:prstGeom>
          <a:noFill/>
          <a:ln/>
        </p:spPr>
        <p:txBody>
          <a:bodyPr wrap="square" lIns="0" tIns="0" rIns="0" bIns="0" rtlCol="0" anchor="ctr"/>
          <a:lstStyle/>
          <a:p>
            <a:pPr indent="0" marL="0">
              <a:buNone/>
            </a:pPr>
            <a:r>
              <a:rPr lang="en-US" sz="1100" dirty="0">
                <a:solidFill>
                  <a:srgbClr val="5E5D59"/>
                </a:solidFill>
                <a:latin typeface="Calibri" pitchFamily="34" charset="0"/>
                <a:ea typeface="Calibri" pitchFamily="34" charset="-122"/>
                <a:cs typeface="Calibri" pitchFamily="34" charset="-120"/>
              </a:rPr>
              <a:t>3.5, 1.7, 5.4</a:t>
            </a:r>
            <a:endParaRPr lang="en-US" sz="1100" dirty="0"/>
          </a:p>
        </p:txBody>
      </p:sp>
      <p:sp>
        <p:nvSpPr>
          <p:cNvPr id="56" name="Shape 54"/>
          <p:cNvSpPr/>
          <p:nvPr/>
        </p:nvSpPr>
        <p:spPr>
          <a:xfrm>
            <a:off x="6175858" y="3639312"/>
            <a:ext cx="2651760" cy="914400"/>
          </a:xfrm>
          <a:prstGeom prst="roundRect">
            <a:avLst>
              <a:gd name="adj" fmla="val 10000"/>
            </a:avLst>
          </a:prstGeom>
          <a:solidFill>
            <a:srgbClr val="E6ECDD"/>
          </a:solidFill>
          <a:ln w="12700">
            <a:solidFill>
              <a:srgbClr val="E6ECDD"/>
            </a:solidFill>
            <a:prstDash val="solid"/>
          </a:ln>
        </p:spPr>
      </p:sp>
      <p:sp>
        <p:nvSpPr>
          <p:cNvPr id="57" name="Shape 55"/>
          <p:cNvSpPr/>
          <p:nvPr/>
        </p:nvSpPr>
        <p:spPr>
          <a:xfrm>
            <a:off x="6313018" y="3776472"/>
            <a:ext cx="384048" cy="384048"/>
          </a:xfrm>
          <a:prstGeom prst="ellipse">
            <a:avLst/>
          </a:prstGeom>
          <a:solidFill>
            <a:srgbClr val="788C5D"/>
          </a:solidFill>
          <a:ln w="12700">
            <a:solidFill>
              <a:srgbClr val="788C5D"/>
            </a:solidFill>
            <a:prstDash val="solid"/>
          </a:ln>
        </p:spPr>
      </p:sp>
      <p:sp>
        <p:nvSpPr>
          <p:cNvPr id="58" name="Text 56"/>
          <p:cNvSpPr txBox="1"/>
          <p:nvPr/>
        </p:nvSpPr>
        <p:spPr>
          <a:xfrm>
            <a:off x="6313018" y="37764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11</a:t>
            </a:r>
            <a:endParaRPr lang="en-US" sz="1300" dirty="0"/>
          </a:p>
        </p:txBody>
      </p:sp>
      <p:sp>
        <p:nvSpPr>
          <p:cNvPr id="59" name="Text 57"/>
          <p:cNvSpPr txBox="1"/>
          <p:nvPr/>
        </p:nvSpPr>
        <p:spPr>
          <a:xfrm>
            <a:off x="6815938" y="3712464"/>
            <a:ext cx="1920240" cy="566928"/>
          </a:xfrm>
          <a:prstGeom prst="rect">
            <a:avLst/>
          </a:prstGeom>
          <a:noFill/>
          <a:ln/>
        </p:spPr>
        <p:txBody>
          <a:bodyPr wrap="square" lIns="0" tIns="0" rIns="0" bIns="0" rtlCol="0" anchor="t"/>
          <a:lstStyle/>
          <a:p>
            <a:pPr indent="0" marL="0">
              <a:buNone/>
            </a:pPr>
            <a:r>
              <a:rPr lang="en-US" sz="1200" b="1" dirty="0">
                <a:solidFill>
                  <a:srgbClr val="141413"/>
                </a:solidFill>
                <a:latin typeface="Calibri" pitchFamily="34" charset="0"/>
                <a:ea typeface="Calibri" pitchFamily="34" charset="-122"/>
                <a:cs typeface="Calibri" pitchFamily="34" charset="-120"/>
              </a:rPr>
              <a:t>Claude Code in CI/CD, review prompts</a:t>
            </a:r>
            <a:endParaRPr lang="en-US" sz="1200" dirty="0"/>
          </a:p>
        </p:txBody>
      </p:sp>
      <p:sp>
        <p:nvSpPr>
          <p:cNvPr id="60" name="Text 58"/>
          <p:cNvSpPr txBox="1"/>
          <p:nvPr/>
        </p:nvSpPr>
        <p:spPr>
          <a:xfrm>
            <a:off x="6815938" y="4261104"/>
            <a:ext cx="1920240" cy="237744"/>
          </a:xfrm>
          <a:prstGeom prst="rect">
            <a:avLst/>
          </a:prstGeom>
          <a:noFill/>
          <a:ln/>
        </p:spPr>
        <p:txBody>
          <a:bodyPr wrap="square" lIns="0" tIns="0" rIns="0" bIns="0" rtlCol="0" anchor="ctr"/>
          <a:lstStyle/>
          <a:p>
            <a:pPr indent="0" marL="0">
              <a:buNone/>
            </a:pPr>
            <a:r>
              <a:rPr lang="en-US" sz="1100" dirty="0">
                <a:solidFill>
                  <a:srgbClr val="5E5D59"/>
                </a:solidFill>
                <a:latin typeface="Calibri" pitchFamily="34" charset="0"/>
                <a:ea typeface="Calibri" pitchFamily="34" charset="-122"/>
                <a:cs typeface="Calibri" pitchFamily="34" charset="-120"/>
              </a:rPr>
              <a:t>3.6, 4.1, 4.6</a:t>
            </a:r>
            <a:endParaRPr lang="en-US" sz="1100" dirty="0"/>
          </a:p>
        </p:txBody>
      </p:sp>
      <p:sp>
        <p:nvSpPr>
          <p:cNvPr id="61" name="Shape 59"/>
          <p:cNvSpPr/>
          <p:nvPr/>
        </p:nvSpPr>
        <p:spPr>
          <a:xfrm>
            <a:off x="8989466" y="3639312"/>
            <a:ext cx="2651760" cy="914400"/>
          </a:xfrm>
          <a:prstGeom prst="roundRect">
            <a:avLst>
              <a:gd name="adj" fmla="val 10000"/>
            </a:avLst>
          </a:prstGeom>
          <a:solidFill>
            <a:srgbClr val="ECE5F3"/>
          </a:solidFill>
          <a:ln w="12700">
            <a:solidFill>
              <a:srgbClr val="ECE5F3"/>
            </a:solidFill>
            <a:prstDash val="solid"/>
          </a:ln>
        </p:spPr>
      </p:sp>
      <p:sp>
        <p:nvSpPr>
          <p:cNvPr id="62" name="Shape 60"/>
          <p:cNvSpPr/>
          <p:nvPr/>
        </p:nvSpPr>
        <p:spPr>
          <a:xfrm>
            <a:off x="9126626" y="3776472"/>
            <a:ext cx="384048" cy="384048"/>
          </a:xfrm>
          <a:prstGeom prst="ellipse">
            <a:avLst/>
          </a:prstGeom>
          <a:solidFill>
            <a:srgbClr val="8B6FB0"/>
          </a:solidFill>
          <a:ln w="12700">
            <a:solidFill>
              <a:srgbClr val="8B6FB0"/>
            </a:solidFill>
            <a:prstDash val="solid"/>
          </a:ln>
        </p:spPr>
      </p:sp>
      <p:sp>
        <p:nvSpPr>
          <p:cNvPr id="63" name="Text 61"/>
          <p:cNvSpPr txBox="1"/>
          <p:nvPr/>
        </p:nvSpPr>
        <p:spPr>
          <a:xfrm>
            <a:off x="9126626" y="37764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12</a:t>
            </a:r>
            <a:endParaRPr lang="en-US" sz="1300" dirty="0"/>
          </a:p>
        </p:txBody>
      </p:sp>
      <p:sp>
        <p:nvSpPr>
          <p:cNvPr id="64" name="Text 62"/>
          <p:cNvSpPr txBox="1"/>
          <p:nvPr/>
        </p:nvSpPr>
        <p:spPr>
          <a:xfrm>
            <a:off x="9629546" y="3712464"/>
            <a:ext cx="1920240" cy="566928"/>
          </a:xfrm>
          <a:prstGeom prst="rect">
            <a:avLst/>
          </a:prstGeom>
          <a:noFill/>
          <a:ln/>
        </p:spPr>
        <p:txBody>
          <a:bodyPr wrap="square" lIns="0" tIns="0" rIns="0" bIns="0" rtlCol="0" anchor="t"/>
          <a:lstStyle/>
          <a:p>
            <a:pPr indent="0" marL="0">
              <a:buNone/>
            </a:pPr>
            <a:r>
              <a:rPr lang="en-US" sz="1200" b="1" dirty="0">
                <a:solidFill>
                  <a:srgbClr val="141413"/>
                </a:solidFill>
                <a:latin typeface="Calibri" pitchFamily="34" charset="0"/>
                <a:ea typeface="Calibri" pitchFamily="34" charset="-122"/>
                <a:cs typeface="Calibri" pitchFamily="34" charset="-120"/>
              </a:rPr>
              <a:t>Few-shot prompting, structured output</a:t>
            </a:r>
            <a:endParaRPr lang="en-US" sz="1200" dirty="0"/>
          </a:p>
        </p:txBody>
      </p:sp>
      <p:sp>
        <p:nvSpPr>
          <p:cNvPr id="65" name="Text 63"/>
          <p:cNvSpPr txBox="1"/>
          <p:nvPr/>
        </p:nvSpPr>
        <p:spPr>
          <a:xfrm>
            <a:off x="9629546" y="4261104"/>
            <a:ext cx="1920240" cy="237744"/>
          </a:xfrm>
          <a:prstGeom prst="rect">
            <a:avLst/>
          </a:prstGeom>
          <a:noFill/>
          <a:ln/>
        </p:spPr>
        <p:txBody>
          <a:bodyPr wrap="square" lIns="0" tIns="0" rIns="0" bIns="0" rtlCol="0" anchor="ctr"/>
          <a:lstStyle/>
          <a:p>
            <a:pPr indent="0" marL="0">
              <a:buNone/>
            </a:pPr>
            <a:r>
              <a:rPr lang="en-US" sz="1100" dirty="0">
                <a:solidFill>
                  <a:srgbClr val="5E5D59"/>
                </a:solidFill>
                <a:latin typeface="Calibri" pitchFamily="34" charset="0"/>
                <a:ea typeface="Calibri" pitchFamily="34" charset="-122"/>
                <a:cs typeface="Calibri" pitchFamily="34" charset="-120"/>
              </a:rPr>
              <a:t>4.2, 4.3</a:t>
            </a:r>
            <a:endParaRPr lang="en-US" sz="1100" dirty="0"/>
          </a:p>
        </p:txBody>
      </p:sp>
      <p:sp>
        <p:nvSpPr>
          <p:cNvPr id="66" name="Shape 64"/>
          <p:cNvSpPr/>
          <p:nvPr/>
        </p:nvSpPr>
        <p:spPr>
          <a:xfrm>
            <a:off x="548640" y="4672584"/>
            <a:ext cx="2651760" cy="914400"/>
          </a:xfrm>
          <a:prstGeom prst="roundRect">
            <a:avLst>
              <a:gd name="adj" fmla="val 10000"/>
            </a:avLst>
          </a:prstGeom>
          <a:solidFill>
            <a:srgbClr val="ECE5F3"/>
          </a:solidFill>
          <a:ln w="12700">
            <a:solidFill>
              <a:srgbClr val="ECE5F3"/>
            </a:solidFill>
            <a:prstDash val="solid"/>
          </a:ln>
        </p:spPr>
      </p:sp>
      <p:sp>
        <p:nvSpPr>
          <p:cNvPr id="67" name="Shape 65"/>
          <p:cNvSpPr/>
          <p:nvPr/>
        </p:nvSpPr>
        <p:spPr>
          <a:xfrm>
            <a:off x="685800" y="4809744"/>
            <a:ext cx="384048" cy="384048"/>
          </a:xfrm>
          <a:prstGeom prst="ellipse">
            <a:avLst/>
          </a:prstGeom>
          <a:solidFill>
            <a:srgbClr val="8B6FB0"/>
          </a:solidFill>
          <a:ln w="12700">
            <a:solidFill>
              <a:srgbClr val="8B6FB0"/>
            </a:solidFill>
            <a:prstDash val="solid"/>
          </a:ln>
        </p:spPr>
      </p:sp>
      <p:sp>
        <p:nvSpPr>
          <p:cNvPr id="68" name="Text 66"/>
          <p:cNvSpPr txBox="1"/>
          <p:nvPr/>
        </p:nvSpPr>
        <p:spPr>
          <a:xfrm>
            <a:off x="685800" y="48097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13</a:t>
            </a:r>
            <a:endParaRPr lang="en-US" sz="1300" dirty="0"/>
          </a:p>
        </p:txBody>
      </p:sp>
      <p:sp>
        <p:nvSpPr>
          <p:cNvPr id="69" name="Text 67"/>
          <p:cNvSpPr txBox="1"/>
          <p:nvPr/>
        </p:nvSpPr>
        <p:spPr>
          <a:xfrm>
            <a:off x="1188720" y="4745736"/>
            <a:ext cx="1920240" cy="566928"/>
          </a:xfrm>
          <a:prstGeom prst="rect">
            <a:avLst/>
          </a:prstGeom>
          <a:noFill/>
          <a:ln/>
        </p:spPr>
        <p:txBody>
          <a:bodyPr wrap="square" lIns="0" tIns="0" rIns="0" bIns="0" rtlCol="0" anchor="t"/>
          <a:lstStyle/>
          <a:p>
            <a:pPr indent="0" marL="0">
              <a:buNone/>
            </a:pPr>
            <a:r>
              <a:rPr lang="en-US" sz="1200" b="1" dirty="0">
                <a:solidFill>
                  <a:srgbClr val="141413"/>
                </a:solidFill>
                <a:latin typeface="Calibri" pitchFamily="34" charset="0"/>
                <a:ea typeface="Calibri" pitchFamily="34" charset="-122"/>
                <a:cs typeface="Calibri" pitchFamily="34" charset="-120"/>
              </a:rPr>
              <a:t>Validation-retry loops, batch processing</a:t>
            </a:r>
            <a:endParaRPr lang="en-US" sz="1200" dirty="0"/>
          </a:p>
        </p:txBody>
      </p:sp>
      <p:sp>
        <p:nvSpPr>
          <p:cNvPr id="70" name="Text 68"/>
          <p:cNvSpPr txBox="1"/>
          <p:nvPr/>
        </p:nvSpPr>
        <p:spPr>
          <a:xfrm>
            <a:off x="1188720" y="5294376"/>
            <a:ext cx="1920240" cy="237744"/>
          </a:xfrm>
          <a:prstGeom prst="rect">
            <a:avLst/>
          </a:prstGeom>
          <a:noFill/>
          <a:ln/>
        </p:spPr>
        <p:txBody>
          <a:bodyPr wrap="square" lIns="0" tIns="0" rIns="0" bIns="0" rtlCol="0" anchor="ctr"/>
          <a:lstStyle/>
          <a:p>
            <a:pPr indent="0" marL="0">
              <a:buNone/>
            </a:pPr>
            <a:r>
              <a:rPr lang="en-US" sz="1100" dirty="0">
                <a:solidFill>
                  <a:srgbClr val="5E5D59"/>
                </a:solidFill>
                <a:latin typeface="Calibri" pitchFamily="34" charset="0"/>
                <a:ea typeface="Calibri" pitchFamily="34" charset="-122"/>
                <a:cs typeface="Calibri" pitchFamily="34" charset="-120"/>
              </a:rPr>
              <a:t>4.4, 4.5</a:t>
            </a:r>
            <a:endParaRPr lang="en-US" sz="1100" dirty="0"/>
          </a:p>
        </p:txBody>
      </p:sp>
      <p:sp>
        <p:nvSpPr>
          <p:cNvPr id="71" name="Shape 69"/>
          <p:cNvSpPr/>
          <p:nvPr/>
        </p:nvSpPr>
        <p:spPr>
          <a:xfrm>
            <a:off x="3362249" y="4672584"/>
            <a:ext cx="2651760" cy="914400"/>
          </a:xfrm>
          <a:prstGeom prst="roundRect">
            <a:avLst>
              <a:gd name="adj" fmla="val 10000"/>
            </a:avLst>
          </a:prstGeom>
          <a:solidFill>
            <a:srgbClr val="F5EDD5"/>
          </a:solidFill>
          <a:ln w="12700">
            <a:solidFill>
              <a:srgbClr val="F5EDD5"/>
            </a:solidFill>
            <a:prstDash val="solid"/>
          </a:ln>
        </p:spPr>
      </p:sp>
      <p:sp>
        <p:nvSpPr>
          <p:cNvPr id="72" name="Shape 70"/>
          <p:cNvSpPr/>
          <p:nvPr/>
        </p:nvSpPr>
        <p:spPr>
          <a:xfrm>
            <a:off x="3499409" y="4809744"/>
            <a:ext cx="384048" cy="384048"/>
          </a:xfrm>
          <a:prstGeom prst="ellipse">
            <a:avLst/>
          </a:prstGeom>
          <a:solidFill>
            <a:srgbClr val="C8A24A"/>
          </a:solidFill>
          <a:ln w="12700">
            <a:solidFill>
              <a:srgbClr val="C8A24A"/>
            </a:solidFill>
            <a:prstDash val="solid"/>
          </a:ln>
        </p:spPr>
      </p:sp>
      <p:sp>
        <p:nvSpPr>
          <p:cNvPr id="73" name="Text 71"/>
          <p:cNvSpPr txBox="1"/>
          <p:nvPr/>
        </p:nvSpPr>
        <p:spPr>
          <a:xfrm>
            <a:off x="3499409" y="48097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14</a:t>
            </a:r>
            <a:endParaRPr lang="en-US" sz="1300" dirty="0"/>
          </a:p>
        </p:txBody>
      </p:sp>
      <p:sp>
        <p:nvSpPr>
          <p:cNvPr id="74" name="Text 72"/>
          <p:cNvSpPr txBox="1"/>
          <p:nvPr/>
        </p:nvSpPr>
        <p:spPr>
          <a:xfrm>
            <a:off x="4002329" y="4745736"/>
            <a:ext cx="1920240" cy="566928"/>
          </a:xfrm>
          <a:prstGeom prst="rect">
            <a:avLst/>
          </a:prstGeom>
          <a:noFill/>
          <a:ln/>
        </p:spPr>
        <p:txBody>
          <a:bodyPr wrap="square" lIns="0" tIns="0" rIns="0" bIns="0" rtlCol="0" anchor="t"/>
          <a:lstStyle/>
          <a:p>
            <a:pPr indent="0" marL="0">
              <a:buNone/>
            </a:pPr>
            <a:r>
              <a:rPr lang="en-US" sz="1200" b="1" dirty="0">
                <a:solidFill>
                  <a:srgbClr val="141413"/>
                </a:solidFill>
                <a:latin typeface="Calibri" pitchFamily="34" charset="0"/>
                <a:ea typeface="Calibri" pitchFamily="34" charset="-122"/>
                <a:cs typeface="Calibri" pitchFamily="34" charset="-120"/>
              </a:rPr>
              <a:t>Context preservation, provenance</a:t>
            </a:r>
            <a:endParaRPr lang="en-US" sz="1200" dirty="0"/>
          </a:p>
        </p:txBody>
      </p:sp>
      <p:sp>
        <p:nvSpPr>
          <p:cNvPr id="75" name="Text 73"/>
          <p:cNvSpPr txBox="1"/>
          <p:nvPr/>
        </p:nvSpPr>
        <p:spPr>
          <a:xfrm>
            <a:off x="4002329" y="5294376"/>
            <a:ext cx="1920240" cy="237744"/>
          </a:xfrm>
          <a:prstGeom prst="rect">
            <a:avLst/>
          </a:prstGeom>
          <a:noFill/>
          <a:ln/>
        </p:spPr>
        <p:txBody>
          <a:bodyPr wrap="square" lIns="0" tIns="0" rIns="0" bIns="0" rtlCol="0" anchor="ctr"/>
          <a:lstStyle/>
          <a:p>
            <a:pPr indent="0" marL="0">
              <a:buNone/>
            </a:pPr>
            <a:r>
              <a:rPr lang="en-US" sz="1100" dirty="0">
                <a:solidFill>
                  <a:srgbClr val="5E5D59"/>
                </a:solidFill>
                <a:latin typeface="Calibri" pitchFamily="34" charset="0"/>
                <a:ea typeface="Calibri" pitchFamily="34" charset="-122"/>
                <a:cs typeface="Calibri" pitchFamily="34" charset="-120"/>
              </a:rPr>
              <a:t>5.1, 5.6</a:t>
            </a:r>
            <a:endParaRPr lang="en-US" sz="1100" dirty="0"/>
          </a:p>
        </p:txBody>
      </p:sp>
      <p:sp>
        <p:nvSpPr>
          <p:cNvPr id="76" name="Shape 74"/>
          <p:cNvSpPr/>
          <p:nvPr/>
        </p:nvSpPr>
        <p:spPr>
          <a:xfrm>
            <a:off x="6175858" y="4672584"/>
            <a:ext cx="2651760" cy="914400"/>
          </a:xfrm>
          <a:prstGeom prst="roundRect">
            <a:avLst>
              <a:gd name="adj" fmla="val 10000"/>
            </a:avLst>
          </a:prstGeom>
          <a:solidFill>
            <a:srgbClr val="F5EDD5"/>
          </a:solidFill>
          <a:ln w="12700">
            <a:solidFill>
              <a:srgbClr val="F5EDD5"/>
            </a:solidFill>
            <a:prstDash val="solid"/>
          </a:ln>
        </p:spPr>
      </p:sp>
      <p:sp>
        <p:nvSpPr>
          <p:cNvPr id="77" name="Shape 75"/>
          <p:cNvSpPr/>
          <p:nvPr/>
        </p:nvSpPr>
        <p:spPr>
          <a:xfrm>
            <a:off x="6313018" y="4809744"/>
            <a:ext cx="384048" cy="384048"/>
          </a:xfrm>
          <a:prstGeom prst="ellipse">
            <a:avLst/>
          </a:prstGeom>
          <a:solidFill>
            <a:srgbClr val="C8A24A"/>
          </a:solidFill>
          <a:ln w="12700">
            <a:solidFill>
              <a:srgbClr val="C8A24A"/>
            </a:solidFill>
            <a:prstDash val="solid"/>
          </a:ln>
        </p:spPr>
      </p:sp>
      <p:sp>
        <p:nvSpPr>
          <p:cNvPr id="78" name="Text 76"/>
          <p:cNvSpPr txBox="1"/>
          <p:nvPr/>
        </p:nvSpPr>
        <p:spPr>
          <a:xfrm>
            <a:off x="6313018" y="48097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15</a:t>
            </a:r>
            <a:endParaRPr lang="en-US" sz="1300" dirty="0"/>
          </a:p>
        </p:txBody>
      </p:sp>
      <p:sp>
        <p:nvSpPr>
          <p:cNvPr id="79" name="Text 77"/>
          <p:cNvSpPr txBox="1"/>
          <p:nvPr/>
        </p:nvSpPr>
        <p:spPr>
          <a:xfrm>
            <a:off x="6815938" y="4745736"/>
            <a:ext cx="1920240" cy="566928"/>
          </a:xfrm>
          <a:prstGeom prst="rect">
            <a:avLst/>
          </a:prstGeom>
          <a:noFill/>
          <a:ln/>
        </p:spPr>
        <p:txBody>
          <a:bodyPr wrap="square" lIns="0" tIns="0" rIns="0" bIns="0" rtlCol="0" anchor="t"/>
          <a:lstStyle/>
          <a:p>
            <a:pPr indent="0" marL="0">
              <a:buNone/>
            </a:pPr>
            <a:r>
              <a:rPr lang="en-US" sz="1200" b="1" dirty="0">
                <a:solidFill>
                  <a:srgbClr val="141413"/>
                </a:solidFill>
                <a:latin typeface="Calibri" pitchFamily="34" charset="0"/>
                <a:ea typeface="Calibri" pitchFamily="34" charset="-122"/>
                <a:cs typeface="Calibri" pitchFamily="34" charset="-120"/>
              </a:rPr>
              <a:t>Human review, calibration, scenario drills</a:t>
            </a:r>
            <a:endParaRPr lang="en-US" sz="1200" dirty="0"/>
          </a:p>
        </p:txBody>
      </p:sp>
      <p:sp>
        <p:nvSpPr>
          <p:cNvPr id="80" name="Text 78"/>
          <p:cNvSpPr txBox="1"/>
          <p:nvPr/>
        </p:nvSpPr>
        <p:spPr>
          <a:xfrm>
            <a:off x="6815938" y="5294376"/>
            <a:ext cx="1920240" cy="237744"/>
          </a:xfrm>
          <a:prstGeom prst="rect">
            <a:avLst/>
          </a:prstGeom>
          <a:noFill/>
          <a:ln/>
        </p:spPr>
        <p:txBody>
          <a:bodyPr wrap="square" lIns="0" tIns="0" rIns="0" bIns="0" rtlCol="0" anchor="ctr"/>
          <a:lstStyle/>
          <a:p>
            <a:pPr indent="0" marL="0">
              <a:buNone/>
            </a:pPr>
            <a:r>
              <a:rPr lang="en-US" sz="1100" dirty="0">
                <a:solidFill>
                  <a:srgbClr val="5E5D59"/>
                </a:solidFill>
                <a:latin typeface="Calibri" pitchFamily="34" charset="0"/>
                <a:ea typeface="Calibri" pitchFamily="34" charset="-122"/>
                <a:cs typeface="Calibri" pitchFamily="34" charset="-120"/>
              </a:rPr>
              <a:t>5.5, cross-domain</a:t>
            </a:r>
            <a:endParaRPr lang="en-US" sz="1100" dirty="0"/>
          </a:p>
        </p:txBody>
      </p:sp>
      <p:sp>
        <p:nvSpPr>
          <p:cNvPr id="81" name="Shape 79"/>
          <p:cNvSpPr/>
          <p:nvPr/>
        </p:nvSpPr>
        <p:spPr>
          <a:xfrm>
            <a:off x="8989466" y="4672584"/>
            <a:ext cx="2651760" cy="914400"/>
          </a:xfrm>
          <a:prstGeom prst="roundRect">
            <a:avLst>
              <a:gd name="adj" fmla="val 10000"/>
            </a:avLst>
          </a:prstGeom>
          <a:solidFill>
            <a:srgbClr val="E8E6DC"/>
          </a:solidFill>
          <a:ln w="12700">
            <a:solidFill>
              <a:srgbClr val="E8E6DC"/>
            </a:solidFill>
            <a:prstDash val="solid"/>
          </a:ln>
        </p:spPr>
      </p:sp>
      <p:sp>
        <p:nvSpPr>
          <p:cNvPr id="82" name="Shape 80"/>
          <p:cNvSpPr/>
          <p:nvPr/>
        </p:nvSpPr>
        <p:spPr>
          <a:xfrm>
            <a:off x="9126626" y="4809744"/>
            <a:ext cx="384048" cy="384048"/>
          </a:xfrm>
          <a:prstGeom prst="ellipse">
            <a:avLst/>
          </a:prstGeom>
          <a:solidFill>
            <a:srgbClr val="141413"/>
          </a:solidFill>
          <a:ln w="12700">
            <a:solidFill>
              <a:srgbClr val="141413"/>
            </a:solidFill>
            <a:prstDash val="solid"/>
          </a:ln>
        </p:spPr>
      </p:sp>
      <p:sp>
        <p:nvSpPr>
          <p:cNvPr id="83" name="Text 81"/>
          <p:cNvSpPr txBox="1"/>
          <p:nvPr/>
        </p:nvSpPr>
        <p:spPr>
          <a:xfrm>
            <a:off x="9126626" y="48097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16</a:t>
            </a:r>
            <a:endParaRPr lang="en-US" sz="1300" dirty="0"/>
          </a:p>
        </p:txBody>
      </p:sp>
      <p:sp>
        <p:nvSpPr>
          <p:cNvPr id="84" name="Text 82"/>
          <p:cNvSpPr txBox="1"/>
          <p:nvPr/>
        </p:nvSpPr>
        <p:spPr>
          <a:xfrm>
            <a:off x="9629546" y="4745736"/>
            <a:ext cx="1920240" cy="566928"/>
          </a:xfrm>
          <a:prstGeom prst="rect">
            <a:avLst/>
          </a:prstGeom>
          <a:noFill/>
          <a:ln/>
        </p:spPr>
        <p:txBody>
          <a:bodyPr wrap="square" lIns="0" tIns="0" rIns="0" bIns="0" rtlCol="0" anchor="t"/>
          <a:lstStyle/>
          <a:p>
            <a:pPr indent="0" marL="0">
              <a:buNone/>
            </a:pPr>
            <a:r>
              <a:rPr lang="en-US" sz="1200" b="1" dirty="0">
                <a:solidFill>
                  <a:srgbClr val="141413"/>
                </a:solidFill>
                <a:latin typeface="Calibri" pitchFamily="34" charset="0"/>
                <a:ea typeface="Calibri" pitchFamily="34" charset="-122"/>
                <a:cs typeface="Calibri" pitchFamily="34" charset="-120"/>
              </a:rPr>
              <a:t>Self-assessment review and capstone</a:t>
            </a:r>
            <a:endParaRPr lang="en-US" sz="1200" dirty="0"/>
          </a:p>
        </p:txBody>
      </p:sp>
      <p:sp>
        <p:nvSpPr>
          <p:cNvPr id="85" name="Text 83"/>
          <p:cNvSpPr txBox="1"/>
          <p:nvPr/>
        </p:nvSpPr>
        <p:spPr>
          <a:xfrm>
            <a:off x="9629546" y="5294376"/>
            <a:ext cx="1920240" cy="237744"/>
          </a:xfrm>
          <a:prstGeom prst="rect">
            <a:avLst/>
          </a:prstGeom>
          <a:noFill/>
          <a:ln/>
        </p:spPr>
        <p:txBody>
          <a:bodyPr wrap="square" lIns="0" tIns="0" rIns="0" bIns="0" rtlCol="0" anchor="ctr"/>
          <a:lstStyle/>
          <a:p>
            <a:pPr indent="0" marL="0">
              <a:buNone/>
            </a:pPr>
            <a:r>
              <a:rPr lang="en-US" sz="1100" dirty="0">
                <a:solidFill>
                  <a:srgbClr val="5E5D59"/>
                </a:solidFill>
                <a:latin typeface="Calibri" pitchFamily="34" charset="0"/>
                <a:ea typeface="Calibri" pitchFamily="34" charset="-122"/>
                <a:cs typeface="Calibri" pitchFamily="34" charset="-120"/>
              </a:rPr>
              <a:t>Weak areas</a:t>
            </a:r>
            <a:endParaRPr lang="en-US" sz="1100" dirty="0"/>
          </a:p>
        </p:txBody>
      </p:sp>
      <p:sp>
        <p:nvSpPr>
          <p:cNvPr id="86" name="Shape 84"/>
          <p:cNvSpPr/>
          <p:nvPr/>
        </p:nvSpPr>
        <p:spPr>
          <a:xfrm>
            <a:off x="548640" y="5870448"/>
            <a:ext cx="146304" cy="146304"/>
          </a:xfrm>
          <a:prstGeom prst="ellipse">
            <a:avLst/>
          </a:prstGeom>
          <a:solidFill>
            <a:srgbClr val="D97757"/>
          </a:solidFill>
          <a:ln w="12700">
            <a:solidFill>
              <a:srgbClr val="D97757"/>
            </a:solidFill>
            <a:prstDash val="solid"/>
          </a:ln>
        </p:spPr>
      </p:sp>
      <p:sp>
        <p:nvSpPr>
          <p:cNvPr id="87" name="Text 85"/>
          <p:cNvSpPr txBox="1"/>
          <p:nvPr/>
        </p:nvSpPr>
        <p:spPr>
          <a:xfrm>
            <a:off x="749808" y="5806440"/>
            <a:ext cx="1920240" cy="274320"/>
          </a:xfrm>
          <a:prstGeom prst="rect">
            <a:avLst/>
          </a:prstGeom>
          <a:noFill/>
          <a:ln/>
        </p:spPr>
        <p:txBody>
          <a:bodyPr wrap="square" lIns="0" tIns="0" rIns="0" bIns="0" rtlCol="0" anchor="ctr"/>
          <a:lstStyle/>
          <a:p>
            <a:pPr indent="0" marL="0">
              <a:buNone/>
            </a:pPr>
            <a:r>
              <a:rPr lang="en-US" sz="1100" dirty="0">
                <a:solidFill>
                  <a:srgbClr val="5E5D59"/>
                </a:solidFill>
                <a:latin typeface="Calibri" pitchFamily="34" charset="0"/>
                <a:ea typeface="Calibri" pitchFamily="34" charset="-122"/>
                <a:cs typeface="Calibri" pitchFamily="34" charset="-120"/>
              </a:rPr>
              <a:t>D1 Agentic Architecture</a:t>
            </a:r>
            <a:endParaRPr lang="en-US" sz="1100" dirty="0"/>
          </a:p>
        </p:txBody>
      </p:sp>
      <p:sp>
        <p:nvSpPr>
          <p:cNvPr id="88" name="Shape 86"/>
          <p:cNvSpPr/>
          <p:nvPr/>
        </p:nvSpPr>
        <p:spPr>
          <a:xfrm>
            <a:off x="2761488" y="5870448"/>
            <a:ext cx="146304" cy="146304"/>
          </a:xfrm>
          <a:prstGeom prst="ellipse">
            <a:avLst/>
          </a:prstGeom>
          <a:solidFill>
            <a:srgbClr val="6A9BCC"/>
          </a:solidFill>
          <a:ln w="12700">
            <a:solidFill>
              <a:srgbClr val="6A9BCC"/>
            </a:solidFill>
            <a:prstDash val="solid"/>
          </a:ln>
        </p:spPr>
      </p:sp>
      <p:sp>
        <p:nvSpPr>
          <p:cNvPr id="89" name="Text 87"/>
          <p:cNvSpPr txBox="1"/>
          <p:nvPr/>
        </p:nvSpPr>
        <p:spPr>
          <a:xfrm>
            <a:off x="2962656" y="5806440"/>
            <a:ext cx="1920240" cy="274320"/>
          </a:xfrm>
          <a:prstGeom prst="rect">
            <a:avLst/>
          </a:prstGeom>
          <a:noFill/>
          <a:ln/>
        </p:spPr>
        <p:txBody>
          <a:bodyPr wrap="square" lIns="0" tIns="0" rIns="0" bIns="0" rtlCol="0" anchor="ctr"/>
          <a:lstStyle/>
          <a:p>
            <a:pPr indent="0" marL="0">
              <a:buNone/>
            </a:pPr>
            <a:r>
              <a:rPr lang="en-US" sz="1100" dirty="0">
                <a:solidFill>
                  <a:srgbClr val="5E5D59"/>
                </a:solidFill>
                <a:latin typeface="Calibri" pitchFamily="34" charset="0"/>
                <a:ea typeface="Calibri" pitchFamily="34" charset="-122"/>
                <a:cs typeface="Calibri" pitchFamily="34" charset="-120"/>
              </a:rPr>
              <a:t>D2 Tool Design &amp; MCP</a:t>
            </a:r>
            <a:endParaRPr lang="en-US" sz="1100" dirty="0"/>
          </a:p>
        </p:txBody>
      </p:sp>
      <p:sp>
        <p:nvSpPr>
          <p:cNvPr id="90" name="Shape 88"/>
          <p:cNvSpPr/>
          <p:nvPr/>
        </p:nvSpPr>
        <p:spPr>
          <a:xfrm>
            <a:off x="4974336" y="5870448"/>
            <a:ext cx="146304" cy="146304"/>
          </a:xfrm>
          <a:prstGeom prst="ellipse">
            <a:avLst/>
          </a:prstGeom>
          <a:solidFill>
            <a:srgbClr val="788C5D"/>
          </a:solidFill>
          <a:ln w="12700">
            <a:solidFill>
              <a:srgbClr val="788C5D"/>
            </a:solidFill>
            <a:prstDash val="solid"/>
          </a:ln>
        </p:spPr>
      </p:sp>
      <p:sp>
        <p:nvSpPr>
          <p:cNvPr id="91" name="Text 89"/>
          <p:cNvSpPr txBox="1"/>
          <p:nvPr/>
        </p:nvSpPr>
        <p:spPr>
          <a:xfrm>
            <a:off x="5175504" y="5806440"/>
            <a:ext cx="1920240" cy="274320"/>
          </a:xfrm>
          <a:prstGeom prst="rect">
            <a:avLst/>
          </a:prstGeom>
          <a:noFill/>
          <a:ln/>
        </p:spPr>
        <p:txBody>
          <a:bodyPr wrap="square" lIns="0" tIns="0" rIns="0" bIns="0" rtlCol="0" anchor="ctr"/>
          <a:lstStyle/>
          <a:p>
            <a:pPr indent="0" marL="0">
              <a:buNone/>
            </a:pPr>
            <a:r>
              <a:rPr lang="en-US" sz="1100" dirty="0">
                <a:solidFill>
                  <a:srgbClr val="5E5D59"/>
                </a:solidFill>
                <a:latin typeface="Calibri" pitchFamily="34" charset="0"/>
                <a:ea typeface="Calibri" pitchFamily="34" charset="-122"/>
                <a:cs typeface="Calibri" pitchFamily="34" charset="-120"/>
              </a:rPr>
              <a:t>D3 Claude Code</a:t>
            </a:r>
            <a:endParaRPr lang="en-US" sz="1100" dirty="0"/>
          </a:p>
        </p:txBody>
      </p:sp>
      <p:sp>
        <p:nvSpPr>
          <p:cNvPr id="92" name="Shape 90"/>
          <p:cNvSpPr/>
          <p:nvPr/>
        </p:nvSpPr>
        <p:spPr>
          <a:xfrm>
            <a:off x="7187184" y="5870448"/>
            <a:ext cx="146304" cy="146304"/>
          </a:xfrm>
          <a:prstGeom prst="ellipse">
            <a:avLst/>
          </a:prstGeom>
          <a:solidFill>
            <a:srgbClr val="8B6FB0"/>
          </a:solidFill>
          <a:ln w="12700">
            <a:solidFill>
              <a:srgbClr val="8B6FB0"/>
            </a:solidFill>
            <a:prstDash val="solid"/>
          </a:ln>
        </p:spPr>
      </p:sp>
      <p:sp>
        <p:nvSpPr>
          <p:cNvPr id="93" name="Text 91"/>
          <p:cNvSpPr txBox="1"/>
          <p:nvPr/>
        </p:nvSpPr>
        <p:spPr>
          <a:xfrm>
            <a:off x="7388352" y="5806440"/>
            <a:ext cx="1920240" cy="274320"/>
          </a:xfrm>
          <a:prstGeom prst="rect">
            <a:avLst/>
          </a:prstGeom>
          <a:noFill/>
          <a:ln/>
        </p:spPr>
        <p:txBody>
          <a:bodyPr wrap="square" lIns="0" tIns="0" rIns="0" bIns="0" rtlCol="0" anchor="ctr"/>
          <a:lstStyle/>
          <a:p>
            <a:pPr indent="0" marL="0">
              <a:buNone/>
            </a:pPr>
            <a:r>
              <a:rPr lang="en-US" sz="1100" dirty="0">
                <a:solidFill>
                  <a:srgbClr val="5E5D59"/>
                </a:solidFill>
                <a:latin typeface="Calibri" pitchFamily="34" charset="0"/>
                <a:ea typeface="Calibri" pitchFamily="34" charset="-122"/>
                <a:cs typeface="Calibri" pitchFamily="34" charset="-120"/>
              </a:rPr>
              <a:t>D4 Prompt Engineering</a:t>
            </a:r>
            <a:endParaRPr lang="en-US" sz="1100" dirty="0"/>
          </a:p>
        </p:txBody>
      </p:sp>
      <p:sp>
        <p:nvSpPr>
          <p:cNvPr id="94" name="Shape 92"/>
          <p:cNvSpPr/>
          <p:nvPr/>
        </p:nvSpPr>
        <p:spPr>
          <a:xfrm>
            <a:off x="9400032" y="5870448"/>
            <a:ext cx="146304" cy="146304"/>
          </a:xfrm>
          <a:prstGeom prst="ellipse">
            <a:avLst/>
          </a:prstGeom>
          <a:solidFill>
            <a:srgbClr val="C8A24A"/>
          </a:solidFill>
          <a:ln w="12700">
            <a:solidFill>
              <a:srgbClr val="C8A24A"/>
            </a:solidFill>
            <a:prstDash val="solid"/>
          </a:ln>
        </p:spPr>
      </p:sp>
      <p:sp>
        <p:nvSpPr>
          <p:cNvPr id="95" name="Text 93"/>
          <p:cNvSpPr txBox="1"/>
          <p:nvPr/>
        </p:nvSpPr>
        <p:spPr>
          <a:xfrm>
            <a:off x="9601200" y="5806440"/>
            <a:ext cx="1920240" cy="274320"/>
          </a:xfrm>
          <a:prstGeom prst="rect">
            <a:avLst/>
          </a:prstGeom>
          <a:noFill/>
          <a:ln/>
        </p:spPr>
        <p:txBody>
          <a:bodyPr wrap="square" lIns="0" tIns="0" rIns="0" bIns="0" rtlCol="0" anchor="ctr"/>
          <a:lstStyle/>
          <a:p>
            <a:pPr indent="0" marL="0">
              <a:buNone/>
            </a:pPr>
            <a:r>
              <a:rPr lang="en-US" sz="1100" dirty="0">
                <a:solidFill>
                  <a:srgbClr val="5E5D59"/>
                </a:solidFill>
                <a:latin typeface="Calibri" pitchFamily="34" charset="0"/>
                <a:ea typeface="Calibri" pitchFamily="34" charset="-122"/>
                <a:cs typeface="Calibri" pitchFamily="34" charset="-120"/>
              </a:rPr>
              <a:t>D5 Context &amp; Reliability</a:t>
            </a:r>
            <a:endParaRPr lang="en-US" sz="1100" dirty="0"/>
          </a:p>
        </p:txBody>
      </p:sp>
      <p:sp>
        <p:nvSpPr>
          <p:cNvPr id="96" name="Text 94"/>
          <p:cNvSpPr txBox="1"/>
          <p:nvPr/>
        </p:nvSpPr>
        <p:spPr>
          <a:xfrm>
            <a:off x="548640" y="6108192"/>
            <a:ext cx="11064240" cy="274320"/>
          </a:xfrm>
          <a:prstGeom prst="rect">
            <a:avLst/>
          </a:prstGeom>
          <a:noFill/>
          <a:ln/>
        </p:spPr>
        <p:txBody>
          <a:bodyPr wrap="square" lIns="0" tIns="0" rIns="0" bIns="0" rtlCol="0" anchor="ctr"/>
          <a:lstStyle/>
          <a:p>
            <a:pPr indent="0" marL="0">
              <a:buNone/>
            </a:pPr>
            <a:r>
              <a:rPr lang="en-US" sz="1100" dirty="0">
                <a:solidFill>
                  <a:srgbClr val="5E5D59"/>
                </a:solidFill>
                <a:latin typeface="Calibri" pitchFamily="34" charset="0"/>
                <a:ea typeface="Calibri" pitchFamily="34" charset="-122"/>
                <a:cs typeface="Calibri" pitchFamily="34" charset="-120"/>
              </a:rPr>
              <a:t>Exercises: Ex1 agent with escalation (S2 to 6)  ·  Ex2 Claude Code team workflow (S7 to 9)  ·  Ex3 extraction pipeline (S12 to 15)  ·  Ex4 multi-agent research (S5, S14)</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548640" y="365760"/>
            <a:ext cx="8686800" cy="274320"/>
          </a:xfrm>
          <a:prstGeom prst="rect">
            <a:avLst/>
          </a:prstGeom>
          <a:noFill/>
          <a:ln/>
        </p:spPr>
        <p:txBody>
          <a:bodyPr wrap="square" lIns="0" tIns="0" rIns="0" bIns="0"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THE SIX SCENARIOS</a:t>
            </a:r>
            <a:endParaRPr lang="en-US" sz="1200" dirty="0"/>
          </a:p>
        </p:txBody>
      </p:sp>
      <p:sp>
        <p:nvSpPr>
          <p:cNvPr id="3" name="Text 1"/>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200" dirty="0">
                <a:solidFill>
                  <a:srgbClr val="141413"/>
                </a:solidFill>
                <a:latin typeface="Cambria" pitchFamily="34" charset="0"/>
                <a:ea typeface="Cambria" pitchFamily="34" charset="-122"/>
                <a:cs typeface="Cambria" pitchFamily="34" charset="-120"/>
              </a:rPr>
              <a:t>Four of these six appear on the exam</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87867F"/>
                </a:solidFill>
                <a:latin typeface="Calibri" pitchFamily="34" charset="0"/>
                <a:ea typeface="Calibri" pitchFamily="34" charset="-122"/>
                <a:cs typeface="Calibri" pitchFamily="34" charset="-120"/>
              </a:rPr>
              <a:t>CCAR-F Skills Curriculum  ·  Session 1  ·  6</a:t>
            </a:r>
            <a:endParaRPr lang="en-US" sz="1000" dirty="0"/>
          </a:p>
        </p:txBody>
      </p:sp>
      <p:sp>
        <p:nvSpPr>
          <p:cNvPr id="5" name="Text 3"/>
          <p:cNvSpPr txBox="1"/>
          <p:nvPr/>
        </p:nvSpPr>
        <p:spPr>
          <a:xfrm>
            <a:off x="8869680" y="365760"/>
            <a:ext cx="2770632" cy="274320"/>
          </a:xfrm>
          <a:prstGeom prst="rect">
            <a:avLst/>
          </a:prstGeom>
          <a:noFill/>
          <a:ln/>
        </p:spPr>
        <p:txBody>
          <a:bodyPr wrap="square" lIns="0" tIns="0" rIns="0" bIns="0" rtlCol="0" anchor="ctr"/>
          <a:lstStyle/>
          <a:p>
            <a:pPr algn="r" indent="0" marL="0">
              <a:buNone/>
            </a:pPr>
            <a:r>
              <a:rPr lang="en-US" sz="1100" dirty="0">
                <a:solidFill>
                  <a:srgbClr val="87867F"/>
                </a:solidFill>
                <a:latin typeface="Calibri" pitchFamily="34" charset="0"/>
                <a:ea typeface="Calibri" pitchFamily="34" charset="-122"/>
                <a:cs typeface="Calibri" pitchFamily="34" charset="-120"/>
              </a:rPr>
              <a:t>7–13 min</a:t>
            </a:r>
            <a:endParaRPr lang="en-US" sz="1100" dirty="0"/>
          </a:p>
        </p:txBody>
      </p:sp>
      <p:sp>
        <p:nvSpPr>
          <p:cNvPr id="6" name="Shape 4"/>
          <p:cNvSpPr/>
          <p:nvPr/>
        </p:nvSpPr>
        <p:spPr>
          <a:xfrm>
            <a:off x="548640" y="1600200"/>
            <a:ext cx="3566160" cy="2148840"/>
          </a:xfrm>
          <a:prstGeom prst="roundRect">
            <a:avLst>
              <a:gd name="adj" fmla="val 5106"/>
            </a:avLst>
          </a:prstGeom>
          <a:solidFill>
            <a:srgbClr val="FFFFFF"/>
          </a:solidFill>
          <a:ln w="9525">
            <a:solidFill>
              <a:srgbClr val="E8E6DC"/>
            </a:solidFill>
            <a:prstDash val="solid"/>
          </a:ln>
        </p:spPr>
      </p:sp>
      <p:sp>
        <p:nvSpPr>
          <p:cNvPr id="7" name="Text 5"/>
          <p:cNvSpPr txBox="1"/>
          <p:nvPr/>
        </p:nvSpPr>
        <p:spPr>
          <a:xfrm>
            <a:off x="777240" y="1764792"/>
            <a:ext cx="457200" cy="457200"/>
          </a:xfrm>
          <a:prstGeom prst="rect">
            <a:avLst/>
          </a:prstGeom>
          <a:noFill/>
          <a:ln/>
        </p:spPr>
        <p:txBody>
          <a:bodyPr wrap="square" lIns="0" tIns="0" rIns="0" bIns="0" rtlCol="0" anchor="ctr"/>
          <a:lstStyle/>
          <a:p>
            <a:pPr indent="0" marL="0">
              <a:buNone/>
            </a:pPr>
            <a:r>
              <a:rPr lang="en-US" sz="3000" dirty="0">
                <a:solidFill>
                  <a:srgbClr val="D97757"/>
                </a:solidFill>
                <a:latin typeface="Cambria" pitchFamily="34" charset="0"/>
                <a:ea typeface="Cambria" pitchFamily="34" charset="-122"/>
                <a:cs typeface="Cambria" pitchFamily="34" charset="-120"/>
              </a:rPr>
              <a:t>1</a:t>
            </a:r>
            <a:endParaRPr lang="en-US" sz="3000" dirty="0"/>
          </a:p>
        </p:txBody>
      </p:sp>
      <p:sp>
        <p:nvSpPr>
          <p:cNvPr id="8" name="Text 6"/>
          <p:cNvSpPr txBox="1"/>
          <p:nvPr/>
        </p:nvSpPr>
        <p:spPr>
          <a:xfrm>
            <a:off x="1280160" y="1783080"/>
            <a:ext cx="2651760" cy="548640"/>
          </a:xfrm>
          <a:prstGeom prst="rect">
            <a:avLst/>
          </a:prstGeom>
          <a:noFill/>
          <a:ln/>
        </p:spPr>
        <p:txBody>
          <a:bodyPr wrap="square" lIns="0" tIns="0" rIns="0" bIns="0" rtlCol="0" anchor="t"/>
          <a:lstStyle/>
          <a:p>
            <a:pPr indent="0" marL="0">
              <a:buNone/>
            </a:pPr>
            <a:r>
              <a:rPr lang="en-US" sz="1600" dirty="0">
                <a:solidFill>
                  <a:srgbClr val="141413"/>
                </a:solidFill>
                <a:latin typeface="Cambria" pitchFamily="34" charset="0"/>
                <a:ea typeface="Cambria" pitchFamily="34" charset="-122"/>
                <a:cs typeface="Cambria" pitchFamily="34" charset="-120"/>
              </a:rPr>
              <a:t>Customer Support Resolution Agent</a:t>
            </a:r>
            <a:endParaRPr lang="en-US" sz="1600" dirty="0"/>
          </a:p>
        </p:txBody>
      </p:sp>
      <p:sp>
        <p:nvSpPr>
          <p:cNvPr id="9" name="Text 7"/>
          <p:cNvSpPr txBox="1"/>
          <p:nvPr/>
        </p:nvSpPr>
        <p:spPr>
          <a:xfrm>
            <a:off x="777240" y="2468880"/>
            <a:ext cx="3108960" cy="777240"/>
          </a:xfrm>
          <a:prstGeom prst="rect">
            <a:avLst/>
          </a:prstGeom>
          <a:noFill/>
          <a:ln/>
        </p:spPr>
        <p:txBody>
          <a:bodyPr wrap="square" lIns="0" tIns="0" rIns="0" bIns="0" rtlCol="0" anchor="t"/>
          <a:lstStyle/>
          <a:p>
            <a:pPr indent="0" marL="0">
              <a:buNone/>
            </a:pPr>
            <a:r>
              <a:rPr lang="en-US" sz="1250" dirty="0">
                <a:solidFill>
                  <a:srgbClr val="5E5D59"/>
                </a:solidFill>
                <a:latin typeface="Calibri" pitchFamily="34" charset="0"/>
                <a:ea typeface="Calibri" pitchFamily="34" charset="-122"/>
                <a:cs typeface="Calibri" pitchFamily="34" charset="-120"/>
              </a:rPr>
              <a:t>Handles high-ambiguity requests such as returns, billing disputes and account issues through backend MCP tools.</a:t>
            </a:r>
            <a:endParaRPr lang="en-US" sz="1250" dirty="0"/>
          </a:p>
        </p:txBody>
      </p:sp>
      <p:sp>
        <p:nvSpPr>
          <p:cNvPr id="10" name="Shape 8"/>
          <p:cNvSpPr/>
          <p:nvPr/>
        </p:nvSpPr>
        <p:spPr>
          <a:xfrm>
            <a:off x="777240" y="3291840"/>
            <a:ext cx="566928" cy="274320"/>
          </a:xfrm>
          <a:prstGeom prst="roundRect">
            <a:avLst>
              <a:gd name="adj" fmla="val 50000"/>
            </a:avLst>
          </a:prstGeom>
          <a:solidFill>
            <a:srgbClr val="D97757"/>
          </a:solidFill>
          <a:ln w="12700">
            <a:solidFill>
              <a:srgbClr val="D97757"/>
            </a:solidFill>
            <a:prstDash val="solid"/>
          </a:ln>
        </p:spPr>
      </p:sp>
      <p:sp>
        <p:nvSpPr>
          <p:cNvPr id="11" name="Text 9"/>
          <p:cNvSpPr txBox="1"/>
          <p:nvPr/>
        </p:nvSpPr>
        <p:spPr>
          <a:xfrm>
            <a:off x="777240" y="3291840"/>
            <a:ext cx="56692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D1</a:t>
            </a:r>
            <a:endParaRPr lang="en-US" sz="1100" dirty="0"/>
          </a:p>
        </p:txBody>
      </p:sp>
      <p:sp>
        <p:nvSpPr>
          <p:cNvPr id="12" name="Shape 10"/>
          <p:cNvSpPr/>
          <p:nvPr/>
        </p:nvSpPr>
        <p:spPr>
          <a:xfrm>
            <a:off x="1435608" y="3291840"/>
            <a:ext cx="566928" cy="274320"/>
          </a:xfrm>
          <a:prstGeom prst="roundRect">
            <a:avLst>
              <a:gd name="adj" fmla="val 50000"/>
            </a:avLst>
          </a:prstGeom>
          <a:solidFill>
            <a:srgbClr val="6A9BCC"/>
          </a:solidFill>
          <a:ln w="12700">
            <a:solidFill>
              <a:srgbClr val="6A9BCC"/>
            </a:solidFill>
            <a:prstDash val="solid"/>
          </a:ln>
        </p:spPr>
      </p:sp>
      <p:sp>
        <p:nvSpPr>
          <p:cNvPr id="13" name="Text 11"/>
          <p:cNvSpPr txBox="1"/>
          <p:nvPr/>
        </p:nvSpPr>
        <p:spPr>
          <a:xfrm>
            <a:off x="1435608" y="3291840"/>
            <a:ext cx="56692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D2</a:t>
            </a:r>
            <a:endParaRPr lang="en-US" sz="1100" dirty="0"/>
          </a:p>
        </p:txBody>
      </p:sp>
      <p:sp>
        <p:nvSpPr>
          <p:cNvPr id="14" name="Shape 12"/>
          <p:cNvSpPr/>
          <p:nvPr/>
        </p:nvSpPr>
        <p:spPr>
          <a:xfrm>
            <a:off x="2093976" y="3291840"/>
            <a:ext cx="566928" cy="274320"/>
          </a:xfrm>
          <a:prstGeom prst="roundRect">
            <a:avLst>
              <a:gd name="adj" fmla="val 50000"/>
            </a:avLst>
          </a:prstGeom>
          <a:solidFill>
            <a:srgbClr val="C8A24A"/>
          </a:solidFill>
          <a:ln w="12700">
            <a:solidFill>
              <a:srgbClr val="C8A24A"/>
            </a:solidFill>
            <a:prstDash val="solid"/>
          </a:ln>
        </p:spPr>
      </p:sp>
      <p:sp>
        <p:nvSpPr>
          <p:cNvPr id="15" name="Text 13"/>
          <p:cNvSpPr txBox="1"/>
          <p:nvPr/>
        </p:nvSpPr>
        <p:spPr>
          <a:xfrm>
            <a:off x="2093976" y="3291840"/>
            <a:ext cx="56692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D5</a:t>
            </a:r>
            <a:endParaRPr lang="en-US" sz="1100" dirty="0"/>
          </a:p>
        </p:txBody>
      </p:sp>
      <p:sp>
        <p:nvSpPr>
          <p:cNvPr id="16" name="Shape 14"/>
          <p:cNvSpPr/>
          <p:nvPr/>
        </p:nvSpPr>
        <p:spPr>
          <a:xfrm>
            <a:off x="4311396" y="1600200"/>
            <a:ext cx="3566160" cy="2148840"/>
          </a:xfrm>
          <a:prstGeom prst="roundRect">
            <a:avLst>
              <a:gd name="adj" fmla="val 5106"/>
            </a:avLst>
          </a:prstGeom>
          <a:solidFill>
            <a:srgbClr val="FFFFFF"/>
          </a:solidFill>
          <a:ln w="9525">
            <a:solidFill>
              <a:srgbClr val="E8E6DC"/>
            </a:solidFill>
            <a:prstDash val="solid"/>
          </a:ln>
        </p:spPr>
      </p:sp>
      <p:sp>
        <p:nvSpPr>
          <p:cNvPr id="17" name="Text 15"/>
          <p:cNvSpPr txBox="1"/>
          <p:nvPr/>
        </p:nvSpPr>
        <p:spPr>
          <a:xfrm>
            <a:off x="4539996" y="1764792"/>
            <a:ext cx="457200" cy="457200"/>
          </a:xfrm>
          <a:prstGeom prst="rect">
            <a:avLst/>
          </a:prstGeom>
          <a:noFill/>
          <a:ln/>
        </p:spPr>
        <p:txBody>
          <a:bodyPr wrap="square" lIns="0" tIns="0" rIns="0" bIns="0" rtlCol="0" anchor="ctr"/>
          <a:lstStyle/>
          <a:p>
            <a:pPr indent="0" marL="0">
              <a:buNone/>
            </a:pPr>
            <a:r>
              <a:rPr lang="en-US" sz="3000" dirty="0">
                <a:solidFill>
                  <a:srgbClr val="D97757"/>
                </a:solidFill>
                <a:latin typeface="Cambria" pitchFamily="34" charset="0"/>
                <a:ea typeface="Cambria" pitchFamily="34" charset="-122"/>
                <a:cs typeface="Cambria" pitchFamily="34" charset="-120"/>
              </a:rPr>
              <a:t>2</a:t>
            </a:r>
            <a:endParaRPr lang="en-US" sz="3000" dirty="0"/>
          </a:p>
        </p:txBody>
      </p:sp>
      <p:sp>
        <p:nvSpPr>
          <p:cNvPr id="18" name="Text 16"/>
          <p:cNvSpPr txBox="1"/>
          <p:nvPr/>
        </p:nvSpPr>
        <p:spPr>
          <a:xfrm>
            <a:off x="5042916" y="1783080"/>
            <a:ext cx="2651760" cy="548640"/>
          </a:xfrm>
          <a:prstGeom prst="rect">
            <a:avLst/>
          </a:prstGeom>
          <a:noFill/>
          <a:ln/>
        </p:spPr>
        <p:txBody>
          <a:bodyPr wrap="square" lIns="0" tIns="0" rIns="0" bIns="0" rtlCol="0" anchor="t"/>
          <a:lstStyle/>
          <a:p>
            <a:pPr indent="0" marL="0">
              <a:buNone/>
            </a:pPr>
            <a:r>
              <a:rPr lang="en-US" sz="1600" dirty="0">
                <a:solidFill>
                  <a:srgbClr val="141413"/>
                </a:solidFill>
                <a:latin typeface="Cambria" pitchFamily="34" charset="0"/>
                <a:ea typeface="Cambria" pitchFamily="34" charset="-122"/>
                <a:cs typeface="Cambria" pitchFamily="34" charset="-120"/>
              </a:rPr>
              <a:t>Code Generation with Claude Code</a:t>
            </a:r>
            <a:endParaRPr lang="en-US" sz="1600" dirty="0"/>
          </a:p>
        </p:txBody>
      </p:sp>
      <p:sp>
        <p:nvSpPr>
          <p:cNvPr id="19" name="Text 17"/>
          <p:cNvSpPr txBox="1"/>
          <p:nvPr/>
        </p:nvSpPr>
        <p:spPr>
          <a:xfrm>
            <a:off x="4539996" y="2468880"/>
            <a:ext cx="3108960" cy="777240"/>
          </a:xfrm>
          <a:prstGeom prst="rect">
            <a:avLst/>
          </a:prstGeom>
          <a:noFill/>
          <a:ln/>
        </p:spPr>
        <p:txBody>
          <a:bodyPr wrap="square" lIns="0" tIns="0" rIns="0" bIns="0" rtlCol="0" anchor="t"/>
          <a:lstStyle/>
          <a:p>
            <a:pPr indent="0" marL="0">
              <a:buNone/>
            </a:pPr>
            <a:r>
              <a:rPr lang="en-US" sz="1250" dirty="0">
                <a:solidFill>
                  <a:srgbClr val="5E5D59"/>
                </a:solidFill>
                <a:latin typeface="Calibri" pitchFamily="34" charset="0"/>
                <a:ea typeface="Calibri" pitchFamily="34" charset="-122"/>
                <a:cs typeface="Calibri" pitchFamily="34" charset="-120"/>
              </a:rPr>
              <a:t>A team uses Claude Code for code generation, refactoring, debugging and documentation, with custom configuration.</a:t>
            </a:r>
            <a:endParaRPr lang="en-US" sz="1250" dirty="0"/>
          </a:p>
        </p:txBody>
      </p:sp>
      <p:sp>
        <p:nvSpPr>
          <p:cNvPr id="20" name="Shape 18"/>
          <p:cNvSpPr/>
          <p:nvPr/>
        </p:nvSpPr>
        <p:spPr>
          <a:xfrm>
            <a:off x="4539996" y="3291840"/>
            <a:ext cx="566928" cy="274320"/>
          </a:xfrm>
          <a:prstGeom prst="roundRect">
            <a:avLst>
              <a:gd name="adj" fmla="val 50000"/>
            </a:avLst>
          </a:prstGeom>
          <a:solidFill>
            <a:srgbClr val="788C5D"/>
          </a:solidFill>
          <a:ln w="12700">
            <a:solidFill>
              <a:srgbClr val="788C5D"/>
            </a:solidFill>
            <a:prstDash val="solid"/>
          </a:ln>
        </p:spPr>
      </p:sp>
      <p:sp>
        <p:nvSpPr>
          <p:cNvPr id="21" name="Text 19"/>
          <p:cNvSpPr txBox="1"/>
          <p:nvPr/>
        </p:nvSpPr>
        <p:spPr>
          <a:xfrm>
            <a:off x="4539996" y="3291840"/>
            <a:ext cx="56692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D3</a:t>
            </a:r>
            <a:endParaRPr lang="en-US" sz="1100" dirty="0"/>
          </a:p>
        </p:txBody>
      </p:sp>
      <p:sp>
        <p:nvSpPr>
          <p:cNvPr id="22" name="Shape 20"/>
          <p:cNvSpPr/>
          <p:nvPr/>
        </p:nvSpPr>
        <p:spPr>
          <a:xfrm>
            <a:off x="5198364" y="3291840"/>
            <a:ext cx="566928" cy="274320"/>
          </a:xfrm>
          <a:prstGeom prst="roundRect">
            <a:avLst>
              <a:gd name="adj" fmla="val 50000"/>
            </a:avLst>
          </a:prstGeom>
          <a:solidFill>
            <a:srgbClr val="C8A24A"/>
          </a:solidFill>
          <a:ln w="12700">
            <a:solidFill>
              <a:srgbClr val="C8A24A"/>
            </a:solidFill>
            <a:prstDash val="solid"/>
          </a:ln>
        </p:spPr>
      </p:sp>
      <p:sp>
        <p:nvSpPr>
          <p:cNvPr id="23" name="Text 21"/>
          <p:cNvSpPr txBox="1"/>
          <p:nvPr/>
        </p:nvSpPr>
        <p:spPr>
          <a:xfrm>
            <a:off x="5198364" y="3291840"/>
            <a:ext cx="56692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D5</a:t>
            </a:r>
            <a:endParaRPr lang="en-US" sz="1100" dirty="0"/>
          </a:p>
        </p:txBody>
      </p:sp>
      <p:sp>
        <p:nvSpPr>
          <p:cNvPr id="24" name="Shape 22"/>
          <p:cNvSpPr/>
          <p:nvPr/>
        </p:nvSpPr>
        <p:spPr>
          <a:xfrm>
            <a:off x="8074152" y="1600200"/>
            <a:ext cx="3566160" cy="2148840"/>
          </a:xfrm>
          <a:prstGeom prst="roundRect">
            <a:avLst>
              <a:gd name="adj" fmla="val 5106"/>
            </a:avLst>
          </a:prstGeom>
          <a:solidFill>
            <a:srgbClr val="FFFFFF"/>
          </a:solidFill>
          <a:ln w="9525">
            <a:solidFill>
              <a:srgbClr val="E8E6DC"/>
            </a:solidFill>
            <a:prstDash val="solid"/>
          </a:ln>
        </p:spPr>
      </p:sp>
      <p:sp>
        <p:nvSpPr>
          <p:cNvPr id="25" name="Text 23"/>
          <p:cNvSpPr txBox="1"/>
          <p:nvPr/>
        </p:nvSpPr>
        <p:spPr>
          <a:xfrm>
            <a:off x="8302752" y="1764792"/>
            <a:ext cx="457200" cy="457200"/>
          </a:xfrm>
          <a:prstGeom prst="rect">
            <a:avLst/>
          </a:prstGeom>
          <a:noFill/>
          <a:ln/>
        </p:spPr>
        <p:txBody>
          <a:bodyPr wrap="square" lIns="0" tIns="0" rIns="0" bIns="0" rtlCol="0" anchor="ctr"/>
          <a:lstStyle/>
          <a:p>
            <a:pPr indent="0" marL="0">
              <a:buNone/>
            </a:pPr>
            <a:r>
              <a:rPr lang="en-US" sz="3000" dirty="0">
                <a:solidFill>
                  <a:srgbClr val="D97757"/>
                </a:solidFill>
                <a:latin typeface="Cambria" pitchFamily="34" charset="0"/>
                <a:ea typeface="Cambria" pitchFamily="34" charset="-122"/>
                <a:cs typeface="Cambria" pitchFamily="34" charset="-120"/>
              </a:rPr>
              <a:t>3</a:t>
            </a:r>
            <a:endParaRPr lang="en-US" sz="3000" dirty="0"/>
          </a:p>
        </p:txBody>
      </p:sp>
      <p:sp>
        <p:nvSpPr>
          <p:cNvPr id="26" name="Text 24"/>
          <p:cNvSpPr txBox="1"/>
          <p:nvPr/>
        </p:nvSpPr>
        <p:spPr>
          <a:xfrm>
            <a:off x="8805672" y="1783080"/>
            <a:ext cx="2651760" cy="548640"/>
          </a:xfrm>
          <a:prstGeom prst="rect">
            <a:avLst/>
          </a:prstGeom>
          <a:noFill/>
          <a:ln/>
        </p:spPr>
        <p:txBody>
          <a:bodyPr wrap="square" lIns="0" tIns="0" rIns="0" bIns="0" rtlCol="0" anchor="t"/>
          <a:lstStyle/>
          <a:p>
            <a:pPr indent="0" marL="0">
              <a:buNone/>
            </a:pPr>
            <a:r>
              <a:rPr lang="en-US" sz="1600" dirty="0">
                <a:solidFill>
                  <a:srgbClr val="141413"/>
                </a:solidFill>
                <a:latin typeface="Cambria" pitchFamily="34" charset="0"/>
                <a:ea typeface="Cambria" pitchFamily="34" charset="-122"/>
                <a:cs typeface="Cambria" pitchFamily="34" charset="-120"/>
              </a:rPr>
              <a:t>Multi-Agent Research System</a:t>
            </a:r>
            <a:endParaRPr lang="en-US" sz="1600" dirty="0"/>
          </a:p>
        </p:txBody>
      </p:sp>
      <p:sp>
        <p:nvSpPr>
          <p:cNvPr id="27" name="Text 25"/>
          <p:cNvSpPr txBox="1"/>
          <p:nvPr/>
        </p:nvSpPr>
        <p:spPr>
          <a:xfrm>
            <a:off x="8302752" y="2468880"/>
            <a:ext cx="3108960" cy="777240"/>
          </a:xfrm>
          <a:prstGeom prst="rect">
            <a:avLst/>
          </a:prstGeom>
          <a:noFill/>
          <a:ln/>
        </p:spPr>
        <p:txBody>
          <a:bodyPr wrap="square" lIns="0" tIns="0" rIns="0" bIns="0" rtlCol="0" anchor="t"/>
          <a:lstStyle/>
          <a:p>
            <a:pPr indent="0" marL="0">
              <a:buNone/>
            </a:pPr>
            <a:r>
              <a:rPr lang="en-US" sz="1250" dirty="0">
                <a:solidFill>
                  <a:srgbClr val="5E5D59"/>
                </a:solidFill>
                <a:latin typeface="Calibri" pitchFamily="34" charset="0"/>
                <a:ea typeface="Calibri" pitchFamily="34" charset="-122"/>
                <a:cs typeface="Calibri" pitchFamily="34" charset="-120"/>
              </a:rPr>
              <a:t>A coordinator delegates to specialized subagents: one searches the web, one analyzes documents, one synthesizes.</a:t>
            </a:r>
            <a:endParaRPr lang="en-US" sz="1250" dirty="0"/>
          </a:p>
        </p:txBody>
      </p:sp>
      <p:sp>
        <p:nvSpPr>
          <p:cNvPr id="28" name="Shape 26"/>
          <p:cNvSpPr/>
          <p:nvPr/>
        </p:nvSpPr>
        <p:spPr>
          <a:xfrm>
            <a:off x="8302752" y="3291840"/>
            <a:ext cx="566928" cy="274320"/>
          </a:xfrm>
          <a:prstGeom prst="roundRect">
            <a:avLst>
              <a:gd name="adj" fmla="val 50000"/>
            </a:avLst>
          </a:prstGeom>
          <a:solidFill>
            <a:srgbClr val="D97757"/>
          </a:solidFill>
          <a:ln w="12700">
            <a:solidFill>
              <a:srgbClr val="D97757"/>
            </a:solidFill>
            <a:prstDash val="solid"/>
          </a:ln>
        </p:spPr>
      </p:sp>
      <p:sp>
        <p:nvSpPr>
          <p:cNvPr id="29" name="Text 27"/>
          <p:cNvSpPr txBox="1"/>
          <p:nvPr/>
        </p:nvSpPr>
        <p:spPr>
          <a:xfrm>
            <a:off x="8302752" y="3291840"/>
            <a:ext cx="56692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D1</a:t>
            </a:r>
            <a:endParaRPr lang="en-US" sz="1100" dirty="0"/>
          </a:p>
        </p:txBody>
      </p:sp>
      <p:sp>
        <p:nvSpPr>
          <p:cNvPr id="30" name="Shape 28"/>
          <p:cNvSpPr/>
          <p:nvPr/>
        </p:nvSpPr>
        <p:spPr>
          <a:xfrm>
            <a:off x="8961120" y="3291840"/>
            <a:ext cx="566928" cy="274320"/>
          </a:xfrm>
          <a:prstGeom prst="roundRect">
            <a:avLst>
              <a:gd name="adj" fmla="val 50000"/>
            </a:avLst>
          </a:prstGeom>
          <a:solidFill>
            <a:srgbClr val="6A9BCC"/>
          </a:solidFill>
          <a:ln w="12700">
            <a:solidFill>
              <a:srgbClr val="6A9BCC"/>
            </a:solidFill>
            <a:prstDash val="solid"/>
          </a:ln>
        </p:spPr>
      </p:sp>
      <p:sp>
        <p:nvSpPr>
          <p:cNvPr id="31" name="Text 29"/>
          <p:cNvSpPr txBox="1"/>
          <p:nvPr/>
        </p:nvSpPr>
        <p:spPr>
          <a:xfrm>
            <a:off x="8961120" y="3291840"/>
            <a:ext cx="56692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D2</a:t>
            </a:r>
            <a:endParaRPr lang="en-US" sz="1100" dirty="0"/>
          </a:p>
        </p:txBody>
      </p:sp>
      <p:sp>
        <p:nvSpPr>
          <p:cNvPr id="32" name="Shape 30"/>
          <p:cNvSpPr/>
          <p:nvPr/>
        </p:nvSpPr>
        <p:spPr>
          <a:xfrm>
            <a:off x="9619488" y="3291840"/>
            <a:ext cx="566928" cy="274320"/>
          </a:xfrm>
          <a:prstGeom prst="roundRect">
            <a:avLst>
              <a:gd name="adj" fmla="val 50000"/>
            </a:avLst>
          </a:prstGeom>
          <a:solidFill>
            <a:srgbClr val="C8A24A"/>
          </a:solidFill>
          <a:ln w="12700">
            <a:solidFill>
              <a:srgbClr val="C8A24A"/>
            </a:solidFill>
            <a:prstDash val="solid"/>
          </a:ln>
        </p:spPr>
      </p:sp>
      <p:sp>
        <p:nvSpPr>
          <p:cNvPr id="33" name="Text 31"/>
          <p:cNvSpPr txBox="1"/>
          <p:nvPr/>
        </p:nvSpPr>
        <p:spPr>
          <a:xfrm>
            <a:off x="9619488" y="3291840"/>
            <a:ext cx="56692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D5</a:t>
            </a:r>
            <a:endParaRPr lang="en-US" sz="1100" dirty="0"/>
          </a:p>
        </p:txBody>
      </p:sp>
      <p:sp>
        <p:nvSpPr>
          <p:cNvPr id="34" name="Shape 32"/>
          <p:cNvSpPr/>
          <p:nvPr/>
        </p:nvSpPr>
        <p:spPr>
          <a:xfrm>
            <a:off x="548640" y="3950208"/>
            <a:ext cx="3566160" cy="2148840"/>
          </a:xfrm>
          <a:prstGeom prst="roundRect">
            <a:avLst>
              <a:gd name="adj" fmla="val 5106"/>
            </a:avLst>
          </a:prstGeom>
          <a:solidFill>
            <a:srgbClr val="FFFFFF"/>
          </a:solidFill>
          <a:ln w="9525">
            <a:solidFill>
              <a:srgbClr val="E8E6DC"/>
            </a:solidFill>
            <a:prstDash val="solid"/>
          </a:ln>
        </p:spPr>
      </p:sp>
      <p:sp>
        <p:nvSpPr>
          <p:cNvPr id="35" name="Text 33"/>
          <p:cNvSpPr txBox="1"/>
          <p:nvPr/>
        </p:nvSpPr>
        <p:spPr>
          <a:xfrm>
            <a:off x="777240" y="4114800"/>
            <a:ext cx="457200" cy="457200"/>
          </a:xfrm>
          <a:prstGeom prst="rect">
            <a:avLst/>
          </a:prstGeom>
          <a:noFill/>
          <a:ln/>
        </p:spPr>
        <p:txBody>
          <a:bodyPr wrap="square" lIns="0" tIns="0" rIns="0" bIns="0" rtlCol="0" anchor="ctr"/>
          <a:lstStyle/>
          <a:p>
            <a:pPr indent="0" marL="0">
              <a:buNone/>
            </a:pPr>
            <a:r>
              <a:rPr lang="en-US" sz="3000" dirty="0">
                <a:solidFill>
                  <a:srgbClr val="D97757"/>
                </a:solidFill>
                <a:latin typeface="Cambria" pitchFamily="34" charset="0"/>
                <a:ea typeface="Cambria" pitchFamily="34" charset="-122"/>
                <a:cs typeface="Cambria" pitchFamily="34" charset="-120"/>
              </a:rPr>
              <a:t>4</a:t>
            </a:r>
            <a:endParaRPr lang="en-US" sz="3000" dirty="0"/>
          </a:p>
        </p:txBody>
      </p:sp>
      <p:sp>
        <p:nvSpPr>
          <p:cNvPr id="36" name="Text 34"/>
          <p:cNvSpPr txBox="1"/>
          <p:nvPr/>
        </p:nvSpPr>
        <p:spPr>
          <a:xfrm>
            <a:off x="1280160" y="4133088"/>
            <a:ext cx="2651760" cy="548640"/>
          </a:xfrm>
          <a:prstGeom prst="rect">
            <a:avLst/>
          </a:prstGeom>
          <a:noFill/>
          <a:ln/>
        </p:spPr>
        <p:txBody>
          <a:bodyPr wrap="square" lIns="0" tIns="0" rIns="0" bIns="0" rtlCol="0" anchor="t"/>
          <a:lstStyle/>
          <a:p>
            <a:pPr indent="0" marL="0">
              <a:buNone/>
            </a:pPr>
            <a:r>
              <a:rPr lang="en-US" sz="1600" dirty="0">
                <a:solidFill>
                  <a:srgbClr val="141413"/>
                </a:solidFill>
                <a:latin typeface="Cambria" pitchFamily="34" charset="0"/>
                <a:ea typeface="Cambria" pitchFamily="34" charset="-122"/>
                <a:cs typeface="Cambria" pitchFamily="34" charset="-120"/>
              </a:rPr>
              <a:t>Developer Productivity with Claude</a:t>
            </a:r>
            <a:endParaRPr lang="en-US" sz="1600" dirty="0"/>
          </a:p>
        </p:txBody>
      </p:sp>
      <p:sp>
        <p:nvSpPr>
          <p:cNvPr id="37" name="Text 35"/>
          <p:cNvSpPr txBox="1"/>
          <p:nvPr/>
        </p:nvSpPr>
        <p:spPr>
          <a:xfrm>
            <a:off x="777240" y="4818888"/>
            <a:ext cx="3108960" cy="777240"/>
          </a:xfrm>
          <a:prstGeom prst="rect">
            <a:avLst/>
          </a:prstGeom>
          <a:noFill/>
          <a:ln/>
        </p:spPr>
        <p:txBody>
          <a:bodyPr wrap="square" lIns="0" tIns="0" rIns="0" bIns="0" rtlCol="0" anchor="t"/>
          <a:lstStyle/>
          <a:p>
            <a:pPr indent="0" marL="0">
              <a:buNone/>
            </a:pPr>
            <a:r>
              <a:rPr lang="en-US" sz="1250" dirty="0">
                <a:solidFill>
                  <a:srgbClr val="5E5D59"/>
                </a:solidFill>
                <a:latin typeface="Calibri" pitchFamily="34" charset="0"/>
                <a:ea typeface="Calibri" pitchFamily="34" charset="-122"/>
                <a:cs typeface="Calibri" pitchFamily="34" charset="-120"/>
              </a:rPr>
              <a:t>An agent helps engineers explore unfamiliar codebases, understand legacy systems and generate boilerplate.</a:t>
            </a:r>
            <a:endParaRPr lang="en-US" sz="1250" dirty="0"/>
          </a:p>
        </p:txBody>
      </p:sp>
      <p:sp>
        <p:nvSpPr>
          <p:cNvPr id="38" name="Shape 36"/>
          <p:cNvSpPr/>
          <p:nvPr/>
        </p:nvSpPr>
        <p:spPr>
          <a:xfrm>
            <a:off x="777240" y="5641848"/>
            <a:ext cx="566928" cy="274320"/>
          </a:xfrm>
          <a:prstGeom prst="roundRect">
            <a:avLst>
              <a:gd name="adj" fmla="val 50000"/>
            </a:avLst>
          </a:prstGeom>
          <a:solidFill>
            <a:srgbClr val="6A9BCC"/>
          </a:solidFill>
          <a:ln w="12700">
            <a:solidFill>
              <a:srgbClr val="6A9BCC"/>
            </a:solidFill>
            <a:prstDash val="solid"/>
          </a:ln>
        </p:spPr>
      </p:sp>
      <p:sp>
        <p:nvSpPr>
          <p:cNvPr id="39" name="Text 37"/>
          <p:cNvSpPr txBox="1"/>
          <p:nvPr/>
        </p:nvSpPr>
        <p:spPr>
          <a:xfrm>
            <a:off x="777240" y="5641848"/>
            <a:ext cx="56692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D2</a:t>
            </a:r>
            <a:endParaRPr lang="en-US" sz="1100" dirty="0"/>
          </a:p>
        </p:txBody>
      </p:sp>
      <p:sp>
        <p:nvSpPr>
          <p:cNvPr id="40" name="Shape 38"/>
          <p:cNvSpPr/>
          <p:nvPr/>
        </p:nvSpPr>
        <p:spPr>
          <a:xfrm>
            <a:off x="1435608" y="5641848"/>
            <a:ext cx="566928" cy="274320"/>
          </a:xfrm>
          <a:prstGeom prst="roundRect">
            <a:avLst>
              <a:gd name="adj" fmla="val 50000"/>
            </a:avLst>
          </a:prstGeom>
          <a:solidFill>
            <a:srgbClr val="788C5D"/>
          </a:solidFill>
          <a:ln w="12700">
            <a:solidFill>
              <a:srgbClr val="788C5D"/>
            </a:solidFill>
            <a:prstDash val="solid"/>
          </a:ln>
        </p:spPr>
      </p:sp>
      <p:sp>
        <p:nvSpPr>
          <p:cNvPr id="41" name="Text 39"/>
          <p:cNvSpPr txBox="1"/>
          <p:nvPr/>
        </p:nvSpPr>
        <p:spPr>
          <a:xfrm>
            <a:off x="1435608" y="5641848"/>
            <a:ext cx="56692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D3</a:t>
            </a:r>
            <a:endParaRPr lang="en-US" sz="1100" dirty="0"/>
          </a:p>
        </p:txBody>
      </p:sp>
      <p:sp>
        <p:nvSpPr>
          <p:cNvPr id="42" name="Shape 40"/>
          <p:cNvSpPr/>
          <p:nvPr/>
        </p:nvSpPr>
        <p:spPr>
          <a:xfrm>
            <a:off x="2093976" y="5641848"/>
            <a:ext cx="566928" cy="274320"/>
          </a:xfrm>
          <a:prstGeom prst="roundRect">
            <a:avLst>
              <a:gd name="adj" fmla="val 50000"/>
            </a:avLst>
          </a:prstGeom>
          <a:solidFill>
            <a:srgbClr val="D97757"/>
          </a:solidFill>
          <a:ln w="12700">
            <a:solidFill>
              <a:srgbClr val="D97757"/>
            </a:solidFill>
            <a:prstDash val="solid"/>
          </a:ln>
        </p:spPr>
      </p:sp>
      <p:sp>
        <p:nvSpPr>
          <p:cNvPr id="43" name="Text 41"/>
          <p:cNvSpPr txBox="1"/>
          <p:nvPr/>
        </p:nvSpPr>
        <p:spPr>
          <a:xfrm>
            <a:off x="2093976" y="5641848"/>
            <a:ext cx="56692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D1</a:t>
            </a:r>
            <a:endParaRPr lang="en-US" sz="1100" dirty="0"/>
          </a:p>
        </p:txBody>
      </p:sp>
      <p:sp>
        <p:nvSpPr>
          <p:cNvPr id="44" name="Shape 42"/>
          <p:cNvSpPr/>
          <p:nvPr/>
        </p:nvSpPr>
        <p:spPr>
          <a:xfrm>
            <a:off x="4311396" y="3950208"/>
            <a:ext cx="3566160" cy="2148840"/>
          </a:xfrm>
          <a:prstGeom prst="roundRect">
            <a:avLst>
              <a:gd name="adj" fmla="val 5106"/>
            </a:avLst>
          </a:prstGeom>
          <a:solidFill>
            <a:srgbClr val="FFFFFF"/>
          </a:solidFill>
          <a:ln w="9525">
            <a:solidFill>
              <a:srgbClr val="E8E6DC"/>
            </a:solidFill>
            <a:prstDash val="solid"/>
          </a:ln>
        </p:spPr>
      </p:sp>
      <p:sp>
        <p:nvSpPr>
          <p:cNvPr id="45" name="Text 43"/>
          <p:cNvSpPr txBox="1"/>
          <p:nvPr/>
        </p:nvSpPr>
        <p:spPr>
          <a:xfrm>
            <a:off x="4539996" y="4114800"/>
            <a:ext cx="457200" cy="457200"/>
          </a:xfrm>
          <a:prstGeom prst="rect">
            <a:avLst/>
          </a:prstGeom>
          <a:noFill/>
          <a:ln/>
        </p:spPr>
        <p:txBody>
          <a:bodyPr wrap="square" lIns="0" tIns="0" rIns="0" bIns="0" rtlCol="0" anchor="ctr"/>
          <a:lstStyle/>
          <a:p>
            <a:pPr indent="0" marL="0">
              <a:buNone/>
            </a:pPr>
            <a:r>
              <a:rPr lang="en-US" sz="3000" dirty="0">
                <a:solidFill>
                  <a:srgbClr val="D97757"/>
                </a:solidFill>
                <a:latin typeface="Cambria" pitchFamily="34" charset="0"/>
                <a:ea typeface="Cambria" pitchFamily="34" charset="-122"/>
                <a:cs typeface="Cambria" pitchFamily="34" charset="-120"/>
              </a:rPr>
              <a:t>5</a:t>
            </a:r>
            <a:endParaRPr lang="en-US" sz="3000" dirty="0"/>
          </a:p>
        </p:txBody>
      </p:sp>
      <p:sp>
        <p:nvSpPr>
          <p:cNvPr id="46" name="Text 44"/>
          <p:cNvSpPr txBox="1"/>
          <p:nvPr/>
        </p:nvSpPr>
        <p:spPr>
          <a:xfrm>
            <a:off x="5042916" y="4133088"/>
            <a:ext cx="2651760" cy="548640"/>
          </a:xfrm>
          <a:prstGeom prst="rect">
            <a:avLst/>
          </a:prstGeom>
          <a:noFill/>
          <a:ln/>
        </p:spPr>
        <p:txBody>
          <a:bodyPr wrap="square" lIns="0" tIns="0" rIns="0" bIns="0" rtlCol="0" anchor="t"/>
          <a:lstStyle/>
          <a:p>
            <a:pPr indent="0" marL="0">
              <a:buNone/>
            </a:pPr>
            <a:r>
              <a:rPr lang="en-US" sz="1600" dirty="0">
                <a:solidFill>
                  <a:srgbClr val="141413"/>
                </a:solidFill>
                <a:latin typeface="Cambria" pitchFamily="34" charset="0"/>
                <a:ea typeface="Cambria" pitchFamily="34" charset="-122"/>
                <a:cs typeface="Cambria" pitchFamily="34" charset="-120"/>
              </a:rPr>
              <a:t>Claude Code for Continuous Integration</a:t>
            </a:r>
            <a:endParaRPr lang="en-US" sz="1600" dirty="0"/>
          </a:p>
        </p:txBody>
      </p:sp>
      <p:sp>
        <p:nvSpPr>
          <p:cNvPr id="47" name="Text 45"/>
          <p:cNvSpPr txBox="1"/>
          <p:nvPr/>
        </p:nvSpPr>
        <p:spPr>
          <a:xfrm>
            <a:off x="4539996" y="4818888"/>
            <a:ext cx="3108960" cy="777240"/>
          </a:xfrm>
          <a:prstGeom prst="rect">
            <a:avLst/>
          </a:prstGeom>
          <a:noFill/>
          <a:ln/>
        </p:spPr>
        <p:txBody>
          <a:bodyPr wrap="square" lIns="0" tIns="0" rIns="0" bIns="0" rtlCol="0" anchor="t"/>
          <a:lstStyle/>
          <a:p>
            <a:pPr indent="0" marL="0">
              <a:buNone/>
            </a:pPr>
            <a:r>
              <a:rPr lang="en-US" sz="1250" dirty="0">
                <a:solidFill>
                  <a:srgbClr val="5E5D59"/>
                </a:solidFill>
                <a:latin typeface="Calibri" pitchFamily="34" charset="0"/>
                <a:ea typeface="Calibri" pitchFamily="34" charset="-122"/>
                <a:cs typeface="Calibri" pitchFamily="34" charset="-120"/>
              </a:rPr>
              <a:t>Automated code review, test generation and feedback on pull requests inside CI.</a:t>
            </a:r>
            <a:endParaRPr lang="en-US" sz="1250" dirty="0"/>
          </a:p>
        </p:txBody>
      </p:sp>
      <p:sp>
        <p:nvSpPr>
          <p:cNvPr id="48" name="Shape 46"/>
          <p:cNvSpPr/>
          <p:nvPr/>
        </p:nvSpPr>
        <p:spPr>
          <a:xfrm>
            <a:off x="4539996" y="5641848"/>
            <a:ext cx="566928" cy="274320"/>
          </a:xfrm>
          <a:prstGeom prst="roundRect">
            <a:avLst>
              <a:gd name="adj" fmla="val 50000"/>
            </a:avLst>
          </a:prstGeom>
          <a:solidFill>
            <a:srgbClr val="788C5D"/>
          </a:solidFill>
          <a:ln w="12700">
            <a:solidFill>
              <a:srgbClr val="788C5D"/>
            </a:solidFill>
            <a:prstDash val="solid"/>
          </a:ln>
        </p:spPr>
      </p:sp>
      <p:sp>
        <p:nvSpPr>
          <p:cNvPr id="49" name="Text 47"/>
          <p:cNvSpPr txBox="1"/>
          <p:nvPr/>
        </p:nvSpPr>
        <p:spPr>
          <a:xfrm>
            <a:off x="4539996" y="5641848"/>
            <a:ext cx="56692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D3</a:t>
            </a:r>
            <a:endParaRPr lang="en-US" sz="1100" dirty="0"/>
          </a:p>
        </p:txBody>
      </p:sp>
      <p:sp>
        <p:nvSpPr>
          <p:cNvPr id="50" name="Shape 48"/>
          <p:cNvSpPr/>
          <p:nvPr/>
        </p:nvSpPr>
        <p:spPr>
          <a:xfrm>
            <a:off x="5198364" y="5641848"/>
            <a:ext cx="566928" cy="274320"/>
          </a:xfrm>
          <a:prstGeom prst="roundRect">
            <a:avLst>
              <a:gd name="adj" fmla="val 50000"/>
            </a:avLst>
          </a:prstGeom>
          <a:solidFill>
            <a:srgbClr val="8B6FB0"/>
          </a:solidFill>
          <a:ln w="12700">
            <a:solidFill>
              <a:srgbClr val="8B6FB0"/>
            </a:solidFill>
            <a:prstDash val="solid"/>
          </a:ln>
        </p:spPr>
      </p:sp>
      <p:sp>
        <p:nvSpPr>
          <p:cNvPr id="51" name="Text 49"/>
          <p:cNvSpPr txBox="1"/>
          <p:nvPr/>
        </p:nvSpPr>
        <p:spPr>
          <a:xfrm>
            <a:off x="5198364" y="5641848"/>
            <a:ext cx="56692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D4</a:t>
            </a:r>
            <a:endParaRPr lang="en-US" sz="1100" dirty="0"/>
          </a:p>
        </p:txBody>
      </p:sp>
      <p:sp>
        <p:nvSpPr>
          <p:cNvPr id="52" name="Shape 50"/>
          <p:cNvSpPr/>
          <p:nvPr/>
        </p:nvSpPr>
        <p:spPr>
          <a:xfrm>
            <a:off x="8074152" y="3950208"/>
            <a:ext cx="3566160" cy="2148840"/>
          </a:xfrm>
          <a:prstGeom prst="roundRect">
            <a:avLst>
              <a:gd name="adj" fmla="val 5106"/>
            </a:avLst>
          </a:prstGeom>
          <a:solidFill>
            <a:srgbClr val="FFFFFF"/>
          </a:solidFill>
          <a:ln w="9525">
            <a:solidFill>
              <a:srgbClr val="E8E6DC"/>
            </a:solidFill>
            <a:prstDash val="solid"/>
          </a:ln>
        </p:spPr>
      </p:sp>
      <p:sp>
        <p:nvSpPr>
          <p:cNvPr id="53" name="Text 51"/>
          <p:cNvSpPr txBox="1"/>
          <p:nvPr/>
        </p:nvSpPr>
        <p:spPr>
          <a:xfrm>
            <a:off x="8302752" y="4114800"/>
            <a:ext cx="457200" cy="457200"/>
          </a:xfrm>
          <a:prstGeom prst="rect">
            <a:avLst/>
          </a:prstGeom>
          <a:noFill/>
          <a:ln/>
        </p:spPr>
        <p:txBody>
          <a:bodyPr wrap="square" lIns="0" tIns="0" rIns="0" bIns="0" rtlCol="0" anchor="ctr"/>
          <a:lstStyle/>
          <a:p>
            <a:pPr indent="0" marL="0">
              <a:buNone/>
            </a:pPr>
            <a:r>
              <a:rPr lang="en-US" sz="3000" dirty="0">
                <a:solidFill>
                  <a:srgbClr val="D97757"/>
                </a:solidFill>
                <a:latin typeface="Cambria" pitchFamily="34" charset="0"/>
                <a:ea typeface="Cambria" pitchFamily="34" charset="-122"/>
                <a:cs typeface="Cambria" pitchFamily="34" charset="-120"/>
              </a:rPr>
              <a:t>6</a:t>
            </a:r>
            <a:endParaRPr lang="en-US" sz="3000" dirty="0"/>
          </a:p>
        </p:txBody>
      </p:sp>
      <p:sp>
        <p:nvSpPr>
          <p:cNvPr id="54" name="Text 52"/>
          <p:cNvSpPr txBox="1"/>
          <p:nvPr/>
        </p:nvSpPr>
        <p:spPr>
          <a:xfrm>
            <a:off x="8805672" y="4133088"/>
            <a:ext cx="2651760" cy="548640"/>
          </a:xfrm>
          <a:prstGeom prst="rect">
            <a:avLst/>
          </a:prstGeom>
          <a:noFill/>
          <a:ln/>
        </p:spPr>
        <p:txBody>
          <a:bodyPr wrap="square" lIns="0" tIns="0" rIns="0" bIns="0" rtlCol="0" anchor="t"/>
          <a:lstStyle/>
          <a:p>
            <a:pPr indent="0" marL="0">
              <a:buNone/>
            </a:pPr>
            <a:r>
              <a:rPr lang="en-US" sz="1600" dirty="0">
                <a:solidFill>
                  <a:srgbClr val="141413"/>
                </a:solidFill>
                <a:latin typeface="Cambria" pitchFamily="34" charset="0"/>
                <a:ea typeface="Cambria" pitchFamily="34" charset="-122"/>
                <a:cs typeface="Cambria" pitchFamily="34" charset="-120"/>
              </a:rPr>
              <a:t>Structured Data Extraction</a:t>
            </a:r>
            <a:endParaRPr lang="en-US" sz="1600" dirty="0"/>
          </a:p>
        </p:txBody>
      </p:sp>
      <p:sp>
        <p:nvSpPr>
          <p:cNvPr id="55" name="Text 53"/>
          <p:cNvSpPr txBox="1"/>
          <p:nvPr/>
        </p:nvSpPr>
        <p:spPr>
          <a:xfrm>
            <a:off x="8302752" y="4818888"/>
            <a:ext cx="3108960" cy="777240"/>
          </a:xfrm>
          <a:prstGeom prst="rect">
            <a:avLst/>
          </a:prstGeom>
          <a:noFill/>
          <a:ln/>
        </p:spPr>
        <p:txBody>
          <a:bodyPr wrap="square" lIns="0" tIns="0" rIns="0" bIns="0" rtlCol="0" anchor="t"/>
          <a:lstStyle/>
          <a:p>
            <a:pPr indent="0" marL="0">
              <a:buNone/>
            </a:pPr>
            <a:r>
              <a:rPr lang="en-US" sz="1250" dirty="0">
                <a:solidFill>
                  <a:srgbClr val="5E5D59"/>
                </a:solidFill>
                <a:latin typeface="Calibri" pitchFamily="34" charset="0"/>
                <a:ea typeface="Calibri" pitchFamily="34" charset="-122"/>
                <a:cs typeface="Calibri" pitchFamily="34" charset="-120"/>
              </a:rPr>
              <a:t>Extracts information from unstructured documents and validates the output against JSON schemas.</a:t>
            </a:r>
            <a:endParaRPr lang="en-US" sz="1250" dirty="0"/>
          </a:p>
        </p:txBody>
      </p:sp>
      <p:sp>
        <p:nvSpPr>
          <p:cNvPr id="56" name="Shape 54"/>
          <p:cNvSpPr/>
          <p:nvPr/>
        </p:nvSpPr>
        <p:spPr>
          <a:xfrm>
            <a:off x="8302752" y="5641848"/>
            <a:ext cx="566928" cy="274320"/>
          </a:xfrm>
          <a:prstGeom prst="roundRect">
            <a:avLst>
              <a:gd name="adj" fmla="val 50000"/>
            </a:avLst>
          </a:prstGeom>
          <a:solidFill>
            <a:srgbClr val="8B6FB0"/>
          </a:solidFill>
          <a:ln w="12700">
            <a:solidFill>
              <a:srgbClr val="8B6FB0"/>
            </a:solidFill>
            <a:prstDash val="solid"/>
          </a:ln>
        </p:spPr>
      </p:sp>
      <p:sp>
        <p:nvSpPr>
          <p:cNvPr id="57" name="Text 55"/>
          <p:cNvSpPr txBox="1"/>
          <p:nvPr/>
        </p:nvSpPr>
        <p:spPr>
          <a:xfrm>
            <a:off x="8302752" y="5641848"/>
            <a:ext cx="56692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D4</a:t>
            </a:r>
            <a:endParaRPr lang="en-US" sz="1100" dirty="0"/>
          </a:p>
        </p:txBody>
      </p:sp>
      <p:sp>
        <p:nvSpPr>
          <p:cNvPr id="58" name="Shape 56"/>
          <p:cNvSpPr/>
          <p:nvPr/>
        </p:nvSpPr>
        <p:spPr>
          <a:xfrm>
            <a:off x="8961120" y="5641848"/>
            <a:ext cx="566928" cy="274320"/>
          </a:xfrm>
          <a:prstGeom prst="roundRect">
            <a:avLst>
              <a:gd name="adj" fmla="val 50000"/>
            </a:avLst>
          </a:prstGeom>
          <a:solidFill>
            <a:srgbClr val="C8A24A"/>
          </a:solidFill>
          <a:ln w="12700">
            <a:solidFill>
              <a:srgbClr val="C8A24A"/>
            </a:solidFill>
            <a:prstDash val="solid"/>
          </a:ln>
        </p:spPr>
      </p:sp>
      <p:sp>
        <p:nvSpPr>
          <p:cNvPr id="59" name="Text 57"/>
          <p:cNvSpPr txBox="1"/>
          <p:nvPr/>
        </p:nvSpPr>
        <p:spPr>
          <a:xfrm>
            <a:off x="8961120" y="5641848"/>
            <a:ext cx="56692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D5</a:t>
            </a:r>
            <a:endParaRPr lang="en-US" sz="1100" dirty="0"/>
          </a:p>
        </p:txBody>
      </p:sp>
      <p:sp>
        <p:nvSpPr>
          <p:cNvPr id="60" name="Text 58"/>
          <p:cNvSpPr txBox="1"/>
          <p:nvPr/>
        </p:nvSpPr>
        <p:spPr>
          <a:xfrm>
            <a:off x="548640" y="6126480"/>
            <a:ext cx="11064240" cy="274320"/>
          </a:xfrm>
          <a:prstGeom prst="rect">
            <a:avLst/>
          </a:prstGeom>
          <a:noFill/>
          <a:ln/>
        </p:spPr>
        <p:txBody>
          <a:bodyPr wrap="square" lIns="0" tIns="0" rIns="0" bIns="0" rtlCol="0" anchor="ctr"/>
          <a:lstStyle/>
          <a:p>
            <a:pPr indent="0" marL="0">
              <a:buNone/>
            </a:pPr>
            <a:r>
              <a:rPr lang="en-US" sz="1200" i="1" dirty="0">
                <a:solidFill>
                  <a:srgbClr val="87867F"/>
                </a:solidFill>
                <a:latin typeface="Calibri" pitchFamily="34" charset="0"/>
                <a:ea typeface="Calibri" pitchFamily="34" charset="-122"/>
                <a:cs typeface="Calibri" pitchFamily="34" charset="-120"/>
              </a:rPr>
              <a:t>Scenarios are drawn at random from the bank of 6, so prepare for all of them. Domain chips list each scenario's primary domains.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548640" y="365760"/>
            <a:ext cx="8686800" cy="274320"/>
          </a:xfrm>
          <a:prstGeom prst="rect">
            <a:avLst/>
          </a:prstGeom>
          <a:noFill/>
          <a:ln/>
        </p:spPr>
        <p:txBody>
          <a:bodyPr wrap="square" lIns="0" tIns="0" rIns="0" bIns="0"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SCOPE DISCIPLINE</a:t>
            </a:r>
            <a:endParaRPr lang="en-US" sz="1200" dirty="0"/>
          </a:p>
        </p:txBody>
      </p:sp>
      <p:sp>
        <p:nvSpPr>
          <p:cNvPr id="3" name="Text 1"/>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200" dirty="0">
                <a:solidFill>
                  <a:srgbClr val="141413"/>
                </a:solidFill>
                <a:latin typeface="Cambria" pitchFamily="34" charset="0"/>
                <a:ea typeface="Cambria" pitchFamily="34" charset="-122"/>
                <a:cs typeface="Cambria" pitchFamily="34" charset="-120"/>
              </a:rPr>
              <a:t>What is out of scope, and what to skip</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87867F"/>
                </a:solidFill>
                <a:latin typeface="Calibri" pitchFamily="34" charset="0"/>
                <a:ea typeface="Calibri" pitchFamily="34" charset="-122"/>
                <a:cs typeface="Calibri" pitchFamily="34" charset="-120"/>
              </a:rPr>
              <a:t>CCAR-F Skills Curriculum  ·  Session 1  ·  7</a:t>
            </a:r>
            <a:endParaRPr lang="en-US" sz="1000" dirty="0"/>
          </a:p>
        </p:txBody>
      </p:sp>
      <p:sp>
        <p:nvSpPr>
          <p:cNvPr id="5" name="Text 3"/>
          <p:cNvSpPr txBox="1"/>
          <p:nvPr/>
        </p:nvSpPr>
        <p:spPr>
          <a:xfrm>
            <a:off x="8869680" y="365760"/>
            <a:ext cx="2770632" cy="274320"/>
          </a:xfrm>
          <a:prstGeom prst="rect">
            <a:avLst/>
          </a:prstGeom>
          <a:noFill/>
          <a:ln/>
        </p:spPr>
        <p:txBody>
          <a:bodyPr wrap="square" lIns="0" tIns="0" rIns="0" bIns="0" rtlCol="0" anchor="ctr"/>
          <a:lstStyle/>
          <a:p>
            <a:pPr algn="r" indent="0" marL="0">
              <a:buNone/>
            </a:pPr>
            <a:r>
              <a:rPr lang="en-US" sz="1100" dirty="0">
                <a:solidFill>
                  <a:srgbClr val="87867F"/>
                </a:solidFill>
                <a:latin typeface="Calibri" pitchFamily="34" charset="0"/>
                <a:ea typeface="Calibri" pitchFamily="34" charset="-122"/>
                <a:cs typeface="Calibri" pitchFamily="34" charset="-120"/>
              </a:rPr>
              <a:t>13–15 min</a:t>
            </a:r>
            <a:endParaRPr lang="en-US" sz="1100" dirty="0"/>
          </a:p>
        </p:txBody>
      </p:sp>
      <p:sp>
        <p:nvSpPr>
          <p:cNvPr id="6" name="Shape 4"/>
          <p:cNvSpPr/>
          <p:nvPr/>
        </p:nvSpPr>
        <p:spPr>
          <a:xfrm>
            <a:off x="548640" y="1600200"/>
            <a:ext cx="5943600" cy="4434840"/>
          </a:xfrm>
          <a:prstGeom prst="roundRect">
            <a:avLst>
              <a:gd name="adj" fmla="val 2474"/>
            </a:avLst>
          </a:prstGeom>
          <a:solidFill>
            <a:srgbClr val="FFFFFF"/>
          </a:solidFill>
          <a:ln w="9525">
            <a:solidFill>
              <a:srgbClr val="E8E6DC"/>
            </a:solidFill>
            <a:prstDash val="solid"/>
          </a:ln>
        </p:spPr>
      </p:sp>
      <p:pic>
        <p:nvPicPr>
          <p:cNvPr id="7" name="Image 0" descr="preencoded.png">    </p:cNvPr>
          <p:cNvPicPr>
            <a:picLocks noChangeAspect="1"/>
          </p:cNvPicPr>
          <p:nvPr/>
        </p:nvPicPr>
        <p:blipFill>
          <a:blip r:embed="rId1"/>
          <a:stretch>
            <a:fillRect/>
          </a:stretch>
        </p:blipFill>
        <p:spPr>
          <a:xfrm>
            <a:off x="822960" y="1828800"/>
            <a:ext cx="365760" cy="365760"/>
          </a:xfrm>
          <a:prstGeom prst="rect">
            <a:avLst/>
          </a:prstGeom>
        </p:spPr>
      </p:pic>
      <p:sp>
        <p:nvSpPr>
          <p:cNvPr id="8" name="Text 5"/>
          <p:cNvSpPr txBox="1"/>
          <p:nvPr/>
        </p:nvSpPr>
        <p:spPr>
          <a:xfrm>
            <a:off x="1325880" y="1828800"/>
            <a:ext cx="4937760" cy="365760"/>
          </a:xfrm>
          <a:prstGeom prst="rect">
            <a:avLst/>
          </a:prstGeom>
          <a:noFill/>
          <a:ln/>
        </p:spPr>
        <p:txBody>
          <a:bodyPr wrap="square" lIns="0" tIns="0" rIns="0" bIns="0" rtlCol="0" anchor="ctr"/>
          <a:lstStyle/>
          <a:p>
            <a:pPr indent="0" marL="0">
              <a:buNone/>
            </a:pPr>
            <a:r>
              <a:rPr lang="en-US" sz="1800" dirty="0">
                <a:solidFill>
                  <a:srgbClr val="141413"/>
                </a:solidFill>
                <a:latin typeface="Cambria" pitchFamily="34" charset="0"/>
                <a:ea typeface="Cambria" pitchFamily="34" charset="-122"/>
                <a:cs typeface="Cambria" pitchFamily="34" charset="-120"/>
              </a:rPr>
              <a:t>Out of scope in the exam guide</a:t>
            </a:r>
            <a:endParaRPr lang="en-US" sz="1800" dirty="0"/>
          </a:p>
        </p:txBody>
      </p:sp>
      <p:sp>
        <p:nvSpPr>
          <p:cNvPr id="9" name="Text 6"/>
          <p:cNvSpPr txBox="1"/>
          <p:nvPr/>
        </p:nvSpPr>
        <p:spPr>
          <a:xfrm>
            <a:off x="822960" y="2377440"/>
            <a:ext cx="5486400" cy="35661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41413"/>
                </a:solidFill>
                <a:latin typeface="Calibri" pitchFamily="34" charset="0"/>
                <a:ea typeface="Calibri" pitchFamily="34" charset="-122"/>
                <a:cs typeface="Calibri" pitchFamily="34" charset="-120"/>
              </a:rPr>
              <a:t>Fine-tuning or training models; Claude's internals</a:t>
            </a:r>
            <a:endParaRPr lang="en-US" sz="1400" dirty="0"/>
          </a:p>
          <a:p>
            <a:pPr marL="177800" indent="-177800">
              <a:spcAft>
                <a:spcPts val="600"/>
              </a:spcAft>
              <a:buSzPct val="100000"/>
              <a:buChar char="•"/>
            </a:pPr>
            <a:r>
              <a:rPr lang="en-US" sz="1400" dirty="0">
                <a:solidFill>
                  <a:srgbClr val="141413"/>
                </a:solidFill>
                <a:latin typeface="Calibri" pitchFamily="34" charset="0"/>
                <a:ea typeface="Calibri" pitchFamily="34" charset="-122"/>
                <a:cs typeface="Calibri" pitchFamily="34" charset="-120"/>
              </a:rPr>
              <a:t>API authentication, billing, rate limits and pricing math</a:t>
            </a:r>
            <a:endParaRPr lang="en-US" sz="1400" dirty="0"/>
          </a:p>
          <a:p>
            <a:pPr marL="177800" indent="-177800">
              <a:spcAft>
                <a:spcPts val="600"/>
              </a:spcAft>
              <a:buSzPct val="100000"/>
              <a:buChar char="•"/>
            </a:pPr>
            <a:r>
              <a:rPr lang="en-US" sz="1400" dirty="0">
                <a:solidFill>
                  <a:srgbClr val="141413"/>
                </a:solidFill>
                <a:latin typeface="Calibri" pitchFamily="34" charset="0"/>
                <a:ea typeface="Calibri" pitchFamily="34" charset="-122"/>
                <a:cs typeface="Calibri" pitchFamily="34" charset="-120"/>
              </a:rPr>
              <a:t>Deploying or hosting MCP servers</a:t>
            </a:r>
            <a:endParaRPr lang="en-US" sz="1400" dirty="0"/>
          </a:p>
          <a:p>
            <a:pPr marL="177800" indent="-177800">
              <a:spcAft>
                <a:spcPts val="600"/>
              </a:spcAft>
              <a:buSzPct val="100000"/>
              <a:buChar char="•"/>
            </a:pPr>
            <a:r>
              <a:rPr lang="en-US" sz="1400" dirty="0">
                <a:solidFill>
                  <a:srgbClr val="141413"/>
                </a:solidFill>
                <a:latin typeface="Calibri" pitchFamily="34" charset="0"/>
                <a:ea typeface="Calibri" pitchFamily="34" charset="-122"/>
                <a:cs typeface="Calibri" pitchFamily="34" charset="-120"/>
              </a:rPr>
              <a:t>Embeddings and vector database details</a:t>
            </a:r>
            <a:endParaRPr lang="en-US" sz="1400" dirty="0"/>
          </a:p>
          <a:p>
            <a:pPr marL="177800" indent="-177800">
              <a:spcAft>
                <a:spcPts val="600"/>
              </a:spcAft>
              <a:buSzPct val="100000"/>
              <a:buChar char="•"/>
            </a:pPr>
            <a:r>
              <a:rPr lang="en-US" sz="1400" dirty="0">
                <a:solidFill>
                  <a:srgbClr val="141413"/>
                </a:solidFill>
                <a:latin typeface="Calibri" pitchFamily="34" charset="0"/>
                <a:ea typeface="Calibri" pitchFamily="34" charset="-122"/>
                <a:cs typeface="Calibri" pitchFamily="34" charset="-120"/>
              </a:rPr>
              <a:t>Computer use and vision / image analysis</a:t>
            </a:r>
            <a:endParaRPr lang="en-US" sz="1400" dirty="0"/>
          </a:p>
          <a:p>
            <a:pPr marL="177800" indent="-177800">
              <a:spcAft>
                <a:spcPts val="600"/>
              </a:spcAft>
              <a:buSzPct val="100000"/>
              <a:buChar char="•"/>
            </a:pPr>
            <a:r>
              <a:rPr lang="en-US" sz="1400" dirty="0">
                <a:solidFill>
                  <a:srgbClr val="141413"/>
                </a:solidFill>
                <a:latin typeface="Calibri" pitchFamily="34" charset="0"/>
                <a:ea typeface="Calibri" pitchFamily="34" charset="-122"/>
                <a:cs typeface="Calibri" pitchFamily="34" charset="-120"/>
              </a:rPr>
              <a:t>Streaming implementation, tokenization specifics</a:t>
            </a:r>
            <a:endParaRPr lang="en-US" sz="1400" dirty="0"/>
          </a:p>
          <a:p>
            <a:pPr marL="177800" indent="-177800">
              <a:spcAft>
                <a:spcPts val="600"/>
              </a:spcAft>
              <a:buSzPct val="100000"/>
              <a:buChar char="•"/>
            </a:pPr>
            <a:r>
              <a:rPr lang="en-US" sz="1400" dirty="0">
                <a:solidFill>
                  <a:srgbClr val="141413"/>
                </a:solidFill>
                <a:latin typeface="Calibri" pitchFamily="34" charset="0"/>
                <a:ea typeface="Calibri" pitchFamily="34" charset="-122"/>
                <a:cs typeface="Calibri" pitchFamily="34" charset="-120"/>
              </a:rPr>
              <a:t>Prompt caching implementation details</a:t>
            </a:r>
            <a:endParaRPr lang="en-US" sz="1400" dirty="0"/>
          </a:p>
          <a:p>
            <a:pPr marL="177800" indent="-177800">
              <a:spcAft>
                <a:spcPts val="600"/>
              </a:spcAft>
              <a:buSzPct val="100000"/>
              <a:buChar char="•"/>
            </a:pPr>
            <a:r>
              <a:rPr lang="en-US" sz="1400" dirty="0">
                <a:solidFill>
                  <a:srgbClr val="141413"/>
                </a:solidFill>
                <a:latin typeface="Calibri" pitchFamily="34" charset="0"/>
                <a:ea typeface="Calibri" pitchFamily="34" charset="-122"/>
                <a:cs typeface="Calibri" pitchFamily="34" charset="-120"/>
              </a:rPr>
              <a:t>Specific cloud-provider configuration; OAuth and key rotation</a:t>
            </a:r>
            <a:endParaRPr lang="en-US" sz="1400" dirty="0"/>
          </a:p>
        </p:txBody>
      </p:sp>
      <p:sp>
        <p:nvSpPr>
          <p:cNvPr id="10" name="Shape 7"/>
          <p:cNvSpPr/>
          <p:nvPr/>
        </p:nvSpPr>
        <p:spPr>
          <a:xfrm>
            <a:off x="6720840" y="1600200"/>
            <a:ext cx="4919472" cy="2788920"/>
          </a:xfrm>
          <a:prstGeom prst="roundRect">
            <a:avLst>
              <a:gd name="adj" fmla="val 3934"/>
            </a:avLst>
          </a:prstGeom>
          <a:solidFill>
            <a:srgbClr val="F6E4DB"/>
          </a:solidFill>
          <a:ln w="9525">
            <a:solidFill>
              <a:srgbClr val="F6E4DB"/>
            </a:solidFill>
            <a:prstDash val="solid"/>
          </a:ln>
        </p:spPr>
      </p:sp>
      <p:sp>
        <p:nvSpPr>
          <p:cNvPr id="11" name="Text 8"/>
          <p:cNvSpPr txBox="1"/>
          <p:nvPr/>
        </p:nvSpPr>
        <p:spPr>
          <a:xfrm>
            <a:off x="6995160" y="1783080"/>
            <a:ext cx="4389120" cy="365760"/>
          </a:xfrm>
          <a:prstGeom prst="rect">
            <a:avLst/>
          </a:prstGeom>
          <a:noFill/>
          <a:ln/>
        </p:spPr>
        <p:txBody>
          <a:bodyPr wrap="square" lIns="0" tIns="0" rIns="0" bIns="0" rtlCol="0" anchor="ctr"/>
          <a:lstStyle/>
          <a:p>
            <a:pPr indent="0" marL="0">
              <a:buNone/>
            </a:pPr>
            <a:r>
              <a:rPr lang="en-US" sz="1800" dirty="0">
                <a:solidFill>
                  <a:srgbClr val="B85C3E"/>
                </a:solidFill>
                <a:latin typeface="Cambria" pitchFamily="34" charset="0"/>
                <a:ea typeface="Cambria" pitchFamily="34" charset="-122"/>
                <a:cs typeface="Cambria" pitchFamily="34" charset="-120"/>
              </a:rPr>
              <a:t>Course modules to skip</a:t>
            </a:r>
            <a:endParaRPr lang="en-US" sz="1800" dirty="0"/>
          </a:p>
        </p:txBody>
      </p:sp>
      <p:sp>
        <p:nvSpPr>
          <p:cNvPr id="12" name="Text 9"/>
          <p:cNvSpPr txBox="1"/>
          <p:nvPr/>
        </p:nvSpPr>
        <p:spPr>
          <a:xfrm>
            <a:off x="6995160" y="2240280"/>
            <a:ext cx="4389120" cy="20116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41413"/>
                </a:solidFill>
                <a:latin typeface="Calibri" pitchFamily="34" charset="0"/>
                <a:ea typeface="Calibri" pitchFamily="34" charset="-122"/>
                <a:cs typeface="Calibri" pitchFamily="34" charset="-120"/>
              </a:rPr>
              <a:t>RAG and embeddings</a:t>
            </a:r>
            <a:endParaRPr lang="en-US" sz="1400" dirty="0"/>
          </a:p>
          <a:p>
            <a:pPr marL="177800" indent="-177800">
              <a:spcAft>
                <a:spcPts val="600"/>
              </a:spcAft>
              <a:buSzPct val="100000"/>
              <a:buChar char="•"/>
            </a:pPr>
            <a:r>
              <a:rPr lang="en-US" sz="1400" dirty="0">
                <a:solidFill>
                  <a:srgbClr val="141413"/>
                </a:solidFill>
                <a:latin typeface="Calibri" pitchFamily="34" charset="0"/>
                <a:ea typeface="Calibri" pitchFamily="34" charset="-122"/>
                <a:cs typeface="Calibri" pitchFamily="34" charset="-120"/>
              </a:rPr>
              <a:t>Image / vision</a:t>
            </a:r>
            <a:endParaRPr lang="en-US" sz="1400" dirty="0"/>
          </a:p>
          <a:p>
            <a:pPr marL="177800" indent="-177800">
              <a:spcAft>
                <a:spcPts val="600"/>
              </a:spcAft>
              <a:buSzPct val="100000"/>
              <a:buChar char="•"/>
            </a:pPr>
            <a:r>
              <a:rPr lang="en-US" sz="1400" dirty="0">
                <a:solidFill>
                  <a:srgbClr val="141413"/>
                </a:solidFill>
                <a:latin typeface="Calibri" pitchFamily="34" charset="0"/>
                <a:ea typeface="Calibri" pitchFamily="34" charset="-122"/>
                <a:cs typeface="Calibri" pitchFamily="34" charset="-120"/>
              </a:rPr>
              <a:t>Computer use</a:t>
            </a:r>
            <a:endParaRPr lang="en-US" sz="1400" dirty="0"/>
          </a:p>
          <a:p>
            <a:pPr marL="177800" indent="-177800">
              <a:spcAft>
                <a:spcPts val="600"/>
              </a:spcAft>
              <a:buSzPct val="100000"/>
              <a:buChar char="•"/>
            </a:pPr>
            <a:r>
              <a:rPr lang="en-US" sz="1400" dirty="0">
                <a:solidFill>
                  <a:srgbClr val="141413"/>
                </a:solidFill>
                <a:latin typeface="Calibri" pitchFamily="34" charset="0"/>
                <a:ea typeface="Calibri" pitchFamily="34" charset="-122"/>
                <a:cs typeface="Calibri" pitchFamily="34" charset="-120"/>
              </a:rPr>
              <a:t>Streaming</a:t>
            </a:r>
            <a:endParaRPr lang="en-US" sz="1400" dirty="0"/>
          </a:p>
          <a:p>
            <a:pPr marL="177800" indent="-177800">
              <a:spcAft>
                <a:spcPts val="600"/>
              </a:spcAft>
              <a:buSzPct val="100000"/>
              <a:buChar char="•"/>
            </a:pPr>
            <a:r>
              <a:rPr lang="en-US" sz="1400" dirty="0">
                <a:solidFill>
                  <a:srgbClr val="141413"/>
                </a:solidFill>
                <a:latin typeface="Calibri" pitchFamily="34" charset="0"/>
                <a:ea typeface="Calibri" pitchFamily="34" charset="-122"/>
                <a:cs typeface="Calibri" pitchFamily="34" charset="-120"/>
              </a:rPr>
              <a:t>Cloud provider setup</a:t>
            </a:r>
            <a:endParaRPr lang="en-US" sz="1400" dirty="0"/>
          </a:p>
          <a:p>
            <a:pPr marL="177800" indent="-177800">
              <a:spcAft>
                <a:spcPts val="600"/>
              </a:spcAft>
              <a:buSzPct val="100000"/>
              <a:buChar char="•"/>
            </a:pPr>
            <a:r>
              <a:rPr lang="en-US" sz="1400" dirty="0">
                <a:solidFill>
                  <a:srgbClr val="141413"/>
                </a:solidFill>
                <a:latin typeface="Calibri" pitchFamily="34" charset="0"/>
                <a:ea typeface="Calibri" pitchFamily="34" charset="-122"/>
                <a:cs typeface="Calibri" pitchFamily="34" charset="-120"/>
              </a:rPr>
              <a:t>Prompt caching details (knowing it exists is enough)</a:t>
            </a:r>
            <a:endParaRPr lang="en-US" sz="1400" dirty="0"/>
          </a:p>
        </p:txBody>
      </p:sp>
      <p:sp>
        <p:nvSpPr>
          <p:cNvPr id="13" name="Shape 10"/>
          <p:cNvSpPr/>
          <p:nvPr/>
        </p:nvSpPr>
        <p:spPr>
          <a:xfrm>
            <a:off x="6720840" y="4617720"/>
            <a:ext cx="4919472" cy="1417320"/>
          </a:xfrm>
          <a:prstGeom prst="roundRect">
            <a:avLst>
              <a:gd name="adj" fmla="val 7742"/>
            </a:avLst>
          </a:prstGeom>
          <a:solidFill>
            <a:srgbClr val="FFFFFF"/>
          </a:solidFill>
          <a:ln w="9525">
            <a:solidFill>
              <a:srgbClr val="E8E6DC"/>
            </a:solidFill>
            <a:prstDash val="solid"/>
          </a:ln>
        </p:spPr>
      </p:sp>
      <p:sp>
        <p:nvSpPr>
          <p:cNvPr id="14" name="Text 11"/>
          <p:cNvSpPr txBox="1"/>
          <p:nvPr/>
        </p:nvSpPr>
        <p:spPr>
          <a:xfrm>
            <a:off x="6995160" y="4709160"/>
            <a:ext cx="4389120" cy="274320"/>
          </a:xfrm>
          <a:prstGeom prst="rect">
            <a:avLst/>
          </a:prstGeom>
          <a:noFill/>
          <a:ln/>
        </p:spPr>
        <p:txBody>
          <a:bodyPr wrap="square" lIns="0" tIns="0" rIns="0" bIns="0" rtlCol="0" anchor="ctr"/>
          <a:lstStyle/>
          <a:p>
            <a:pPr indent="0" marL="0">
              <a:buNone/>
            </a:pPr>
            <a:r>
              <a:rPr lang="en-US" sz="1500" dirty="0">
                <a:solidFill>
                  <a:srgbClr val="141413"/>
                </a:solidFill>
                <a:latin typeface="Cambria" pitchFamily="34" charset="0"/>
                <a:ea typeface="Cambria" pitchFamily="34" charset="-122"/>
                <a:cs typeface="Cambria" pitchFamily="34" charset="-120"/>
              </a:rPr>
              <a:t>Why it matters</a:t>
            </a:r>
            <a:endParaRPr lang="en-US" sz="1500" dirty="0"/>
          </a:p>
        </p:txBody>
      </p:sp>
      <p:sp>
        <p:nvSpPr>
          <p:cNvPr id="15" name="Text 12"/>
          <p:cNvSpPr txBox="1"/>
          <p:nvPr/>
        </p:nvSpPr>
        <p:spPr>
          <a:xfrm>
            <a:off x="6995160" y="5029200"/>
            <a:ext cx="4389120" cy="914400"/>
          </a:xfrm>
          <a:prstGeom prst="rect">
            <a:avLst/>
          </a:prstGeom>
          <a:noFill/>
          <a:ln/>
        </p:spPr>
        <p:txBody>
          <a:bodyPr wrap="square" lIns="0" tIns="0" rIns="0" bIns="0" rtlCol="0" anchor="t"/>
          <a:lstStyle/>
          <a:p>
            <a:pPr indent="0" marL="0">
              <a:buNone/>
            </a:pPr>
            <a:r>
              <a:rPr lang="en-US" sz="1300" dirty="0">
                <a:solidFill>
                  <a:srgbClr val="5E5D59"/>
                </a:solidFill>
                <a:latin typeface="Calibri" pitchFamily="34" charset="0"/>
                <a:ea typeface="Calibri" pitchFamily="34" charset="-122"/>
                <a:cs typeface="Calibri" pitchFamily="34" charset="-120"/>
              </a:rPr>
              <a:t>Time is limited. Every hour on an out-of-scope module is an hour not spent on judgment about tools, agents and reliability.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413"/>
        </a:solidFill>
      </p:bgPr>
    </p:bg>
    <p:spTree>
      <p:nvGrpSpPr>
        <p:cNvPr id="1" name=""/>
        <p:cNvGrpSpPr/>
        <p:nvPr/>
      </p:nvGrpSpPr>
      <p:grpSpPr>
        <a:xfrm>
          <a:off x="0" y="0"/>
          <a:ext cx="0" cy="0"/>
          <a:chOff x="0" y="0"/>
          <a:chExt cx="0" cy="0"/>
        </a:xfrm>
      </p:grpSpPr>
      <p:sp>
        <p:nvSpPr>
          <p:cNvPr id="2" name="Text 0"/>
          <p:cNvSpPr txBox="1"/>
          <p:nvPr/>
        </p:nvSpPr>
        <p:spPr>
          <a:xfrm>
            <a:off x="822960" y="1371600"/>
            <a:ext cx="7315200" cy="274320"/>
          </a:xfrm>
          <a:prstGeom prst="rect">
            <a:avLst/>
          </a:prstGeom>
          <a:noFill/>
          <a:ln/>
        </p:spPr>
        <p:txBody>
          <a:bodyPr wrap="square" lIns="0" tIns="0" rIns="0" bIns="0" rtlCol="0" anchor="ctr"/>
          <a:lstStyle/>
          <a:p>
            <a:pPr indent="0" marL="0">
              <a:buNone/>
            </a:pPr>
            <a:r>
              <a:rPr lang="en-US" sz="1300" b="1" spc="300" kern="0" dirty="0">
                <a:solidFill>
                  <a:srgbClr val="D97757"/>
                </a:solidFill>
                <a:latin typeface="Calibri" pitchFamily="34" charset="0"/>
                <a:ea typeface="Calibri" pitchFamily="34" charset="-122"/>
                <a:cs typeface="Calibri" pitchFamily="34" charset="-120"/>
              </a:rPr>
              <a:t>PART 2  ·  15–37 MIN</a:t>
            </a:r>
            <a:endParaRPr lang="en-US" sz="1300" dirty="0"/>
          </a:p>
        </p:txBody>
      </p:sp>
      <p:sp>
        <p:nvSpPr>
          <p:cNvPr id="3" name="Text 1"/>
          <p:cNvSpPr txBox="1"/>
          <p:nvPr/>
        </p:nvSpPr>
        <p:spPr>
          <a:xfrm>
            <a:off x="822960" y="1828800"/>
            <a:ext cx="8229600" cy="1097280"/>
          </a:xfrm>
          <a:prstGeom prst="rect">
            <a:avLst/>
          </a:prstGeom>
          <a:noFill/>
          <a:ln/>
        </p:spPr>
        <p:txBody>
          <a:bodyPr wrap="square" lIns="0" tIns="0" rIns="0" bIns="0" rtlCol="0" anchor="ctr"/>
          <a:lstStyle/>
          <a:p>
            <a:pPr indent="0" marL="0">
              <a:buNone/>
            </a:pPr>
            <a:r>
              <a:rPr lang="en-US" sz="5400" dirty="0">
                <a:solidFill>
                  <a:srgbClr val="FAF9F5"/>
                </a:solidFill>
                <a:latin typeface="Cambria" pitchFamily="34" charset="0"/>
                <a:ea typeface="Cambria" pitchFamily="34" charset="-122"/>
                <a:cs typeface="Cambria" pitchFamily="34" charset="-120"/>
              </a:rPr>
              <a:t>Claude API essentials</a:t>
            </a:r>
            <a:endParaRPr lang="en-US" sz="5400" dirty="0"/>
          </a:p>
        </p:txBody>
      </p:sp>
      <p:sp>
        <p:nvSpPr>
          <p:cNvPr id="4" name="Text 2"/>
          <p:cNvSpPr txBox="1"/>
          <p:nvPr/>
        </p:nvSpPr>
        <p:spPr>
          <a:xfrm>
            <a:off x="822960" y="3291840"/>
            <a:ext cx="7315200" cy="2377440"/>
          </a:xfrm>
          <a:prstGeom prst="rect">
            <a:avLst/>
          </a:prstGeom>
          <a:noFill/>
          <a:ln/>
        </p:spPr>
        <p:txBody>
          <a:bodyPr wrap="square" lIns="0" tIns="0" rIns="0" bIns="0" rtlCol="0" anchor="t"/>
          <a:lstStyle/>
          <a:p>
            <a:pPr marL="203200" indent="-203200">
              <a:spcAft>
                <a:spcPts val="800"/>
              </a:spcAft>
              <a:buSzPct val="100000"/>
              <a:buChar char="•"/>
            </a:pPr>
            <a:r>
              <a:rPr lang="en-US" sz="1800" dirty="0">
                <a:solidFill>
                  <a:srgbClr val="C9C7BC"/>
                </a:solidFill>
                <a:latin typeface="Calibri" pitchFamily="34" charset="0"/>
                <a:ea typeface="Calibri" pitchFamily="34" charset="-122"/>
                <a:cs typeface="Calibri" pitchFamily="34" charset="-120"/>
              </a:rPr>
              <a:t>Messages API and system prompts</a:t>
            </a:r>
            <a:endParaRPr lang="en-US" sz="1800" dirty="0"/>
          </a:p>
          <a:p>
            <a:pPr marL="203200" indent="-203200">
              <a:spcAft>
                <a:spcPts val="800"/>
              </a:spcAft>
              <a:buSzPct val="100000"/>
              <a:buChar char="•"/>
            </a:pPr>
            <a:r>
              <a:rPr lang="en-US" sz="1800" dirty="0">
                <a:solidFill>
                  <a:srgbClr val="C9C7BC"/>
                </a:solidFill>
                <a:latin typeface="Calibri" pitchFamily="34" charset="0"/>
                <a:ea typeface="Calibri" pitchFamily="34" charset="-122"/>
                <a:cs typeface="Calibri" pitchFamily="34" charset="-120"/>
              </a:rPr>
              <a:t>Tool definitions and tool_use blocks</a:t>
            </a:r>
            <a:endParaRPr lang="en-US" sz="1800" dirty="0"/>
          </a:p>
          <a:p>
            <a:pPr marL="203200" indent="-203200">
              <a:spcAft>
                <a:spcPts val="800"/>
              </a:spcAft>
              <a:buSzPct val="100000"/>
              <a:buChar char="•"/>
            </a:pPr>
            <a:r>
              <a:rPr lang="en-US" sz="1800" dirty="0">
                <a:solidFill>
                  <a:srgbClr val="C9C7BC"/>
                </a:solidFill>
                <a:latin typeface="Calibri" pitchFamily="34" charset="0"/>
                <a:ea typeface="Calibri" pitchFamily="34" charset="-122"/>
                <a:cs typeface="Calibri" pitchFamily="34" charset="-120"/>
              </a:rPr>
              <a:t>stop_reason as control flow</a:t>
            </a:r>
            <a:endParaRPr lang="en-US" sz="1800" dirty="0"/>
          </a:p>
          <a:p>
            <a:pPr marL="203200" indent="-203200">
              <a:spcAft>
                <a:spcPts val="800"/>
              </a:spcAft>
              <a:buSzPct val="100000"/>
              <a:buChar char="•"/>
            </a:pPr>
            <a:r>
              <a:rPr lang="en-US" sz="1800" dirty="0">
                <a:solidFill>
                  <a:srgbClr val="C9C7BC"/>
                </a:solidFill>
                <a:latin typeface="Calibri" pitchFamily="34" charset="0"/>
                <a:ea typeface="Calibri" pitchFamily="34" charset="-122"/>
                <a:cs typeface="Calibri" pitchFamily="34" charset="-120"/>
              </a:rPr>
              <a:t>A stateless API needs full history</a:t>
            </a:r>
            <a:endParaRPr lang="en-US" sz="1800" dirty="0"/>
          </a:p>
          <a:p>
            <a:pPr marL="203200" indent="-203200">
              <a:spcAft>
                <a:spcPts val="800"/>
              </a:spcAft>
              <a:buSzPct val="100000"/>
              <a:buChar char="•"/>
            </a:pPr>
            <a:r>
              <a:rPr lang="en-US" sz="1800" dirty="0">
                <a:solidFill>
                  <a:srgbClr val="C9C7BC"/>
                </a:solidFill>
                <a:latin typeface="Calibri" pitchFamily="34" charset="0"/>
                <a:ea typeface="Calibri" pitchFamily="34" charset="-122"/>
                <a:cs typeface="Calibri" pitchFamily="34" charset="-120"/>
              </a:rPr>
              <a:t>Prompt caching (existence only)</a:t>
            </a:r>
            <a:endParaRPr lang="en-US" sz="1800" dirty="0"/>
          </a:p>
        </p:txBody>
      </p:sp>
      <p:sp>
        <p:nvSpPr>
          <p:cNvPr id="5" name="Shape 3"/>
          <p:cNvSpPr/>
          <p:nvPr/>
        </p:nvSpPr>
        <p:spPr>
          <a:xfrm>
            <a:off x="8778240" y="2377440"/>
            <a:ext cx="2743200" cy="2743200"/>
          </a:xfrm>
          <a:prstGeom prst="ellipse">
            <a:avLst/>
          </a:prstGeom>
          <a:solidFill>
            <a:srgbClr val="D97757">
              <a:alpha val="30000"/>
            </a:srgbClr>
          </a:solidFill>
          <a:ln w="12700">
            <a:solidFill>
              <a:srgbClr val="D97757">
                <a:alpha val="30000"/>
              </a:srgbClr>
            </a:solidFill>
            <a:prstDash val="solid"/>
          </a:ln>
        </p:spPr>
      </p:sp>
      <p:sp>
        <p:nvSpPr>
          <p:cNvPr id="6" name="Shape 4"/>
          <p:cNvSpPr/>
          <p:nvPr/>
        </p:nvSpPr>
        <p:spPr>
          <a:xfrm>
            <a:off x="9418320" y="3017520"/>
            <a:ext cx="1463040" cy="1463040"/>
          </a:xfrm>
          <a:prstGeom prst="ellipse">
            <a:avLst/>
          </a:prstGeom>
          <a:solidFill>
            <a:srgbClr val="D97757"/>
          </a:solidFill>
          <a:ln w="12700">
            <a:solidFill>
              <a:srgbClr val="D97757"/>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548640" y="365760"/>
            <a:ext cx="8686800" cy="274320"/>
          </a:xfrm>
          <a:prstGeom prst="rect">
            <a:avLst/>
          </a:prstGeom>
          <a:noFill/>
          <a:ln/>
        </p:spPr>
        <p:txBody>
          <a:bodyPr wrap="square" lIns="0" tIns="0" rIns="0" bIns="0"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CLAUDE API ESSENTIALS</a:t>
            </a:r>
            <a:endParaRPr lang="en-US" sz="1200" dirty="0"/>
          </a:p>
        </p:txBody>
      </p:sp>
      <p:sp>
        <p:nvSpPr>
          <p:cNvPr id="3" name="Text 1"/>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200" dirty="0">
                <a:solidFill>
                  <a:srgbClr val="141413"/>
                </a:solidFill>
                <a:latin typeface="Cambria" pitchFamily="34" charset="0"/>
                <a:ea typeface="Cambria" pitchFamily="34" charset="-122"/>
                <a:cs typeface="Cambria" pitchFamily="34" charset="-120"/>
              </a:rPr>
              <a:t>The big picture: an LLM plus what you give it</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87867F"/>
                </a:solidFill>
                <a:latin typeface="Calibri" pitchFamily="34" charset="0"/>
                <a:ea typeface="Calibri" pitchFamily="34" charset="-122"/>
                <a:cs typeface="Calibri" pitchFamily="34" charset="-120"/>
              </a:rPr>
              <a:t>CCAR-F Skills Curriculum  ·  Session 1  ·  9</a:t>
            </a:r>
            <a:endParaRPr lang="en-US" sz="1000" dirty="0"/>
          </a:p>
        </p:txBody>
      </p:sp>
      <p:sp>
        <p:nvSpPr>
          <p:cNvPr id="5" name="Text 3"/>
          <p:cNvSpPr txBox="1"/>
          <p:nvPr/>
        </p:nvSpPr>
        <p:spPr>
          <a:xfrm>
            <a:off x="8869680" y="365760"/>
            <a:ext cx="2770632" cy="274320"/>
          </a:xfrm>
          <a:prstGeom prst="rect">
            <a:avLst/>
          </a:prstGeom>
          <a:noFill/>
          <a:ln/>
        </p:spPr>
        <p:txBody>
          <a:bodyPr wrap="square" lIns="0" tIns="0" rIns="0" bIns="0" rtlCol="0" anchor="ctr"/>
          <a:lstStyle/>
          <a:p>
            <a:pPr algn="r" indent="0" marL="0">
              <a:buNone/>
            </a:pPr>
            <a:r>
              <a:rPr lang="en-US" sz="1100" dirty="0">
                <a:solidFill>
                  <a:srgbClr val="87867F"/>
                </a:solidFill>
                <a:latin typeface="Calibri" pitchFamily="34" charset="0"/>
                <a:ea typeface="Calibri" pitchFamily="34" charset="-122"/>
                <a:cs typeface="Calibri" pitchFamily="34" charset="-120"/>
              </a:rPr>
              <a:t>15–17 min</a:t>
            </a:r>
            <a:endParaRPr lang="en-US" sz="1100" dirty="0"/>
          </a:p>
        </p:txBody>
      </p:sp>
      <p:sp>
        <p:nvSpPr>
          <p:cNvPr id="6" name="Shape 4"/>
          <p:cNvSpPr/>
          <p:nvPr/>
        </p:nvSpPr>
        <p:spPr>
          <a:xfrm>
            <a:off x="548640" y="1691640"/>
            <a:ext cx="6949440" cy="3200400"/>
          </a:xfrm>
          <a:prstGeom prst="roundRect">
            <a:avLst>
              <a:gd name="adj" fmla="val 3429"/>
            </a:avLst>
          </a:prstGeom>
          <a:solidFill>
            <a:srgbClr val="FFFFFF"/>
          </a:solidFill>
          <a:ln w="9525">
            <a:solidFill>
              <a:srgbClr val="E8E6DC"/>
            </a:solidFill>
            <a:prstDash val="solid"/>
          </a:ln>
        </p:spPr>
      </p:sp>
      <p:pic>
        <p:nvPicPr>
          <p:cNvPr id="7" name="Image 0" descr="/home/claude/s1/img/augmented.png">    </p:cNvPr>
          <p:cNvPicPr>
            <a:picLocks noChangeAspect="1"/>
          </p:cNvPicPr>
          <p:nvPr/>
        </p:nvPicPr>
        <p:blipFill>
          <a:blip r:embed="rId1"/>
          <a:stretch>
            <a:fillRect/>
          </a:stretch>
        </p:blipFill>
        <p:spPr>
          <a:xfrm>
            <a:off x="685800" y="1828800"/>
            <a:ext cx="6675120" cy="2779776"/>
          </a:xfrm>
          <a:prstGeom prst="rect">
            <a:avLst/>
          </a:prstGeom>
        </p:spPr>
      </p:pic>
      <p:sp>
        <p:nvSpPr>
          <p:cNvPr id="8" name="Text 5"/>
          <p:cNvSpPr txBox="1"/>
          <p:nvPr/>
        </p:nvSpPr>
        <p:spPr>
          <a:xfrm>
            <a:off x="548640" y="4983480"/>
            <a:ext cx="6949440" cy="274320"/>
          </a:xfrm>
          <a:prstGeom prst="rect">
            <a:avLst/>
          </a:prstGeom>
          <a:noFill/>
          <a:ln/>
        </p:spPr>
        <p:txBody>
          <a:bodyPr wrap="square" lIns="0" tIns="0" rIns="0" bIns="0" rtlCol="0" anchor="ctr"/>
          <a:lstStyle/>
          <a:p>
            <a:pPr indent="0" marL="0">
              <a:buNone/>
            </a:pPr>
            <a:r>
              <a:rPr lang="en-US" sz="1100" i="1" dirty="0">
                <a:solidFill>
                  <a:srgbClr val="87867F"/>
                </a:solidFill>
                <a:latin typeface="Calibri" pitchFamily="34" charset="0"/>
                <a:ea typeface="Calibri" pitchFamily="34" charset="-122"/>
                <a:cs typeface="Calibri" pitchFamily="34" charset="-120"/>
              </a:rPr>
              <a:t>Source: Anthropic, "Building effective agents" (anthropic.com/engineering)</a:t>
            </a:r>
            <a:endParaRPr lang="en-US" sz="1100" dirty="0"/>
          </a:p>
        </p:txBody>
      </p:sp>
      <p:sp>
        <p:nvSpPr>
          <p:cNvPr id="9" name="Text 6"/>
          <p:cNvSpPr txBox="1"/>
          <p:nvPr/>
        </p:nvSpPr>
        <p:spPr>
          <a:xfrm>
            <a:off x="7863840" y="1691640"/>
            <a:ext cx="3776472" cy="822960"/>
          </a:xfrm>
          <a:prstGeom prst="rect">
            <a:avLst/>
          </a:prstGeom>
          <a:noFill/>
          <a:ln/>
        </p:spPr>
        <p:txBody>
          <a:bodyPr wrap="square" lIns="0" tIns="0" rIns="0" bIns="0" rtlCol="0" anchor="t"/>
          <a:lstStyle/>
          <a:p>
            <a:pPr indent="0" marL="0">
              <a:buNone/>
            </a:pPr>
            <a:r>
              <a:rPr lang="en-US" sz="2200" dirty="0">
                <a:solidFill>
                  <a:srgbClr val="141413"/>
                </a:solidFill>
                <a:latin typeface="Cambria" pitchFamily="34" charset="0"/>
                <a:ea typeface="Cambria" pitchFamily="34" charset="-122"/>
                <a:cs typeface="Cambria" pitchFamily="34" charset="-120"/>
              </a:rPr>
              <a:t>Claude does not act. Your application does.</a:t>
            </a:r>
            <a:endParaRPr lang="en-US" sz="2200" dirty="0"/>
          </a:p>
        </p:txBody>
      </p:sp>
      <p:sp>
        <p:nvSpPr>
          <p:cNvPr id="10" name="Text 7"/>
          <p:cNvSpPr txBox="1"/>
          <p:nvPr/>
        </p:nvSpPr>
        <p:spPr>
          <a:xfrm>
            <a:off x="7863840" y="2606040"/>
            <a:ext cx="3776472" cy="27432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41413"/>
                </a:solidFill>
                <a:latin typeface="Calibri" pitchFamily="34" charset="0"/>
                <a:ea typeface="Calibri" pitchFamily="34" charset="-122"/>
                <a:cs typeface="Calibri" pitchFamily="34" charset="-120"/>
              </a:rPr>
              <a:t>The model reads the request and emits structured output.</a:t>
            </a:r>
            <a:endParaRPr lang="en-US" sz="1400" dirty="0"/>
          </a:p>
          <a:p>
            <a:pPr marL="177800" indent="-177800">
              <a:spcAft>
                <a:spcPts val="600"/>
              </a:spcAft>
              <a:buSzPct val="100000"/>
              <a:buChar char="•"/>
            </a:pPr>
            <a:r>
              <a:rPr lang="en-US" sz="1400" dirty="0">
                <a:solidFill>
                  <a:srgbClr val="141413"/>
                </a:solidFill>
                <a:latin typeface="Calibri" pitchFamily="34" charset="0"/>
                <a:ea typeface="Calibri" pitchFamily="34" charset="-122"/>
                <a:cs typeface="Calibri" pitchFamily="34" charset="-120"/>
              </a:rPr>
              <a:t>Tools are defined by you and run by your code.</a:t>
            </a:r>
            <a:endParaRPr lang="en-US" sz="1400" dirty="0"/>
          </a:p>
          <a:p>
            <a:pPr marL="177800" indent="-177800">
              <a:spcAft>
                <a:spcPts val="600"/>
              </a:spcAft>
              <a:buSzPct val="100000"/>
              <a:buChar char="•"/>
            </a:pPr>
            <a:r>
              <a:rPr lang="en-US" sz="1400" dirty="0">
                <a:solidFill>
                  <a:srgbClr val="141413"/>
                </a:solidFill>
                <a:latin typeface="Calibri" pitchFamily="34" charset="0"/>
                <a:ea typeface="Calibri" pitchFamily="34" charset="-122"/>
                <a:cs typeface="Calibri" pitchFamily="34" charset="-120"/>
              </a:rPr>
              <a:t>Memory and history are your responsibility, not the API's.</a:t>
            </a:r>
            <a:endParaRPr lang="en-US" sz="1400" dirty="0"/>
          </a:p>
          <a:p>
            <a:pPr marL="177800" indent="-177800">
              <a:spcAft>
                <a:spcPts val="600"/>
              </a:spcAft>
              <a:buSzPct val="100000"/>
              <a:buChar char="•"/>
            </a:pPr>
            <a:r>
              <a:rPr lang="en-US" sz="1400" dirty="0">
                <a:solidFill>
                  <a:srgbClr val="141413"/>
                </a:solidFill>
                <a:latin typeface="Calibri" pitchFamily="34" charset="0"/>
                <a:ea typeface="Calibri" pitchFamily="34" charset="-122"/>
                <a:cs typeface="Calibri" pitchFamily="34" charset="-120"/>
              </a:rPr>
              <a:t>Every later session extends this shape.</a:t>
            </a:r>
            <a:endParaRPr lang="en-US" sz="1400" dirty="0"/>
          </a:p>
        </p:txBody>
      </p:sp>
      <p:sp>
        <p:nvSpPr>
          <p:cNvPr id="11" name="Shape 8"/>
          <p:cNvSpPr/>
          <p:nvPr/>
        </p:nvSpPr>
        <p:spPr>
          <a:xfrm>
            <a:off x="548640" y="5440680"/>
            <a:ext cx="11091672" cy="777240"/>
          </a:xfrm>
          <a:prstGeom prst="roundRect">
            <a:avLst>
              <a:gd name="adj" fmla="val 14118"/>
            </a:avLst>
          </a:prstGeom>
          <a:solidFill>
            <a:srgbClr val="F6E4DB"/>
          </a:solidFill>
          <a:ln w="9525">
            <a:solidFill>
              <a:srgbClr val="F6E4DB"/>
            </a:solidFill>
            <a:prstDash val="solid"/>
          </a:ln>
        </p:spPr>
      </p:sp>
      <p:sp>
        <p:nvSpPr>
          <p:cNvPr id="12" name="Text 9"/>
          <p:cNvSpPr txBox="1"/>
          <p:nvPr/>
        </p:nvSpPr>
        <p:spPr>
          <a:xfrm>
            <a:off x="822960" y="5440680"/>
            <a:ext cx="10515600" cy="777240"/>
          </a:xfrm>
          <a:prstGeom prst="rect">
            <a:avLst/>
          </a:prstGeom>
          <a:noFill/>
          <a:ln/>
        </p:spPr>
        <p:txBody>
          <a:bodyPr wrap="square" lIns="0" tIns="0" rIns="0" bIns="0" rtlCol="0" anchor="ctr"/>
          <a:lstStyle/>
          <a:p>
            <a:pPr indent="0" marL="0">
              <a:buNone/>
            </a:pPr>
            <a:r>
              <a:rPr lang="en-US" sz="1400" dirty="0">
                <a:solidFill>
                  <a:srgbClr val="141413"/>
                </a:solidFill>
                <a:latin typeface="Calibri" pitchFamily="34" charset="0"/>
                <a:ea typeface="Calibri" pitchFamily="34" charset="-122"/>
                <a:cs typeface="Calibri" pitchFamily="34" charset="-120"/>
              </a:rPr>
              <a:t>Exam habit: for every design question, ask which part is model judgment and which part is your application's responsibility.</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548640" y="365760"/>
            <a:ext cx="8686800" cy="274320"/>
          </a:xfrm>
          <a:prstGeom prst="rect">
            <a:avLst/>
          </a:prstGeom>
          <a:noFill/>
          <a:ln/>
        </p:spPr>
        <p:txBody>
          <a:bodyPr wrap="square" lIns="0" tIns="0" rIns="0" bIns="0"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CLAUDE API ESSENTIALS</a:t>
            </a:r>
            <a:endParaRPr lang="en-US" sz="1200" dirty="0"/>
          </a:p>
        </p:txBody>
      </p:sp>
      <p:sp>
        <p:nvSpPr>
          <p:cNvPr id="3" name="Text 1"/>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200" dirty="0">
                <a:solidFill>
                  <a:srgbClr val="141413"/>
                </a:solidFill>
                <a:latin typeface="Cambria" pitchFamily="34" charset="0"/>
                <a:ea typeface="Cambria" pitchFamily="34" charset="-122"/>
                <a:cs typeface="Cambria" pitchFamily="34" charset="-120"/>
              </a:rPr>
              <a:t>Anatomy of a Messages API request</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87867F"/>
                </a:solidFill>
                <a:latin typeface="Calibri" pitchFamily="34" charset="0"/>
                <a:ea typeface="Calibri" pitchFamily="34" charset="-122"/>
                <a:cs typeface="Calibri" pitchFamily="34" charset="-120"/>
              </a:rPr>
              <a:t>CCAR-F Skills Curriculum  ·  Session 1  ·  10</a:t>
            </a:r>
            <a:endParaRPr lang="en-US" sz="1000" dirty="0"/>
          </a:p>
        </p:txBody>
      </p:sp>
      <p:sp>
        <p:nvSpPr>
          <p:cNvPr id="5" name="Text 3"/>
          <p:cNvSpPr txBox="1"/>
          <p:nvPr/>
        </p:nvSpPr>
        <p:spPr>
          <a:xfrm>
            <a:off x="8869680" y="365760"/>
            <a:ext cx="2770632" cy="274320"/>
          </a:xfrm>
          <a:prstGeom prst="rect">
            <a:avLst/>
          </a:prstGeom>
          <a:noFill/>
          <a:ln/>
        </p:spPr>
        <p:txBody>
          <a:bodyPr wrap="square" lIns="0" tIns="0" rIns="0" bIns="0" rtlCol="0" anchor="ctr"/>
          <a:lstStyle/>
          <a:p>
            <a:pPr algn="r" indent="0" marL="0">
              <a:buNone/>
            </a:pPr>
            <a:r>
              <a:rPr lang="en-US" sz="1100" dirty="0">
                <a:solidFill>
                  <a:srgbClr val="87867F"/>
                </a:solidFill>
                <a:latin typeface="Calibri" pitchFamily="34" charset="0"/>
                <a:ea typeface="Calibri" pitchFamily="34" charset="-122"/>
                <a:cs typeface="Calibri" pitchFamily="34" charset="-120"/>
              </a:rPr>
              <a:t>17–19 min</a:t>
            </a:r>
            <a:endParaRPr lang="en-US" sz="1100" dirty="0"/>
          </a:p>
        </p:txBody>
      </p:sp>
      <p:sp>
        <p:nvSpPr>
          <p:cNvPr id="6" name="Shape 4"/>
          <p:cNvSpPr/>
          <p:nvPr/>
        </p:nvSpPr>
        <p:spPr>
          <a:xfrm>
            <a:off x="548640" y="1645920"/>
            <a:ext cx="6583680" cy="3749040"/>
          </a:xfrm>
          <a:prstGeom prst="roundRect">
            <a:avLst>
              <a:gd name="adj" fmla="val 2439"/>
            </a:avLst>
          </a:prstGeom>
          <a:solidFill>
            <a:srgbClr val="1F1E1D"/>
          </a:solidFill>
          <a:ln w="12700">
            <a:solidFill>
              <a:srgbClr val="1F1E1D"/>
            </a:solidFill>
            <a:prstDash val="solid"/>
          </a:ln>
        </p:spPr>
      </p:sp>
      <p:sp>
        <p:nvSpPr>
          <p:cNvPr id="7" name="Text 5"/>
          <p:cNvSpPr txBox="1"/>
          <p:nvPr/>
        </p:nvSpPr>
        <p:spPr>
          <a:xfrm>
            <a:off x="777240" y="1737360"/>
            <a:ext cx="6126480" cy="274320"/>
          </a:xfrm>
          <a:prstGeom prst="rect">
            <a:avLst/>
          </a:prstGeom>
          <a:noFill/>
          <a:ln/>
        </p:spPr>
        <p:txBody>
          <a:bodyPr wrap="square" lIns="0" tIns="0" rIns="0" bIns="0" rtlCol="0" anchor="ctr"/>
          <a:lstStyle/>
          <a:p>
            <a:pPr indent="0" marL="0">
              <a:buNone/>
            </a:pPr>
            <a:r>
              <a:rPr lang="en-US" sz="1000" dirty="0">
                <a:solidFill>
                  <a:srgbClr val="87867F"/>
                </a:solidFill>
                <a:latin typeface="Courier New" pitchFamily="34" charset="0"/>
                <a:ea typeface="Courier New" pitchFamily="34" charset="-122"/>
                <a:cs typeface="Courier New" pitchFamily="34" charset="-120"/>
              </a:rPr>
              <a:t>python</a:t>
            </a:r>
            <a:endParaRPr lang="en-US" sz="1000" dirty="0"/>
          </a:p>
        </p:txBody>
      </p:sp>
      <p:sp>
        <p:nvSpPr>
          <p:cNvPr id="8" name="Text 6"/>
          <p:cNvSpPr txBox="1"/>
          <p:nvPr/>
        </p:nvSpPr>
        <p:spPr>
          <a:xfrm>
            <a:off x="777240" y="2029968"/>
            <a:ext cx="6126480" cy="3246120"/>
          </a:xfrm>
          <a:prstGeom prst="rect">
            <a:avLst/>
          </a:prstGeom>
          <a:noFill/>
          <a:ln/>
        </p:spPr>
        <p:txBody>
          <a:bodyPr wrap="square" lIns="0" tIns="0" rIns="0" bIns="0" rtlCol="0" anchor="t"/>
          <a:lstStyle/>
          <a:p>
            <a:pPr indent="0" marL="0">
              <a:buNone/>
            </a:pPr>
            <a:r>
              <a:rPr lang="en-US" sz="1300" dirty="0">
                <a:solidFill>
                  <a:srgbClr val="F0A98A"/>
                </a:solidFill>
                <a:latin typeface="Courier New" pitchFamily="34" charset="0"/>
                <a:ea typeface="Courier New" pitchFamily="34" charset="-122"/>
                <a:cs typeface="Courier New" pitchFamily="34" charset="-120"/>
              </a:rPr>
              <a:t>import</a:t>
            </a:r>
            <a:pPr indent="0" marL="0">
              <a:buNone/>
            </a:pPr>
            <a:r>
              <a:rPr lang="en-US" sz="1300" dirty="0">
                <a:solidFill>
                  <a:srgbClr val="E8E6DC"/>
                </a:solidFill>
                <a:latin typeface="Courier New" pitchFamily="34" charset="0"/>
                <a:ea typeface="Courier New" pitchFamily="34" charset="-122"/>
                <a:cs typeface="Courier New" pitchFamily="34" charset="-120"/>
              </a:rPr>
              <a:t> anthropic</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client = anthropic.Anthropic()   </a:t>
            </a:r>
            <a:pPr indent="0" marL="0">
              <a:buNone/>
            </a:pPr>
            <a:r>
              <a:rPr lang="en-US" sz="1300" dirty="0">
                <a:solidFill>
                  <a:srgbClr val="87867F"/>
                </a:solidFill>
                <a:latin typeface="Courier New" pitchFamily="34" charset="0"/>
                <a:ea typeface="Courier New" pitchFamily="34" charset="-122"/>
                <a:cs typeface="Courier New" pitchFamily="34" charset="-120"/>
              </a:rPr>
              <a:t># reads ANTHROPIC_API_KEY</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response = client.messages.create(</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    model=</a:t>
            </a:r>
            <a:pPr indent="0" marL="0">
              <a:buNone/>
            </a:pPr>
            <a:r>
              <a:rPr lang="en-US" sz="1300" dirty="0">
                <a:solidFill>
                  <a:srgbClr val="A8C98F"/>
                </a:solidFill>
                <a:latin typeface="Courier New" pitchFamily="34" charset="0"/>
                <a:ea typeface="Courier New" pitchFamily="34" charset="-122"/>
                <a:cs typeface="Courier New" pitchFamily="34" charset="-120"/>
              </a:rPr>
              <a:t>"claude-sonnet-5-5"</a:t>
            </a:r>
            <a:pPr indent="0" marL="0">
              <a:buNone/>
            </a:pPr>
            <a:r>
              <a:rPr lang="en-US" sz="1300" dirty="0">
                <a:solidFill>
                  <a:srgbClr val="E8E6DC"/>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    max_tokens=</a:t>
            </a:r>
            <a:pPr indent="0" marL="0">
              <a:buNone/>
            </a:pPr>
            <a:r>
              <a:rPr lang="en-US" sz="1300" dirty="0">
                <a:solidFill>
                  <a:srgbClr val="8FB8E0"/>
                </a:solidFill>
                <a:latin typeface="Courier New" pitchFamily="34" charset="0"/>
                <a:ea typeface="Courier New" pitchFamily="34" charset="-122"/>
                <a:cs typeface="Courier New" pitchFamily="34" charset="-120"/>
              </a:rPr>
              <a:t>1024</a:t>
            </a:r>
            <a:pPr indent="0" marL="0">
              <a:buNone/>
            </a:pPr>
            <a:r>
              <a:rPr lang="en-US" sz="1300" dirty="0">
                <a:solidFill>
                  <a:srgbClr val="E8E6DC"/>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    system=</a:t>
            </a:r>
            <a:pPr indent="0" marL="0">
              <a:buNone/>
            </a:pPr>
            <a:r>
              <a:rPr lang="en-US" sz="1300" dirty="0">
                <a:solidFill>
                  <a:srgbClr val="A8C98F"/>
                </a:solidFill>
                <a:latin typeface="Courier New" pitchFamily="34" charset="0"/>
                <a:ea typeface="Courier New" pitchFamily="34" charset="-122"/>
                <a:cs typeface="Courier New" pitchFamily="34" charset="-120"/>
              </a:rPr>
              <a:t>"You are a support agent."</a:t>
            </a:r>
            <a:pPr indent="0" marL="0">
              <a:buNone/>
            </a:pPr>
            <a:r>
              <a:rPr lang="en-US" sz="1300" dirty="0">
                <a:solidFill>
                  <a:srgbClr val="E8E6DC"/>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    messages=[</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        {</a:t>
            </a:r>
            <a:pPr indent="0" marL="0">
              <a:buNone/>
            </a:pPr>
            <a:r>
              <a:rPr lang="en-US" sz="1300" dirty="0">
                <a:solidFill>
                  <a:srgbClr val="A8C98F"/>
                </a:solidFill>
                <a:latin typeface="Courier New" pitchFamily="34" charset="0"/>
                <a:ea typeface="Courier New" pitchFamily="34" charset="-122"/>
                <a:cs typeface="Courier New" pitchFamily="34" charset="-120"/>
              </a:rPr>
              <a:t>"role"</a:t>
            </a:r>
            <a:pPr indent="0" marL="0">
              <a:buNone/>
            </a:pPr>
            <a:r>
              <a:rPr lang="en-US" sz="1300" dirty="0">
                <a:solidFill>
                  <a:srgbClr val="E8E6DC"/>
                </a:solidFill>
                <a:latin typeface="Courier New" pitchFamily="34" charset="0"/>
                <a:ea typeface="Courier New" pitchFamily="34" charset="-122"/>
                <a:cs typeface="Courier New" pitchFamily="34" charset="-120"/>
              </a:rPr>
              <a:t>: </a:t>
            </a:r>
            <a:pPr indent="0" marL="0">
              <a:buNone/>
            </a:pPr>
            <a:r>
              <a:rPr lang="en-US" sz="1300" dirty="0">
                <a:solidFill>
                  <a:srgbClr val="A8C98F"/>
                </a:solidFill>
                <a:latin typeface="Courier New" pitchFamily="34" charset="0"/>
                <a:ea typeface="Courier New" pitchFamily="34" charset="-122"/>
                <a:cs typeface="Courier New" pitchFamily="34" charset="-120"/>
              </a:rPr>
              <a:t>"user"</a:t>
            </a:r>
            <a:pPr indent="0" marL="0">
              <a:buNone/>
            </a:pPr>
            <a:r>
              <a:rPr lang="en-US" sz="1300" dirty="0">
                <a:solidFill>
                  <a:srgbClr val="E8E6DC"/>
                </a:solidFill>
                <a:latin typeface="Courier New" pitchFamily="34" charset="0"/>
                <a:ea typeface="Courier New" pitchFamily="34" charset="-122"/>
                <a:cs typeface="Courier New" pitchFamily="34" charset="-120"/>
              </a:rPr>
              <a:t>, </a:t>
            </a:r>
            <a:pPr indent="0" marL="0">
              <a:buNone/>
            </a:pPr>
            <a:r>
              <a:rPr lang="en-US" sz="1300" dirty="0">
                <a:solidFill>
                  <a:srgbClr val="A8C98F"/>
                </a:solidFill>
                <a:latin typeface="Courier New" pitchFamily="34" charset="0"/>
                <a:ea typeface="Courier New" pitchFamily="34" charset="-122"/>
                <a:cs typeface="Courier New" pitchFamily="34" charset="-120"/>
              </a:rPr>
              <a:t>"content"</a:t>
            </a:r>
            <a:pPr indent="0" marL="0">
              <a:buNone/>
            </a:pPr>
            <a:r>
              <a:rPr lang="en-US" sz="1300" dirty="0">
                <a:solidFill>
                  <a:srgbClr val="E8E6DC"/>
                </a:solidFill>
                <a:latin typeface="Courier New" pitchFamily="34" charset="0"/>
                <a:ea typeface="Courier New" pitchFamily="34" charset="-122"/>
                <a:cs typeface="Courier New" pitchFamily="34" charset="-120"/>
              </a:rPr>
              <a:t>: </a:t>
            </a:r>
            <a:pPr indent="0" marL="0">
              <a:buNone/>
            </a:pPr>
            <a:r>
              <a:rPr lang="en-US" sz="1300" dirty="0">
                <a:solidFill>
                  <a:srgbClr val="A8C98F"/>
                </a:solidFill>
                <a:latin typeface="Courier New" pitchFamily="34" charset="0"/>
                <a:ea typeface="Courier New" pitchFamily="34" charset="-122"/>
                <a:cs typeface="Courier New" pitchFamily="34" charset="-120"/>
              </a:rPr>
              <a:t>"Where is order #12345?"</a:t>
            </a:r>
            <a:pPr indent="0" marL="0">
              <a:buNone/>
            </a:pPr>
            <a:r>
              <a:rPr lang="en-US" sz="1300" dirty="0">
                <a:solidFill>
                  <a:srgbClr val="E8E6DC"/>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    tools=tools,      </a:t>
            </a:r>
            <a:pPr indent="0" marL="0">
              <a:buNone/>
            </a:pPr>
            <a:r>
              <a:rPr lang="en-US" sz="1300" dirty="0">
                <a:solidFill>
                  <a:srgbClr val="87867F"/>
                </a:solidFill>
                <a:latin typeface="Courier New" pitchFamily="34" charset="0"/>
                <a:ea typeface="Courier New" pitchFamily="34" charset="-122"/>
                <a:cs typeface="Courier New" pitchFamily="34" charset="-120"/>
              </a:rPr>
              <a:t># optional: tool definitions</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a:t>
            </a:r>
            <a:endParaRPr lang="en-US" sz="1300" dirty="0"/>
          </a:p>
        </p:txBody>
      </p:sp>
      <p:sp>
        <p:nvSpPr>
          <p:cNvPr id="9" name="Shape 7"/>
          <p:cNvSpPr/>
          <p:nvPr/>
        </p:nvSpPr>
        <p:spPr>
          <a:xfrm>
            <a:off x="7452360" y="1691640"/>
            <a:ext cx="347472" cy="347472"/>
          </a:xfrm>
          <a:prstGeom prst="ellipse">
            <a:avLst/>
          </a:prstGeom>
          <a:solidFill>
            <a:srgbClr val="D97757"/>
          </a:solidFill>
          <a:ln w="12700">
            <a:solidFill>
              <a:srgbClr val="D97757"/>
            </a:solidFill>
            <a:prstDash val="solid"/>
          </a:ln>
        </p:spPr>
      </p:sp>
      <p:sp>
        <p:nvSpPr>
          <p:cNvPr id="10" name="Text 8"/>
          <p:cNvSpPr txBox="1"/>
          <p:nvPr/>
        </p:nvSpPr>
        <p:spPr>
          <a:xfrm>
            <a:off x="7452360" y="16916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7955280" y="1645920"/>
            <a:ext cx="3657600" cy="274320"/>
          </a:xfrm>
          <a:prstGeom prst="rect">
            <a:avLst/>
          </a:prstGeom>
          <a:noFill/>
          <a:ln/>
        </p:spPr>
        <p:txBody>
          <a:bodyPr wrap="square" lIns="0" tIns="0" rIns="0" bIns="0" rtlCol="0" anchor="ctr"/>
          <a:lstStyle/>
          <a:p>
            <a:pPr indent="0" marL="0">
              <a:buNone/>
            </a:pPr>
            <a:r>
              <a:rPr lang="en-US" sz="1400" b="1" dirty="0">
                <a:solidFill>
                  <a:srgbClr val="141413"/>
                </a:solidFill>
                <a:latin typeface="Courier New" pitchFamily="34" charset="0"/>
                <a:ea typeface="Courier New" pitchFamily="34" charset="-122"/>
                <a:cs typeface="Courier New" pitchFamily="34" charset="-120"/>
              </a:rPr>
              <a:t>model</a:t>
            </a:r>
            <a:endParaRPr lang="en-US" sz="1400" dirty="0"/>
          </a:p>
        </p:txBody>
      </p:sp>
      <p:sp>
        <p:nvSpPr>
          <p:cNvPr id="12" name="Text 10"/>
          <p:cNvSpPr txBox="1"/>
          <p:nvPr/>
        </p:nvSpPr>
        <p:spPr>
          <a:xfrm>
            <a:off x="7955280" y="1920240"/>
            <a:ext cx="3657600" cy="457200"/>
          </a:xfrm>
          <a:prstGeom prst="rect">
            <a:avLst/>
          </a:prstGeom>
          <a:noFill/>
          <a:ln/>
        </p:spPr>
        <p:txBody>
          <a:bodyPr wrap="square" lIns="0" tIns="0" rIns="0" bIns="0" rtlCol="0" anchor="t"/>
          <a:lstStyle/>
          <a:p>
            <a:pPr indent="0" marL="0">
              <a:buNone/>
            </a:pPr>
            <a:r>
              <a:rPr lang="en-US" sz="1300" dirty="0">
                <a:solidFill>
                  <a:srgbClr val="5E5D59"/>
                </a:solidFill>
                <a:latin typeface="Calibri" pitchFamily="34" charset="0"/>
                <a:ea typeface="Calibri" pitchFamily="34" charset="-122"/>
                <a:cs typeface="Calibri" pitchFamily="34" charset="-120"/>
              </a:rPr>
              <a:t>Which Claude model handles the request.</a:t>
            </a:r>
            <a:endParaRPr lang="en-US" sz="1300" dirty="0"/>
          </a:p>
        </p:txBody>
      </p:sp>
      <p:sp>
        <p:nvSpPr>
          <p:cNvPr id="13" name="Shape 11"/>
          <p:cNvSpPr/>
          <p:nvPr/>
        </p:nvSpPr>
        <p:spPr>
          <a:xfrm>
            <a:off x="7452360" y="2459736"/>
            <a:ext cx="347472" cy="347472"/>
          </a:xfrm>
          <a:prstGeom prst="ellipse">
            <a:avLst/>
          </a:prstGeom>
          <a:solidFill>
            <a:srgbClr val="D97757"/>
          </a:solidFill>
          <a:ln w="12700">
            <a:solidFill>
              <a:srgbClr val="D97757"/>
            </a:solidFill>
            <a:prstDash val="solid"/>
          </a:ln>
        </p:spPr>
      </p:sp>
      <p:sp>
        <p:nvSpPr>
          <p:cNvPr id="14" name="Text 12"/>
          <p:cNvSpPr txBox="1"/>
          <p:nvPr/>
        </p:nvSpPr>
        <p:spPr>
          <a:xfrm>
            <a:off x="7452360" y="245973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7955280" y="2414016"/>
            <a:ext cx="3657600" cy="274320"/>
          </a:xfrm>
          <a:prstGeom prst="rect">
            <a:avLst/>
          </a:prstGeom>
          <a:noFill/>
          <a:ln/>
        </p:spPr>
        <p:txBody>
          <a:bodyPr wrap="square" lIns="0" tIns="0" rIns="0" bIns="0" rtlCol="0" anchor="ctr"/>
          <a:lstStyle/>
          <a:p>
            <a:pPr indent="0" marL="0">
              <a:buNone/>
            </a:pPr>
            <a:r>
              <a:rPr lang="en-US" sz="1400" b="1" dirty="0">
                <a:solidFill>
                  <a:srgbClr val="141413"/>
                </a:solidFill>
                <a:latin typeface="Courier New" pitchFamily="34" charset="0"/>
                <a:ea typeface="Courier New" pitchFamily="34" charset="-122"/>
                <a:cs typeface="Courier New" pitchFamily="34" charset="-120"/>
              </a:rPr>
              <a:t>max_tokens</a:t>
            </a:r>
            <a:endParaRPr lang="en-US" sz="1400" dirty="0"/>
          </a:p>
        </p:txBody>
      </p:sp>
      <p:sp>
        <p:nvSpPr>
          <p:cNvPr id="16" name="Text 14"/>
          <p:cNvSpPr txBox="1"/>
          <p:nvPr/>
        </p:nvSpPr>
        <p:spPr>
          <a:xfrm>
            <a:off x="7955280" y="2688336"/>
            <a:ext cx="3657600" cy="457200"/>
          </a:xfrm>
          <a:prstGeom prst="rect">
            <a:avLst/>
          </a:prstGeom>
          <a:noFill/>
          <a:ln/>
        </p:spPr>
        <p:txBody>
          <a:bodyPr wrap="square" lIns="0" tIns="0" rIns="0" bIns="0" rtlCol="0" anchor="t"/>
          <a:lstStyle/>
          <a:p>
            <a:pPr indent="0" marL="0">
              <a:buNone/>
            </a:pPr>
            <a:r>
              <a:rPr lang="en-US" sz="1300" dirty="0">
                <a:solidFill>
                  <a:srgbClr val="5E5D59"/>
                </a:solidFill>
                <a:latin typeface="Calibri" pitchFamily="34" charset="0"/>
                <a:ea typeface="Calibri" pitchFamily="34" charset="-122"/>
                <a:cs typeface="Calibri" pitchFamily="34" charset="-120"/>
              </a:rPr>
              <a:t>Required. A hard cap on output length.</a:t>
            </a:r>
            <a:endParaRPr lang="en-US" sz="1300" dirty="0"/>
          </a:p>
        </p:txBody>
      </p:sp>
      <p:sp>
        <p:nvSpPr>
          <p:cNvPr id="17" name="Shape 15"/>
          <p:cNvSpPr/>
          <p:nvPr/>
        </p:nvSpPr>
        <p:spPr>
          <a:xfrm>
            <a:off x="7452360" y="3227832"/>
            <a:ext cx="347472" cy="347472"/>
          </a:xfrm>
          <a:prstGeom prst="ellipse">
            <a:avLst/>
          </a:prstGeom>
          <a:solidFill>
            <a:srgbClr val="D97757"/>
          </a:solidFill>
          <a:ln w="12700">
            <a:solidFill>
              <a:srgbClr val="D97757"/>
            </a:solidFill>
            <a:prstDash val="solid"/>
          </a:ln>
        </p:spPr>
      </p:sp>
      <p:sp>
        <p:nvSpPr>
          <p:cNvPr id="18" name="Text 16"/>
          <p:cNvSpPr txBox="1"/>
          <p:nvPr/>
        </p:nvSpPr>
        <p:spPr>
          <a:xfrm>
            <a:off x="7452360" y="322783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7955280" y="3182112"/>
            <a:ext cx="3657600" cy="274320"/>
          </a:xfrm>
          <a:prstGeom prst="rect">
            <a:avLst/>
          </a:prstGeom>
          <a:noFill/>
          <a:ln/>
        </p:spPr>
        <p:txBody>
          <a:bodyPr wrap="square" lIns="0" tIns="0" rIns="0" bIns="0" rtlCol="0" anchor="ctr"/>
          <a:lstStyle/>
          <a:p>
            <a:pPr indent="0" marL="0">
              <a:buNone/>
            </a:pPr>
            <a:r>
              <a:rPr lang="en-US" sz="1400" b="1" dirty="0">
                <a:solidFill>
                  <a:srgbClr val="141413"/>
                </a:solidFill>
                <a:latin typeface="Courier New" pitchFamily="34" charset="0"/>
                <a:ea typeface="Courier New" pitchFamily="34" charset="-122"/>
                <a:cs typeface="Courier New" pitchFamily="34" charset="-120"/>
              </a:rPr>
              <a:t>system</a:t>
            </a:r>
            <a:endParaRPr lang="en-US" sz="1400" dirty="0"/>
          </a:p>
        </p:txBody>
      </p:sp>
      <p:sp>
        <p:nvSpPr>
          <p:cNvPr id="20" name="Text 18"/>
          <p:cNvSpPr txBox="1"/>
          <p:nvPr/>
        </p:nvSpPr>
        <p:spPr>
          <a:xfrm>
            <a:off x="7955280" y="3456432"/>
            <a:ext cx="3657600" cy="457200"/>
          </a:xfrm>
          <a:prstGeom prst="rect">
            <a:avLst/>
          </a:prstGeom>
          <a:noFill/>
          <a:ln/>
        </p:spPr>
        <p:txBody>
          <a:bodyPr wrap="square" lIns="0" tIns="0" rIns="0" bIns="0" rtlCol="0" anchor="t"/>
          <a:lstStyle/>
          <a:p>
            <a:pPr indent="0" marL="0">
              <a:buNone/>
            </a:pPr>
            <a:r>
              <a:rPr lang="en-US" sz="1300" dirty="0">
                <a:solidFill>
                  <a:srgbClr val="5E5D59"/>
                </a:solidFill>
                <a:latin typeface="Calibri" pitchFamily="34" charset="0"/>
                <a:ea typeface="Calibri" pitchFamily="34" charset="-122"/>
                <a:cs typeface="Calibri" pitchFamily="34" charset="-120"/>
              </a:rPr>
              <a:t>Role and rules. Kept separate from the conversation.</a:t>
            </a:r>
            <a:endParaRPr lang="en-US" sz="1300" dirty="0"/>
          </a:p>
        </p:txBody>
      </p:sp>
      <p:sp>
        <p:nvSpPr>
          <p:cNvPr id="21" name="Shape 19"/>
          <p:cNvSpPr/>
          <p:nvPr/>
        </p:nvSpPr>
        <p:spPr>
          <a:xfrm>
            <a:off x="7452360" y="3995928"/>
            <a:ext cx="347472" cy="347472"/>
          </a:xfrm>
          <a:prstGeom prst="ellipse">
            <a:avLst/>
          </a:prstGeom>
          <a:solidFill>
            <a:srgbClr val="D97757"/>
          </a:solidFill>
          <a:ln w="12700">
            <a:solidFill>
              <a:srgbClr val="D97757"/>
            </a:solidFill>
            <a:prstDash val="solid"/>
          </a:ln>
        </p:spPr>
      </p:sp>
      <p:sp>
        <p:nvSpPr>
          <p:cNvPr id="22" name="Text 20"/>
          <p:cNvSpPr txBox="1"/>
          <p:nvPr/>
        </p:nvSpPr>
        <p:spPr>
          <a:xfrm>
            <a:off x="7452360" y="399592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7955280" y="3950208"/>
            <a:ext cx="3657600" cy="274320"/>
          </a:xfrm>
          <a:prstGeom prst="rect">
            <a:avLst/>
          </a:prstGeom>
          <a:noFill/>
          <a:ln/>
        </p:spPr>
        <p:txBody>
          <a:bodyPr wrap="square" lIns="0" tIns="0" rIns="0" bIns="0" rtlCol="0" anchor="ctr"/>
          <a:lstStyle/>
          <a:p>
            <a:pPr indent="0" marL="0">
              <a:buNone/>
            </a:pPr>
            <a:r>
              <a:rPr lang="en-US" sz="1400" b="1" dirty="0">
                <a:solidFill>
                  <a:srgbClr val="141413"/>
                </a:solidFill>
                <a:latin typeface="Courier New" pitchFamily="34" charset="0"/>
                <a:ea typeface="Courier New" pitchFamily="34" charset="-122"/>
                <a:cs typeface="Courier New" pitchFamily="34" charset="-120"/>
              </a:rPr>
              <a:t>messages</a:t>
            </a:r>
            <a:endParaRPr lang="en-US" sz="1400" dirty="0"/>
          </a:p>
        </p:txBody>
      </p:sp>
      <p:sp>
        <p:nvSpPr>
          <p:cNvPr id="24" name="Text 22"/>
          <p:cNvSpPr txBox="1"/>
          <p:nvPr/>
        </p:nvSpPr>
        <p:spPr>
          <a:xfrm>
            <a:off x="7955280" y="4224528"/>
            <a:ext cx="3657600" cy="457200"/>
          </a:xfrm>
          <a:prstGeom prst="rect">
            <a:avLst/>
          </a:prstGeom>
          <a:noFill/>
          <a:ln/>
        </p:spPr>
        <p:txBody>
          <a:bodyPr wrap="square" lIns="0" tIns="0" rIns="0" bIns="0" rtlCol="0" anchor="t"/>
          <a:lstStyle/>
          <a:p>
            <a:pPr indent="0" marL="0">
              <a:buNone/>
            </a:pPr>
            <a:r>
              <a:rPr lang="en-US" sz="1300" dirty="0">
                <a:solidFill>
                  <a:srgbClr val="5E5D59"/>
                </a:solidFill>
                <a:latin typeface="Calibri" pitchFamily="34" charset="0"/>
                <a:ea typeface="Calibri" pitchFamily="34" charset="-122"/>
                <a:cs typeface="Calibri" pitchFamily="34" charset="-120"/>
              </a:rPr>
              <a:t>The conversation so far, alternating user and assistant turns.</a:t>
            </a:r>
            <a:endParaRPr lang="en-US" sz="1300" dirty="0"/>
          </a:p>
        </p:txBody>
      </p:sp>
      <p:sp>
        <p:nvSpPr>
          <p:cNvPr id="25" name="Shape 23"/>
          <p:cNvSpPr/>
          <p:nvPr/>
        </p:nvSpPr>
        <p:spPr>
          <a:xfrm>
            <a:off x="7452360" y="4764024"/>
            <a:ext cx="347472" cy="347472"/>
          </a:xfrm>
          <a:prstGeom prst="ellipse">
            <a:avLst/>
          </a:prstGeom>
          <a:solidFill>
            <a:srgbClr val="D97757"/>
          </a:solidFill>
          <a:ln w="12700">
            <a:solidFill>
              <a:srgbClr val="D97757"/>
            </a:solidFill>
            <a:prstDash val="solid"/>
          </a:ln>
        </p:spPr>
      </p:sp>
      <p:sp>
        <p:nvSpPr>
          <p:cNvPr id="26" name="Text 24"/>
          <p:cNvSpPr txBox="1"/>
          <p:nvPr/>
        </p:nvSpPr>
        <p:spPr>
          <a:xfrm>
            <a:off x="7452360" y="476402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7955280" y="4718304"/>
            <a:ext cx="3657600" cy="274320"/>
          </a:xfrm>
          <a:prstGeom prst="rect">
            <a:avLst/>
          </a:prstGeom>
          <a:noFill/>
          <a:ln/>
        </p:spPr>
        <p:txBody>
          <a:bodyPr wrap="square" lIns="0" tIns="0" rIns="0" bIns="0" rtlCol="0" anchor="ctr"/>
          <a:lstStyle/>
          <a:p>
            <a:pPr indent="0" marL="0">
              <a:buNone/>
            </a:pPr>
            <a:r>
              <a:rPr lang="en-US" sz="1400" b="1" dirty="0">
                <a:solidFill>
                  <a:srgbClr val="141413"/>
                </a:solidFill>
                <a:latin typeface="Courier New" pitchFamily="34" charset="0"/>
                <a:ea typeface="Courier New" pitchFamily="34" charset="-122"/>
                <a:cs typeface="Courier New" pitchFamily="34" charset="-120"/>
              </a:rPr>
              <a:t>tools</a:t>
            </a:r>
            <a:endParaRPr lang="en-US" sz="1400" dirty="0"/>
          </a:p>
        </p:txBody>
      </p:sp>
      <p:sp>
        <p:nvSpPr>
          <p:cNvPr id="28" name="Text 26"/>
          <p:cNvSpPr txBox="1"/>
          <p:nvPr/>
        </p:nvSpPr>
        <p:spPr>
          <a:xfrm>
            <a:off x="7955280" y="4992624"/>
            <a:ext cx="3657600" cy="457200"/>
          </a:xfrm>
          <a:prstGeom prst="rect">
            <a:avLst/>
          </a:prstGeom>
          <a:noFill/>
          <a:ln/>
        </p:spPr>
        <p:txBody>
          <a:bodyPr wrap="square" lIns="0" tIns="0" rIns="0" bIns="0" rtlCol="0" anchor="t"/>
          <a:lstStyle/>
          <a:p>
            <a:pPr indent="0" marL="0">
              <a:buNone/>
            </a:pPr>
            <a:r>
              <a:rPr lang="en-US" sz="1300" dirty="0">
                <a:solidFill>
                  <a:srgbClr val="5E5D59"/>
                </a:solidFill>
                <a:latin typeface="Calibri" pitchFamily="34" charset="0"/>
                <a:ea typeface="Calibri" pitchFamily="34" charset="-122"/>
                <a:cs typeface="Calibri" pitchFamily="34" charset="-120"/>
              </a:rPr>
              <a:t>Optional. What Claude is allowed to ask your code to do.</a:t>
            </a:r>
            <a:endParaRPr lang="en-US" sz="1300" dirty="0"/>
          </a:p>
        </p:txBody>
      </p:sp>
      <p:sp>
        <p:nvSpPr>
          <p:cNvPr id="29" name="Shape 27"/>
          <p:cNvSpPr/>
          <p:nvPr/>
        </p:nvSpPr>
        <p:spPr>
          <a:xfrm>
            <a:off x="548640" y="5577840"/>
            <a:ext cx="11091672" cy="640080"/>
          </a:xfrm>
          <a:prstGeom prst="roundRect">
            <a:avLst>
              <a:gd name="adj" fmla="val 17143"/>
            </a:avLst>
          </a:prstGeom>
          <a:solidFill>
            <a:srgbClr val="F6E4DB"/>
          </a:solidFill>
          <a:ln w="9525">
            <a:solidFill>
              <a:srgbClr val="F6E4DB"/>
            </a:solidFill>
            <a:prstDash val="solid"/>
          </a:ln>
        </p:spPr>
      </p:sp>
      <p:sp>
        <p:nvSpPr>
          <p:cNvPr id="30" name="Text 28"/>
          <p:cNvSpPr txBox="1"/>
          <p:nvPr/>
        </p:nvSpPr>
        <p:spPr>
          <a:xfrm>
            <a:off x="822960" y="5577840"/>
            <a:ext cx="10515600" cy="640080"/>
          </a:xfrm>
          <a:prstGeom prst="rect">
            <a:avLst/>
          </a:prstGeom>
          <a:noFill/>
          <a:ln/>
        </p:spPr>
        <p:txBody>
          <a:bodyPr wrap="square" lIns="0" tIns="0" rIns="0" bIns="0" rtlCol="0" anchor="ctr"/>
          <a:lstStyle/>
          <a:p>
            <a:pPr indent="0" marL="0">
              <a:buNone/>
            </a:pPr>
            <a:r>
              <a:rPr lang="en-US" sz="1400" dirty="0">
                <a:solidFill>
                  <a:srgbClr val="141413"/>
                </a:solidFill>
                <a:latin typeface="Calibri" pitchFamily="34" charset="0"/>
                <a:ea typeface="Calibri" pitchFamily="34" charset="-122"/>
                <a:cs typeface="Calibri" pitchFamily="34" charset="-120"/>
              </a:rPr>
              <a:t>The system prompt shapes behavior, but it is guidance. Guarantees come from code (a theme that returns in Session 6).</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548640" y="365760"/>
            <a:ext cx="8686800" cy="274320"/>
          </a:xfrm>
          <a:prstGeom prst="rect">
            <a:avLst/>
          </a:prstGeom>
          <a:noFill/>
          <a:ln/>
        </p:spPr>
        <p:txBody>
          <a:bodyPr wrap="square" lIns="0" tIns="0" rIns="0" bIns="0"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CLAUDE API ESSENTIALS</a:t>
            </a:r>
            <a:endParaRPr lang="en-US" sz="1200" dirty="0"/>
          </a:p>
        </p:txBody>
      </p:sp>
      <p:sp>
        <p:nvSpPr>
          <p:cNvPr id="3" name="Text 1"/>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200" dirty="0">
                <a:solidFill>
                  <a:srgbClr val="141413"/>
                </a:solidFill>
                <a:latin typeface="Cambria" pitchFamily="34" charset="0"/>
                <a:ea typeface="Cambria" pitchFamily="34" charset="-122"/>
                <a:cs typeface="Cambria" pitchFamily="34" charset="-120"/>
              </a:rPr>
              <a:t>Anatomy of a response: a list of content blocks</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87867F"/>
                </a:solidFill>
                <a:latin typeface="Calibri" pitchFamily="34" charset="0"/>
                <a:ea typeface="Calibri" pitchFamily="34" charset="-122"/>
                <a:cs typeface="Calibri" pitchFamily="34" charset="-120"/>
              </a:rPr>
              <a:t>CCAR-F Skills Curriculum  ·  Session 1  ·  11</a:t>
            </a:r>
            <a:endParaRPr lang="en-US" sz="1000" dirty="0"/>
          </a:p>
        </p:txBody>
      </p:sp>
      <p:sp>
        <p:nvSpPr>
          <p:cNvPr id="5" name="Text 3"/>
          <p:cNvSpPr txBox="1"/>
          <p:nvPr/>
        </p:nvSpPr>
        <p:spPr>
          <a:xfrm>
            <a:off x="8869680" y="365760"/>
            <a:ext cx="2770632" cy="274320"/>
          </a:xfrm>
          <a:prstGeom prst="rect">
            <a:avLst/>
          </a:prstGeom>
          <a:noFill/>
          <a:ln/>
        </p:spPr>
        <p:txBody>
          <a:bodyPr wrap="square" lIns="0" tIns="0" rIns="0" bIns="0" rtlCol="0" anchor="ctr"/>
          <a:lstStyle/>
          <a:p>
            <a:pPr algn="r" indent="0" marL="0">
              <a:buNone/>
            </a:pPr>
            <a:r>
              <a:rPr lang="en-US" sz="1100" dirty="0">
                <a:solidFill>
                  <a:srgbClr val="87867F"/>
                </a:solidFill>
                <a:latin typeface="Calibri" pitchFamily="34" charset="0"/>
                <a:ea typeface="Calibri" pitchFamily="34" charset="-122"/>
                <a:cs typeface="Calibri" pitchFamily="34" charset="-120"/>
              </a:rPr>
              <a:t>19–21 min</a:t>
            </a:r>
            <a:endParaRPr lang="en-US" sz="1100" dirty="0"/>
          </a:p>
        </p:txBody>
      </p:sp>
      <p:sp>
        <p:nvSpPr>
          <p:cNvPr id="6" name="Shape 4"/>
          <p:cNvSpPr/>
          <p:nvPr/>
        </p:nvSpPr>
        <p:spPr>
          <a:xfrm>
            <a:off x="548640" y="1645920"/>
            <a:ext cx="6583680" cy="3931920"/>
          </a:xfrm>
          <a:prstGeom prst="roundRect">
            <a:avLst>
              <a:gd name="adj" fmla="val 2326"/>
            </a:avLst>
          </a:prstGeom>
          <a:solidFill>
            <a:srgbClr val="1F1E1D"/>
          </a:solidFill>
          <a:ln w="12700">
            <a:solidFill>
              <a:srgbClr val="1F1E1D"/>
            </a:solidFill>
            <a:prstDash val="solid"/>
          </a:ln>
        </p:spPr>
      </p:sp>
      <p:sp>
        <p:nvSpPr>
          <p:cNvPr id="7" name="Text 5"/>
          <p:cNvSpPr txBox="1"/>
          <p:nvPr/>
        </p:nvSpPr>
        <p:spPr>
          <a:xfrm>
            <a:off x="777240" y="1737360"/>
            <a:ext cx="6126480" cy="274320"/>
          </a:xfrm>
          <a:prstGeom prst="rect">
            <a:avLst/>
          </a:prstGeom>
          <a:noFill/>
          <a:ln/>
        </p:spPr>
        <p:txBody>
          <a:bodyPr wrap="square" lIns="0" tIns="0" rIns="0" bIns="0" rtlCol="0" anchor="ctr"/>
          <a:lstStyle/>
          <a:p>
            <a:pPr indent="0" marL="0">
              <a:buNone/>
            </a:pPr>
            <a:r>
              <a:rPr lang="en-US" sz="1000" dirty="0">
                <a:solidFill>
                  <a:srgbClr val="87867F"/>
                </a:solidFill>
                <a:latin typeface="Courier New" pitchFamily="34" charset="0"/>
                <a:ea typeface="Courier New" pitchFamily="34" charset="-122"/>
                <a:cs typeface="Courier New" pitchFamily="34" charset="-120"/>
              </a:rPr>
              <a:t>json</a:t>
            </a:r>
            <a:endParaRPr lang="en-US" sz="1000" dirty="0"/>
          </a:p>
        </p:txBody>
      </p:sp>
      <p:sp>
        <p:nvSpPr>
          <p:cNvPr id="8" name="Text 6"/>
          <p:cNvSpPr txBox="1"/>
          <p:nvPr/>
        </p:nvSpPr>
        <p:spPr>
          <a:xfrm>
            <a:off x="777240" y="2029968"/>
            <a:ext cx="6126480" cy="3429000"/>
          </a:xfrm>
          <a:prstGeom prst="rect">
            <a:avLst/>
          </a:prstGeom>
          <a:noFill/>
          <a:ln/>
        </p:spPr>
        <p:txBody>
          <a:bodyPr wrap="square" lIns="0" tIns="0" rIns="0" bIns="0" rtlCol="0" anchor="t"/>
          <a:lstStyle/>
          <a:p>
            <a:pPr indent="0" marL="0">
              <a:buNone/>
            </a:pPr>
            <a:r>
              <a:rPr lang="en-US" sz="1250" dirty="0">
                <a:solidFill>
                  <a:srgbClr val="E8E6DC"/>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E8E6DC"/>
                </a:solidFill>
                <a:latin typeface="Courier New" pitchFamily="34" charset="0"/>
                <a:ea typeface="Courier New" pitchFamily="34" charset="-122"/>
                <a:cs typeface="Courier New" pitchFamily="34" charset="-120"/>
              </a:rPr>
              <a:t>  </a:t>
            </a:r>
            <a:pPr indent="0" marL="0">
              <a:buNone/>
            </a:pPr>
            <a:r>
              <a:rPr lang="en-US" sz="1250" dirty="0">
                <a:solidFill>
                  <a:srgbClr val="A8C98F"/>
                </a:solidFill>
                <a:latin typeface="Courier New" pitchFamily="34" charset="0"/>
                <a:ea typeface="Courier New" pitchFamily="34" charset="-122"/>
                <a:cs typeface="Courier New" pitchFamily="34" charset="-120"/>
              </a:rPr>
              <a:t>"id"</a:t>
            </a:r>
            <a:pPr indent="0" marL="0">
              <a:buNone/>
            </a:pPr>
            <a:r>
              <a:rPr lang="en-US" sz="1250" dirty="0">
                <a:solidFill>
                  <a:srgbClr val="E8E6DC"/>
                </a:solidFill>
                <a:latin typeface="Courier New" pitchFamily="34" charset="0"/>
                <a:ea typeface="Courier New" pitchFamily="34" charset="-122"/>
                <a:cs typeface="Courier New" pitchFamily="34" charset="-120"/>
              </a:rPr>
              <a:t>: </a:t>
            </a:r>
            <a:pPr indent="0" marL="0">
              <a:buNone/>
            </a:pPr>
            <a:r>
              <a:rPr lang="en-US" sz="1250" dirty="0">
                <a:solidFill>
                  <a:srgbClr val="A8C98F"/>
                </a:solidFill>
                <a:latin typeface="Courier New" pitchFamily="34" charset="0"/>
                <a:ea typeface="Courier New" pitchFamily="34" charset="-122"/>
                <a:cs typeface="Courier New" pitchFamily="34" charset="-120"/>
              </a:rPr>
              <a:t>"msg_01..."</a:t>
            </a:r>
            <a:pPr indent="0" marL="0">
              <a:buNone/>
            </a:pPr>
            <a:r>
              <a:rPr lang="en-US" sz="1250" dirty="0">
                <a:solidFill>
                  <a:srgbClr val="E8E6DC"/>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E8E6DC"/>
                </a:solidFill>
                <a:latin typeface="Courier New" pitchFamily="34" charset="0"/>
                <a:ea typeface="Courier New" pitchFamily="34" charset="-122"/>
                <a:cs typeface="Courier New" pitchFamily="34" charset="-120"/>
              </a:rPr>
              <a:t>  </a:t>
            </a:r>
            <a:pPr indent="0" marL="0">
              <a:buNone/>
            </a:pPr>
            <a:r>
              <a:rPr lang="en-US" sz="1250" dirty="0">
                <a:solidFill>
                  <a:srgbClr val="A8C98F"/>
                </a:solidFill>
                <a:latin typeface="Courier New" pitchFamily="34" charset="0"/>
                <a:ea typeface="Courier New" pitchFamily="34" charset="-122"/>
                <a:cs typeface="Courier New" pitchFamily="34" charset="-120"/>
              </a:rPr>
              <a:t>"role"</a:t>
            </a:r>
            <a:pPr indent="0" marL="0">
              <a:buNone/>
            </a:pPr>
            <a:r>
              <a:rPr lang="en-US" sz="1250" dirty="0">
                <a:solidFill>
                  <a:srgbClr val="E8E6DC"/>
                </a:solidFill>
                <a:latin typeface="Courier New" pitchFamily="34" charset="0"/>
                <a:ea typeface="Courier New" pitchFamily="34" charset="-122"/>
                <a:cs typeface="Courier New" pitchFamily="34" charset="-120"/>
              </a:rPr>
              <a:t>: </a:t>
            </a:r>
            <a:pPr indent="0" marL="0">
              <a:buNone/>
            </a:pPr>
            <a:r>
              <a:rPr lang="en-US" sz="1250" dirty="0">
                <a:solidFill>
                  <a:srgbClr val="A8C98F"/>
                </a:solidFill>
                <a:latin typeface="Courier New" pitchFamily="34" charset="0"/>
                <a:ea typeface="Courier New" pitchFamily="34" charset="-122"/>
                <a:cs typeface="Courier New" pitchFamily="34" charset="-120"/>
              </a:rPr>
              <a:t>"assistant"</a:t>
            </a:r>
            <a:pPr indent="0" marL="0">
              <a:buNone/>
            </a:pPr>
            <a:r>
              <a:rPr lang="en-US" sz="1250" dirty="0">
                <a:solidFill>
                  <a:srgbClr val="E8E6DC"/>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E8E6DC"/>
                </a:solidFill>
                <a:latin typeface="Courier New" pitchFamily="34" charset="0"/>
                <a:ea typeface="Courier New" pitchFamily="34" charset="-122"/>
                <a:cs typeface="Courier New" pitchFamily="34" charset="-120"/>
              </a:rPr>
              <a:t>  </a:t>
            </a:r>
            <a:pPr indent="0" marL="0">
              <a:buNone/>
            </a:pPr>
            <a:r>
              <a:rPr lang="en-US" sz="1250" dirty="0">
                <a:solidFill>
                  <a:srgbClr val="A8C98F"/>
                </a:solidFill>
                <a:latin typeface="Courier New" pitchFamily="34" charset="0"/>
                <a:ea typeface="Courier New" pitchFamily="34" charset="-122"/>
                <a:cs typeface="Courier New" pitchFamily="34" charset="-120"/>
              </a:rPr>
              <a:t>"content"</a:t>
            </a:r>
            <a:pPr indent="0" marL="0">
              <a:buNone/>
            </a:pPr>
            <a:r>
              <a:rPr lang="en-US" sz="1250" dirty="0">
                <a:solidFill>
                  <a:srgbClr val="E8E6DC"/>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8E6DC"/>
                </a:solidFill>
                <a:latin typeface="Courier New" pitchFamily="34" charset="0"/>
                <a:ea typeface="Courier New" pitchFamily="34" charset="-122"/>
                <a:cs typeface="Courier New" pitchFamily="34" charset="-120"/>
              </a:rPr>
              <a:t>    { </a:t>
            </a:r>
            <a:pPr indent="0" marL="0">
              <a:buNone/>
            </a:pPr>
            <a:r>
              <a:rPr lang="en-US" sz="1250" dirty="0">
                <a:solidFill>
                  <a:srgbClr val="A8C98F"/>
                </a:solidFill>
                <a:latin typeface="Courier New" pitchFamily="34" charset="0"/>
                <a:ea typeface="Courier New" pitchFamily="34" charset="-122"/>
                <a:cs typeface="Courier New" pitchFamily="34" charset="-120"/>
              </a:rPr>
              <a:t>"type"</a:t>
            </a:r>
            <a:pPr indent="0" marL="0">
              <a:buNone/>
            </a:pPr>
            <a:r>
              <a:rPr lang="en-US" sz="1250" dirty="0">
                <a:solidFill>
                  <a:srgbClr val="E8E6DC"/>
                </a:solidFill>
                <a:latin typeface="Courier New" pitchFamily="34" charset="0"/>
                <a:ea typeface="Courier New" pitchFamily="34" charset="-122"/>
                <a:cs typeface="Courier New" pitchFamily="34" charset="-120"/>
              </a:rPr>
              <a:t>: </a:t>
            </a:r>
            <a:pPr indent="0" marL="0">
              <a:buNone/>
            </a:pPr>
            <a:r>
              <a:rPr lang="en-US" sz="1250" dirty="0">
                <a:solidFill>
                  <a:srgbClr val="A8C98F"/>
                </a:solidFill>
                <a:latin typeface="Courier New" pitchFamily="34" charset="0"/>
                <a:ea typeface="Courier New" pitchFamily="34" charset="-122"/>
                <a:cs typeface="Courier New" pitchFamily="34" charset="-120"/>
              </a:rPr>
              <a:t>"text"</a:t>
            </a:r>
            <a:pPr indent="0" marL="0">
              <a:buNone/>
            </a:pPr>
            <a:r>
              <a:rPr lang="en-US" sz="1250" dirty="0">
                <a:solidFill>
                  <a:srgbClr val="E8E6DC"/>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E8E6DC"/>
                </a:solidFill>
                <a:latin typeface="Courier New" pitchFamily="34" charset="0"/>
                <a:ea typeface="Courier New" pitchFamily="34" charset="-122"/>
                <a:cs typeface="Courier New" pitchFamily="34" charset="-120"/>
              </a:rPr>
              <a:t>      </a:t>
            </a:r>
            <a:pPr indent="0" marL="0">
              <a:buNone/>
            </a:pPr>
            <a:r>
              <a:rPr lang="en-US" sz="1250" dirty="0">
                <a:solidFill>
                  <a:srgbClr val="A8C98F"/>
                </a:solidFill>
                <a:latin typeface="Courier New" pitchFamily="34" charset="0"/>
                <a:ea typeface="Courier New" pitchFamily="34" charset="-122"/>
                <a:cs typeface="Courier New" pitchFamily="34" charset="-120"/>
              </a:rPr>
              <a:t>"text"</a:t>
            </a:r>
            <a:pPr indent="0" marL="0">
              <a:buNone/>
            </a:pPr>
            <a:r>
              <a:rPr lang="en-US" sz="1250" dirty="0">
                <a:solidFill>
                  <a:srgbClr val="E8E6DC"/>
                </a:solidFill>
                <a:latin typeface="Courier New" pitchFamily="34" charset="0"/>
                <a:ea typeface="Courier New" pitchFamily="34" charset="-122"/>
                <a:cs typeface="Courier New" pitchFamily="34" charset="-120"/>
              </a:rPr>
              <a:t>: </a:t>
            </a:r>
            <a:pPr indent="0" marL="0">
              <a:buNone/>
            </a:pPr>
            <a:r>
              <a:rPr lang="en-US" sz="1250" dirty="0">
                <a:solidFill>
                  <a:srgbClr val="A8C98F"/>
                </a:solidFill>
                <a:latin typeface="Courier New" pitchFamily="34" charset="0"/>
                <a:ea typeface="Courier New" pitchFamily="34" charset="-122"/>
                <a:cs typeface="Courier New" pitchFamily="34" charset="-120"/>
              </a:rPr>
              <a:t>"I'll look that up for you."</a:t>
            </a:r>
            <a:pPr indent="0" marL="0">
              <a:buNone/>
            </a:pPr>
            <a:r>
              <a:rPr lang="en-US" sz="1250" dirty="0">
                <a:solidFill>
                  <a:srgbClr val="E8E6DC"/>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8E6DC"/>
                </a:solidFill>
                <a:latin typeface="Courier New" pitchFamily="34" charset="0"/>
                <a:ea typeface="Courier New" pitchFamily="34" charset="-122"/>
                <a:cs typeface="Courier New" pitchFamily="34" charset="-120"/>
              </a:rPr>
              <a:t>    { </a:t>
            </a:r>
            <a:pPr indent="0" marL="0">
              <a:buNone/>
            </a:pPr>
            <a:r>
              <a:rPr lang="en-US" sz="1250" dirty="0">
                <a:solidFill>
                  <a:srgbClr val="A8C98F"/>
                </a:solidFill>
                <a:latin typeface="Courier New" pitchFamily="34" charset="0"/>
                <a:ea typeface="Courier New" pitchFamily="34" charset="-122"/>
                <a:cs typeface="Courier New" pitchFamily="34" charset="-120"/>
              </a:rPr>
              <a:t>"type"</a:t>
            </a:r>
            <a:pPr indent="0" marL="0">
              <a:buNone/>
            </a:pPr>
            <a:r>
              <a:rPr lang="en-US" sz="1250" dirty="0">
                <a:solidFill>
                  <a:srgbClr val="E8E6DC"/>
                </a:solidFill>
                <a:latin typeface="Courier New" pitchFamily="34" charset="0"/>
                <a:ea typeface="Courier New" pitchFamily="34" charset="-122"/>
                <a:cs typeface="Courier New" pitchFamily="34" charset="-120"/>
              </a:rPr>
              <a:t>: </a:t>
            </a:r>
            <a:pPr indent="0" marL="0">
              <a:buNone/>
            </a:pPr>
            <a:r>
              <a:rPr lang="en-US" sz="1250" dirty="0">
                <a:solidFill>
                  <a:srgbClr val="A8C98F"/>
                </a:solidFill>
                <a:latin typeface="Courier New" pitchFamily="34" charset="0"/>
                <a:ea typeface="Courier New" pitchFamily="34" charset="-122"/>
                <a:cs typeface="Courier New" pitchFamily="34" charset="-120"/>
              </a:rPr>
              <a:t>"tool_use"</a:t>
            </a:r>
            <a:pPr indent="0" marL="0">
              <a:buNone/>
            </a:pPr>
            <a:r>
              <a:rPr lang="en-US" sz="1250" dirty="0">
                <a:solidFill>
                  <a:srgbClr val="E8E6DC"/>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E8E6DC"/>
                </a:solidFill>
                <a:latin typeface="Courier New" pitchFamily="34" charset="0"/>
                <a:ea typeface="Courier New" pitchFamily="34" charset="-122"/>
                <a:cs typeface="Courier New" pitchFamily="34" charset="-120"/>
              </a:rPr>
              <a:t>      </a:t>
            </a:r>
            <a:pPr indent="0" marL="0">
              <a:buNone/>
            </a:pPr>
            <a:r>
              <a:rPr lang="en-US" sz="1250" dirty="0">
                <a:solidFill>
                  <a:srgbClr val="A8C98F"/>
                </a:solidFill>
                <a:latin typeface="Courier New" pitchFamily="34" charset="0"/>
                <a:ea typeface="Courier New" pitchFamily="34" charset="-122"/>
                <a:cs typeface="Courier New" pitchFamily="34" charset="-120"/>
              </a:rPr>
              <a:t>"id"</a:t>
            </a:r>
            <a:pPr indent="0" marL="0">
              <a:buNone/>
            </a:pPr>
            <a:r>
              <a:rPr lang="en-US" sz="1250" dirty="0">
                <a:solidFill>
                  <a:srgbClr val="E8E6DC"/>
                </a:solidFill>
                <a:latin typeface="Courier New" pitchFamily="34" charset="0"/>
                <a:ea typeface="Courier New" pitchFamily="34" charset="-122"/>
                <a:cs typeface="Courier New" pitchFamily="34" charset="-120"/>
              </a:rPr>
              <a:t>: </a:t>
            </a:r>
            <a:pPr indent="0" marL="0">
              <a:buNone/>
            </a:pPr>
            <a:r>
              <a:rPr lang="en-US" sz="1250" dirty="0">
                <a:solidFill>
                  <a:srgbClr val="A8C98F"/>
                </a:solidFill>
                <a:latin typeface="Courier New" pitchFamily="34" charset="0"/>
                <a:ea typeface="Courier New" pitchFamily="34" charset="-122"/>
                <a:cs typeface="Courier New" pitchFamily="34" charset="-120"/>
              </a:rPr>
              <a:t>"toolu_01A09q..."</a:t>
            </a:r>
            <a:pPr indent="0" marL="0">
              <a:buNone/>
            </a:pPr>
            <a:r>
              <a:rPr lang="en-US" sz="1250" dirty="0">
                <a:solidFill>
                  <a:srgbClr val="E8E6DC"/>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E8E6DC"/>
                </a:solidFill>
                <a:latin typeface="Courier New" pitchFamily="34" charset="0"/>
                <a:ea typeface="Courier New" pitchFamily="34" charset="-122"/>
                <a:cs typeface="Courier New" pitchFamily="34" charset="-120"/>
              </a:rPr>
              <a:t>      </a:t>
            </a:r>
            <a:pPr indent="0" marL="0">
              <a:buNone/>
            </a:pPr>
            <a:r>
              <a:rPr lang="en-US" sz="1250" dirty="0">
                <a:solidFill>
                  <a:srgbClr val="A8C98F"/>
                </a:solidFill>
                <a:latin typeface="Courier New" pitchFamily="34" charset="0"/>
                <a:ea typeface="Courier New" pitchFamily="34" charset="-122"/>
                <a:cs typeface="Courier New" pitchFamily="34" charset="-120"/>
              </a:rPr>
              <a:t>"name"</a:t>
            </a:r>
            <a:pPr indent="0" marL="0">
              <a:buNone/>
            </a:pPr>
            <a:r>
              <a:rPr lang="en-US" sz="1250" dirty="0">
                <a:solidFill>
                  <a:srgbClr val="E8E6DC"/>
                </a:solidFill>
                <a:latin typeface="Courier New" pitchFamily="34" charset="0"/>
                <a:ea typeface="Courier New" pitchFamily="34" charset="-122"/>
                <a:cs typeface="Courier New" pitchFamily="34" charset="-120"/>
              </a:rPr>
              <a:t>: </a:t>
            </a:r>
            <a:pPr indent="0" marL="0">
              <a:buNone/>
            </a:pPr>
            <a:r>
              <a:rPr lang="en-US" sz="1250" dirty="0">
                <a:solidFill>
                  <a:srgbClr val="A8C98F"/>
                </a:solidFill>
                <a:latin typeface="Courier New" pitchFamily="34" charset="0"/>
                <a:ea typeface="Courier New" pitchFamily="34" charset="-122"/>
                <a:cs typeface="Courier New" pitchFamily="34" charset="-120"/>
              </a:rPr>
              <a:t>"lookup_order"</a:t>
            </a:r>
            <a:pPr indent="0" marL="0">
              <a:buNone/>
            </a:pPr>
            <a:r>
              <a:rPr lang="en-US" sz="1250" dirty="0">
                <a:solidFill>
                  <a:srgbClr val="E8E6DC"/>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E8E6DC"/>
                </a:solidFill>
                <a:latin typeface="Courier New" pitchFamily="34" charset="0"/>
                <a:ea typeface="Courier New" pitchFamily="34" charset="-122"/>
                <a:cs typeface="Courier New" pitchFamily="34" charset="-120"/>
              </a:rPr>
              <a:t>      </a:t>
            </a:r>
            <a:pPr indent="0" marL="0">
              <a:buNone/>
            </a:pPr>
            <a:r>
              <a:rPr lang="en-US" sz="1250" dirty="0">
                <a:solidFill>
                  <a:srgbClr val="A8C98F"/>
                </a:solidFill>
                <a:latin typeface="Courier New" pitchFamily="34" charset="0"/>
                <a:ea typeface="Courier New" pitchFamily="34" charset="-122"/>
                <a:cs typeface="Courier New" pitchFamily="34" charset="-120"/>
              </a:rPr>
              <a:t>"input"</a:t>
            </a:r>
            <a:pPr indent="0" marL="0">
              <a:buNone/>
            </a:pPr>
            <a:r>
              <a:rPr lang="en-US" sz="1250" dirty="0">
                <a:solidFill>
                  <a:srgbClr val="E8E6DC"/>
                </a:solidFill>
                <a:latin typeface="Courier New" pitchFamily="34" charset="0"/>
                <a:ea typeface="Courier New" pitchFamily="34" charset="-122"/>
                <a:cs typeface="Courier New" pitchFamily="34" charset="-120"/>
              </a:rPr>
              <a:t>: { </a:t>
            </a:r>
            <a:pPr indent="0" marL="0">
              <a:buNone/>
            </a:pPr>
            <a:r>
              <a:rPr lang="en-US" sz="1250" dirty="0">
                <a:solidFill>
                  <a:srgbClr val="A8C98F"/>
                </a:solidFill>
                <a:latin typeface="Courier New" pitchFamily="34" charset="0"/>
                <a:ea typeface="Courier New" pitchFamily="34" charset="-122"/>
                <a:cs typeface="Courier New" pitchFamily="34" charset="-120"/>
              </a:rPr>
              <a:t>"order_id"</a:t>
            </a:r>
            <a:pPr indent="0" marL="0">
              <a:buNone/>
            </a:pPr>
            <a:r>
              <a:rPr lang="en-US" sz="1250" dirty="0">
                <a:solidFill>
                  <a:srgbClr val="E8E6DC"/>
                </a:solidFill>
                <a:latin typeface="Courier New" pitchFamily="34" charset="0"/>
                <a:ea typeface="Courier New" pitchFamily="34" charset="-122"/>
                <a:cs typeface="Courier New" pitchFamily="34" charset="-120"/>
              </a:rPr>
              <a:t>: </a:t>
            </a:r>
            <a:pPr indent="0" marL="0">
              <a:buNone/>
            </a:pPr>
            <a:r>
              <a:rPr lang="en-US" sz="1250" dirty="0">
                <a:solidFill>
                  <a:srgbClr val="A8C98F"/>
                </a:solidFill>
                <a:latin typeface="Courier New" pitchFamily="34" charset="0"/>
                <a:ea typeface="Courier New" pitchFamily="34" charset="-122"/>
                <a:cs typeface="Courier New" pitchFamily="34" charset="-120"/>
              </a:rPr>
              <a:t>"12345"</a:t>
            </a:r>
            <a:pPr indent="0" marL="0">
              <a:buNone/>
            </a:pPr>
            <a:r>
              <a:rPr lang="en-US" sz="1250" dirty="0">
                <a:solidFill>
                  <a:srgbClr val="E8E6DC"/>
                </a:solidFill>
                <a:latin typeface="Courier New" pitchFamily="34" charset="0"/>
                <a:ea typeface="Courier New" pitchFamily="34" charset="-122"/>
                <a:cs typeface="Courier New" pitchFamily="34" charset="-120"/>
              </a:rPr>
              <a:t> } }</a:t>
            </a:r>
            <a:endParaRPr lang="en-US" sz="1250" dirty="0"/>
          </a:p>
          <a:p>
            <a:pPr indent="0" marL="0">
              <a:buNone/>
            </a:pPr>
            <a:r>
              <a:rPr lang="en-US" sz="1250" dirty="0">
                <a:solidFill>
                  <a:srgbClr val="E8E6DC"/>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8E6DC"/>
                </a:solidFill>
                <a:latin typeface="Courier New" pitchFamily="34" charset="0"/>
                <a:ea typeface="Courier New" pitchFamily="34" charset="-122"/>
                <a:cs typeface="Courier New" pitchFamily="34" charset="-120"/>
              </a:rPr>
              <a:t>  </a:t>
            </a:r>
            <a:pPr indent="0" marL="0">
              <a:buNone/>
            </a:pPr>
            <a:r>
              <a:rPr lang="en-US" sz="1250" dirty="0">
                <a:solidFill>
                  <a:srgbClr val="A8C98F"/>
                </a:solidFill>
                <a:latin typeface="Courier New" pitchFamily="34" charset="0"/>
                <a:ea typeface="Courier New" pitchFamily="34" charset="-122"/>
                <a:cs typeface="Courier New" pitchFamily="34" charset="-120"/>
              </a:rPr>
              <a:t>"stop_reason"</a:t>
            </a:r>
            <a:pPr indent="0" marL="0">
              <a:buNone/>
            </a:pPr>
            <a:r>
              <a:rPr lang="en-US" sz="1250" dirty="0">
                <a:solidFill>
                  <a:srgbClr val="E8E6DC"/>
                </a:solidFill>
                <a:latin typeface="Courier New" pitchFamily="34" charset="0"/>
                <a:ea typeface="Courier New" pitchFamily="34" charset="-122"/>
                <a:cs typeface="Courier New" pitchFamily="34" charset="-120"/>
              </a:rPr>
              <a:t>: </a:t>
            </a:r>
            <a:pPr indent="0" marL="0">
              <a:buNone/>
            </a:pPr>
            <a:r>
              <a:rPr lang="en-US" sz="1250" dirty="0">
                <a:solidFill>
                  <a:srgbClr val="A8C98F"/>
                </a:solidFill>
                <a:latin typeface="Courier New" pitchFamily="34" charset="0"/>
                <a:ea typeface="Courier New" pitchFamily="34" charset="-122"/>
                <a:cs typeface="Courier New" pitchFamily="34" charset="-120"/>
              </a:rPr>
              <a:t>"tool_use"</a:t>
            </a:r>
            <a:pPr indent="0" marL="0">
              <a:buNone/>
            </a:pPr>
            <a:r>
              <a:rPr lang="en-US" sz="1250" dirty="0">
                <a:solidFill>
                  <a:srgbClr val="E8E6DC"/>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E8E6DC"/>
                </a:solidFill>
                <a:latin typeface="Courier New" pitchFamily="34" charset="0"/>
                <a:ea typeface="Courier New" pitchFamily="34" charset="-122"/>
                <a:cs typeface="Courier New" pitchFamily="34" charset="-120"/>
              </a:rPr>
              <a:t>  </a:t>
            </a:r>
            <a:pPr indent="0" marL="0">
              <a:buNone/>
            </a:pPr>
            <a:r>
              <a:rPr lang="en-US" sz="1250" dirty="0">
                <a:solidFill>
                  <a:srgbClr val="A8C98F"/>
                </a:solidFill>
                <a:latin typeface="Courier New" pitchFamily="34" charset="0"/>
                <a:ea typeface="Courier New" pitchFamily="34" charset="-122"/>
                <a:cs typeface="Courier New" pitchFamily="34" charset="-120"/>
              </a:rPr>
              <a:t>"usage"</a:t>
            </a:r>
            <a:pPr indent="0" marL="0">
              <a:buNone/>
            </a:pPr>
            <a:r>
              <a:rPr lang="en-US" sz="1250" dirty="0">
                <a:solidFill>
                  <a:srgbClr val="E8E6DC"/>
                </a:solidFill>
                <a:latin typeface="Courier New" pitchFamily="34" charset="0"/>
                <a:ea typeface="Courier New" pitchFamily="34" charset="-122"/>
                <a:cs typeface="Courier New" pitchFamily="34" charset="-120"/>
              </a:rPr>
              <a:t>: { </a:t>
            </a:r>
            <a:pPr indent="0" marL="0">
              <a:buNone/>
            </a:pPr>
            <a:r>
              <a:rPr lang="en-US" sz="1250" dirty="0">
                <a:solidFill>
                  <a:srgbClr val="A8C98F"/>
                </a:solidFill>
                <a:latin typeface="Courier New" pitchFamily="34" charset="0"/>
                <a:ea typeface="Courier New" pitchFamily="34" charset="-122"/>
                <a:cs typeface="Courier New" pitchFamily="34" charset="-120"/>
              </a:rPr>
              <a:t>"input_tokens"</a:t>
            </a:r>
            <a:pPr indent="0" marL="0">
              <a:buNone/>
            </a:pPr>
            <a:r>
              <a:rPr lang="en-US" sz="1250" dirty="0">
                <a:solidFill>
                  <a:srgbClr val="E8E6DC"/>
                </a:solidFill>
                <a:latin typeface="Courier New" pitchFamily="34" charset="0"/>
                <a:ea typeface="Courier New" pitchFamily="34" charset="-122"/>
                <a:cs typeface="Courier New" pitchFamily="34" charset="-120"/>
              </a:rPr>
              <a:t>: </a:t>
            </a:r>
            <a:pPr indent="0" marL="0">
              <a:buNone/>
            </a:pPr>
            <a:r>
              <a:rPr lang="en-US" sz="1250" dirty="0">
                <a:solidFill>
                  <a:srgbClr val="8FB8E0"/>
                </a:solidFill>
                <a:latin typeface="Courier New" pitchFamily="34" charset="0"/>
                <a:ea typeface="Courier New" pitchFamily="34" charset="-122"/>
                <a:cs typeface="Courier New" pitchFamily="34" charset="-120"/>
              </a:rPr>
              <a:t>412</a:t>
            </a:r>
            <a:pPr indent="0" marL="0">
              <a:buNone/>
            </a:pPr>
            <a:r>
              <a:rPr lang="en-US" sz="1250" dirty="0">
                <a:solidFill>
                  <a:srgbClr val="E8E6DC"/>
                </a:solidFill>
                <a:latin typeface="Courier New" pitchFamily="34" charset="0"/>
                <a:ea typeface="Courier New" pitchFamily="34" charset="-122"/>
                <a:cs typeface="Courier New" pitchFamily="34" charset="-120"/>
              </a:rPr>
              <a:t>, </a:t>
            </a:r>
            <a:pPr indent="0" marL="0">
              <a:buNone/>
            </a:pPr>
            <a:r>
              <a:rPr lang="en-US" sz="1250" dirty="0">
                <a:solidFill>
                  <a:srgbClr val="A8C98F"/>
                </a:solidFill>
                <a:latin typeface="Courier New" pitchFamily="34" charset="0"/>
                <a:ea typeface="Courier New" pitchFamily="34" charset="-122"/>
                <a:cs typeface="Courier New" pitchFamily="34" charset="-120"/>
              </a:rPr>
              <a:t>"output_tokens"</a:t>
            </a:r>
            <a:pPr indent="0" marL="0">
              <a:buNone/>
            </a:pPr>
            <a:r>
              <a:rPr lang="en-US" sz="1250" dirty="0">
                <a:solidFill>
                  <a:srgbClr val="E8E6DC"/>
                </a:solidFill>
                <a:latin typeface="Courier New" pitchFamily="34" charset="0"/>
                <a:ea typeface="Courier New" pitchFamily="34" charset="-122"/>
                <a:cs typeface="Courier New" pitchFamily="34" charset="-120"/>
              </a:rPr>
              <a:t>: </a:t>
            </a:r>
            <a:pPr indent="0" marL="0">
              <a:buNone/>
            </a:pPr>
            <a:r>
              <a:rPr lang="en-US" sz="1250" dirty="0">
                <a:solidFill>
                  <a:srgbClr val="8FB8E0"/>
                </a:solidFill>
                <a:latin typeface="Courier New" pitchFamily="34" charset="0"/>
                <a:ea typeface="Courier New" pitchFamily="34" charset="-122"/>
                <a:cs typeface="Courier New" pitchFamily="34" charset="-120"/>
              </a:rPr>
              <a:t>58</a:t>
            </a:r>
            <a:pPr indent="0" marL="0">
              <a:buNone/>
            </a:pPr>
            <a:r>
              <a:rPr lang="en-US" sz="1250" dirty="0">
                <a:solidFill>
                  <a:srgbClr val="E8E6DC"/>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8E6DC"/>
                </a:solidFill>
                <a:latin typeface="Courier New" pitchFamily="34" charset="0"/>
                <a:ea typeface="Courier New" pitchFamily="34" charset="-122"/>
                <a:cs typeface="Courier New" pitchFamily="34" charset="-120"/>
              </a:rPr>
              <a:t>}</a:t>
            </a:r>
            <a:endParaRPr lang="en-US" sz="1250" dirty="0"/>
          </a:p>
        </p:txBody>
      </p:sp>
      <p:sp>
        <p:nvSpPr>
          <p:cNvPr id="9" name="Shape 7"/>
          <p:cNvSpPr/>
          <p:nvPr/>
        </p:nvSpPr>
        <p:spPr>
          <a:xfrm>
            <a:off x="7452360" y="1645920"/>
            <a:ext cx="4187952" cy="1234440"/>
          </a:xfrm>
          <a:prstGeom prst="roundRect">
            <a:avLst>
              <a:gd name="adj" fmla="val 8889"/>
            </a:avLst>
          </a:prstGeom>
          <a:solidFill>
            <a:srgbClr val="FFFFFF"/>
          </a:solidFill>
          <a:ln w="9525">
            <a:solidFill>
              <a:srgbClr val="E8E6DC"/>
            </a:solidFill>
            <a:prstDash val="solid"/>
          </a:ln>
        </p:spPr>
      </p:sp>
      <p:sp>
        <p:nvSpPr>
          <p:cNvPr id="10" name="Text 8"/>
          <p:cNvSpPr txBox="1"/>
          <p:nvPr/>
        </p:nvSpPr>
        <p:spPr>
          <a:xfrm>
            <a:off x="7680960" y="1755648"/>
            <a:ext cx="3749040" cy="320040"/>
          </a:xfrm>
          <a:prstGeom prst="rect">
            <a:avLst/>
          </a:prstGeom>
          <a:noFill/>
          <a:ln/>
        </p:spPr>
        <p:txBody>
          <a:bodyPr wrap="square" lIns="0" tIns="0" rIns="0" bIns="0" rtlCol="0" anchor="ctr"/>
          <a:lstStyle/>
          <a:p>
            <a:pPr indent="0" marL="0">
              <a:buNone/>
            </a:pPr>
            <a:r>
              <a:rPr lang="en-US" sz="1600" dirty="0">
                <a:solidFill>
                  <a:srgbClr val="B85C3E"/>
                </a:solidFill>
                <a:latin typeface="Cambria" pitchFamily="34" charset="0"/>
                <a:ea typeface="Cambria" pitchFamily="34" charset="-122"/>
                <a:cs typeface="Cambria" pitchFamily="34" charset="-120"/>
              </a:rPr>
              <a:t>content is a list</a:t>
            </a:r>
            <a:endParaRPr lang="en-US" sz="1600" dirty="0"/>
          </a:p>
        </p:txBody>
      </p:sp>
      <p:sp>
        <p:nvSpPr>
          <p:cNvPr id="11" name="Text 9"/>
          <p:cNvSpPr txBox="1"/>
          <p:nvPr/>
        </p:nvSpPr>
        <p:spPr>
          <a:xfrm>
            <a:off x="7680960" y="2103120"/>
            <a:ext cx="3749040" cy="731520"/>
          </a:xfrm>
          <a:prstGeom prst="rect">
            <a:avLst/>
          </a:prstGeom>
          <a:noFill/>
          <a:ln/>
        </p:spPr>
        <p:txBody>
          <a:bodyPr wrap="square" lIns="0" tIns="0" rIns="0" bIns="0" rtlCol="0" anchor="t"/>
          <a:lstStyle/>
          <a:p>
            <a:pPr indent="0" marL="0">
              <a:buNone/>
            </a:pPr>
            <a:r>
              <a:rPr lang="en-US" sz="1300" dirty="0">
                <a:solidFill>
                  <a:srgbClr val="5E5D59"/>
                </a:solidFill>
                <a:latin typeface="Calibri" pitchFamily="34" charset="0"/>
                <a:ea typeface="Calibri" pitchFamily="34" charset="-122"/>
                <a:cs typeface="Calibri" pitchFamily="34" charset="-120"/>
              </a:rPr>
              <a:t>Text, tool_use and other block types can appear together in one response.</a:t>
            </a:r>
            <a:endParaRPr lang="en-US" sz="1300" dirty="0"/>
          </a:p>
        </p:txBody>
      </p:sp>
      <p:sp>
        <p:nvSpPr>
          <p:cNvPr id="12" name="Shape 10"/>
          <p:cNvSpPr/>
          <p:nvPr/>
        </p:nvSpPr>
        <p:spPr>
          <a:xfrm>
            <a:off x="7452360" y="3017520"/>
            <a:ext cx="4187952" cy="1234440"/>
          </a:xfrm>
          <a:prstGeom prst="roundRect">
            <a:avLst>
              <a:gd name="adj" fmla="val 8889"/>
            </a:avLst>
          </a:prstGeom>
          <a:solidFill>
            <a:srgbClr val="FFFFFF"/>
          </a:solidFill>
          <a:ln w="9525">
            <a:solidFill>
              <a:srgbClr val="E8E6DC"/>
            </a:solidFill>
            <a:prstDash val="solid"/>
          </a:ln>
        </p:spPr>
      </p:sp>
      <p:sp>
        <p:nvSpPr>
          <p:cNvPr id="13" name="Text 11"/>
          <p:cNvSpPr txBox="1"/>
          <p:nvPr/>
        </p:nvSpPr>
        <p:spPr>
          <a:xfrm>
            <a:off x="7680960" y="3127248"/>
            <a:ext cx="3749040" cy="320040"/>
          </a:xfrm>
          <a:prstGeom prst="rect">
            <a:avLst/>
          </a:prstGeom>
          <a:noFill/>
          <a:ln/>
        </p:spPr>
        <p:txBody>
          <a:bodyPr wrap="square" lIns="0" tIns="0" rIns="0" bIns="0" rtlCol="0" anchor="ctr"/>
          <a:lstStyle/>
          <a:p>
            <a:pPr indent="0" marL="0">
              <a:buNone/>
            </a:pPr>
            <a:r>
              <a:rPr lang="en-US" sz="1600" dirty="0">
                <a:solidFill>
                  <a:srgbClr val="B85C3E"/>
                </a:solidFill>
                <a:latin typeface="Cambria" pitchFamily="34" charset="0"/>
                <a:ea typeface="Cambria" pitchFamily="34" charset="-122"/>
                <a:cs typeface="Cambria" pitchFamily="34" charset="-120"/>
              </a:rPr>
              <a:t>tool_use blocks</a:t>
            </a:r>
            <a:endParaRPr lang="en-US" sz="1600" dirty="0"/>
          </a:p>
        </p:txBody>
      </p:sp>
      <p:sp>
        <p:nvSpPr>
          <p:cNvPr id="14" name="Text 12"/>
          <p:cNvSpPr txBox="1"/>
          <p:nvPr/>
        </p:nvSpPr>
        <p:spPr>
          <a:xfrm>
            <a:off x="7680960" y="3474720"/>
            <a:ext cx="3749040" cy="731520"/>
          </a:xfrm>
          <a:prstGeom prst="rect">
            <a:avLst/>
          </a:prstGeom>
          <a:noFill/>
          <a:ln/>
        </p:spPr>
        <p:txBody>
          <a:bodyPr wrap="square" lIns="0" tIns="0" rIns="0" bIns="0" rtlCol="0" anchor="t"/>
          <a:lstStyle/>
          <a:p>
            <a:pPr indent="0" marL="0">
              <a:buNone/>
            </a:pPr>
            <a:r>
              <a:rPr lang="en-US" sz="1300" dirty="0">
                <a:solidFill>
                  <a:srgbClr val="5E5D59"/>
                </a:solidFill>
                <a:latin typeface="Calibri" pitchFamily="34" charset="0"/>
                <a:ea typeface="Calibri" pitchFamily="34" charset="-122"/>
                <a:cs typeface="Calibri" pitchFamily="34" charset="-120"/>
              </a:rPr>
              <a:t>Carry an id, the tool name, and the input Claude chose.</a:t>
            </a:r>
            <a:endParaRPr lang="en-US" sz="1300" dirty="0"/>
          </a:p>
        </p:txBody>
      </p:sp>
      <p:sp>
        <p:nvSpPr>
          <p:cNvPr id="15" name="Shape 13"/>
          <p:cNvSpPr/>
          <p:nvPr/>
        </p:nvSpPr>
        <p:spPr>
          <a:xfrm>
            <a:off x="7452360" y="4389120"/>
            <a:ext cx="4187952" cy="1234440"/>
          </a:xfrm>
          <a:prstGeom prst="roundRect">
            <a:avLst>
              <a:gd name="adj" fmla="val 8889"/>
            </a:avLst>
          </a:prstGeom>
          <a:solidFill>
            <a:srgbClr val="FFFFFF"/>
          </a:solidFill>
          <a:ln w="9525">
            <a:solidFill>
              <a:srgbClr val="E8E6DC"/>
            </a:solidFill>
            <a:prstDash val="solid"/>
          </a:ln>
        </p:spPr>
      </p:sp>
      <p:sp>
        <p:nvSpPr>
          <p:cNvPr id="16" name="Text 14"/>
          <p:cNvSpPr txBox="1"/>
          <p:nvPr/>
        </p:nvSpPr>
        <p:spPr>
          <a:xfrm>
            <a:off x="7680960" y="4498848"/>
            <a:ext cx="3749040" cy="320040"/>
          </a:xfrm>
          <a:prstGeom prst="rect">
            <a:avLst/>
          </a:prstGeom>
          <a:noFill/>
          <a:ln/>
        </p:spPr>
        <p:txBody>
          <a:bodyPr wrap="square" lIns="0" tIns="0" rIns="0" bIns="0" rtlCol="0" anchor="ctr"/>
          <a:lstStyle/>
          <a:p>
            <a:pPr indent="0" marL="0">
              <a:buNone/>
            </a:pPr>
            <a:r>
              <a:rPr lang="en-US" sz="1600" dirty="0">
                <a:solidFill>
                  <a:srgbClr val="B85C3E"/>
                </a:solidFill>
                <a:latin typeface="Cambria" pitchFamily="34" charset="0"/>
                <a:ea typeface="Cambria" pitchFamily="34" charset="-122"/>
                <a:cs typeface="Cambria" pitchFamily="34" charset="-120"/>
              </a:rPr>
              <a:t>stop_reason</a:t>
            </a:r>
            <a:endParaRPr lang="en-US" sz="1600" dirty="0"/>
          </a:p>
        </p:txBody>
      </p:sp>
      <p:sp>
        <p:nvSpPr>
          <p:cNvPr id="17" name="Text 15"/>
          <p:cNvSpPr txBox="1"/>
          <p:nvPr/>
        </p:nvSpPr>
        <p:spPr>
          <a:xfrm>
            <a:off x="7680960" y="4846320"/>
            <a:ext cx="3749040" cy="731520"/>
          </a:xfrm>
          <a:prstGeom prst="rect">
            <a:avLst/>
          </a:prstGeom>
          <a:noFill/>
          <a:ln/>
        </p:spPr>
        <p:txBody>
          <a:bodyPr wrap="square" lIns="0" tIns="0" rIns="0" bIns="0" rtlCol="0" anchor="t"/>
          <a:lstStyle/>
          <a:p>
            <a:pPr indent="0" marL="0">
              <a:buNone/>
            </a:pPr>
            <a:r>
              <a:rPr lang="en-US" sz="1300" dirty="0">
                <a:solidFill>
                  <a:srgbClr val="5E5D59"/>
                </a:solidFill>
                <a:latin typeface="Calibri" pitchFamily="34" charset="0"/>
                <a:ea typeface="Calibri" pitchFamily="34" charset="-122"/>
                <a:cs typeface="Calibri" pitchFamily="34" charset="-120"/>
              </a:rPr>
              <a:t>Says why generation ended. It is your control-flow signal.</a:t>
            </a:r>
            <a:endParaRPr lang="en-US" sz="1300" dirty="0"/>
          </a:p>
        </p:txBody>
      </p:sp>
      <p:sp>
        <p:nvSpPr>
          <p:cNvPr id="18" name="Shape 16"/>
          <p:cNvSpPr/>
          <p:nvPr/>
        </p:nvSpPr>
        <p:spPr>
          <a:xfrm>
            <a:off x="548640" y="5715000"/>
            <a:ext cx="11091672" cy="548640"/>
          </a:xfrm>
          <a:prstGeom prst="roundRect">
            <a:avLst>
              <a:gd name="adj" fmla="val 20000"/>
            </a:avLst>
          </a:prstGeom>
          <a:solidFill>
            <a:srgbClr val="F6E4DB"/>
          </a:solidFill>
          <a:ln w="9525">
            <a:solidFill>
              <a:srgbClr val="F6E4DB"/>
            </a:solidFill>
            <a:prstDash val="solid"/>
          </a:ln>
        </p:spPr>
      </p:sp>
      <p:sp>
        <p:nvSpPr>
          <p:cNvPr id="19" name="Text 17"/>
          <p:cNvSpPr txBox="1"/>
          <p:nvPr/>
        </p:nvSpPr>
        <p:spPr>
          <a:xfrm>
            <a:off x="822960" y="5715000"/>
            <a:ext cx="10515600" cy="548640"/>
          </a:xfrm>
          <a:prstGeom prst="rect">
            <a:avLst/>
          </a:prstGeom>
          <a:noFill/>
          <a:ln/>
        </p:spPr>
        <p:txBody>
          <a:bodyPr wrap="square" lIns="0" tIns="0" rIns="0" bIns="0" rtlCol="0" anchor="ctr"/>
          <a:lstStyle/>
          <a:p>
            <a:pPr indent="0" marL="0">
              <a:buNone/>
            </a:pPr>
            <a:r>
              <a:rPr lang="en-US" sz="1400" dirty="0">
                <a:solidFill>
                  <a:srgbClr val="141413"/>
                </a:solidFill>
                <a:latin typeface="Calibri" pitchFamily="34" charset="0"/>
                <a:ea typeface="Calibri" pitchFamily="34" charset="-122"/>
                <a:cs typeface="Calibri" pitchFamily="34" charset="-120"/>
              </a:rPr>
              <a:t>Notice the text block next to the tool_use block. Text present does not mean Claude is finished.</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548640" y="365760"/>
            <a:ext cx="8686800" cy="274320"/>
          </a:xfrm>
          <a:prstGeom prst="rect">
            <a:avLst/>
          </a:prstGeom>
          <a:noFill/>
          <a:ln/>
        </p:spPr>
        <p:txBody>
          <a:bodyPr wrap="square" lIns="0" tIns="0" rIns="0" bIns="0"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CLAUDE API ESSENTIALS  ·  TASK STATEMENT 5.1 (HISTORY PASSING)</a:t>
            </a:r>
            <a:endParaRPr lang="en-US" sz="1200" dirty="0"/>
          </a:p>
        </p:txBody>
      </p:sp>
      <p:sp>
        <p:nvSpPr>
          <p:cNvPr id="3" name="Text 1"/>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000" dirty="0">
                <a:solidFill>
                  <a:srgbClr val="141413"/>
                </a:solidFill>
                <a:latin typeface="Cambria" pitchFamily="34" charset="0"/>
                <a:ea typeface="Cambria" pitchFamily="34" charset="-122"/>
                <a:cs typeface="Cambria" pitchFamily="34" charset="-120"/>
              </a:rPr>
              <a:t>The API is stateless: you resend the whole history</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87867F"/>
                </a:solidFill>
                <a:latin typeface="Calibri" pitchFamily="34" charset="0"/>
                <a:ea typeface="Calibri" pitchFamily="34" charset="-122"/>
                <a:cs typeface="Calibri" pitchFamily="34" charset="-120"/>
              </a:rPr>
              <a:t>CCAR-F Skills Curriculum  ·  Session 1  ·  12</a:t>
            </a:r>
            <a:endParaRPr lang="en-US" sz="1000" dirty="0"/>
          </a:p>
        </p:txBody>
      </p:sp>
      <p:sp>
        <p:nvSpPr>
          <p:cNvPr id="5" name="Text 3"/>
          <p:cNvSpPr txBox="1"/>
          <p:nvPr/>
        </p:nvSpPr>
        <p:spPr>
          <a:xfrm>
            <a:off x="8869680" y="365760"/>
            <a:ext cx="2770632" cy="274320"/>
          </a:xfrm>
          <a:prstGeom prst="rect">
            <a:avLst/>
          </a:prstGeom>
          <a:noFill/>
          <a:ln/>
        </p:spPr>
        <p:txBody>
          <a:bodyPr wrap="square" lIns="0" tIns="0" rIns="0" bIns="0" rtlCol="0" anchor="ctr"/>
          <a:lstStyle/>
          <a:p>
            <a:pPr algn="r" indent="0" marL="0">
              <a:buNone/>
            </a:pPr>
            <a:r>
              <a:rPr lang="en-US" sz="1100" dirty="0">
                <a:solidFill>
                  <a:srgbClr val="87867F"/>
                </a:solidFill>
                <a:latin typeface="Calibri" pitchFamily="34" charset="0"/>
                <a:ea typeface="Calibri" pitchFamily="34" charset="-122"/>
                <a:cs typeface="Calibri" pitchFamily="34" charset="-120"/>
              </a:rPr>
              <a:t>21–24 min</a:t>
            </a:r>
            <a:endParaRPr lang="en-US" sz="1100" dirty="0"/>
          </a:p>
        </p:txBody>
      </p:sp>
      <p:sp>
        <p:nvSpPr>
          <p:cNvPr id="6" name="Shape 4"/>
          <p:cNvSpPr/>
          <p:nvPr/>
        </p:nvSpPr>
        <p:spPr>
          <a:xfrm>
            <a:off x="548640" y="1691640"/>
            <a:ext cx="3520440" cy="3611880"/>
          </a:xfrm>
          <a:prstGeom prst="roundRect">
            <a:avLst>
              <a:gd name="adj" fmla="val 3117"/>
            </a:avLst>
          </a:prstGeom>
          <a:solidFill>
            <a:srgbClr val="F0EEE6"/>
          </a:solidFill>
          <a:ln w="9525">
            <a:solidFill>
              <a:srgbClr val="E8E6DC"/>
            </a:solidFill>
            <a:prstDash val="solid"/>
          </a:ln>
        </p:spPr>
      </p:sp>
      <p:sp>
        <p:nvSpPr>
          <p:cNvPr id="7" name="Text 5"/>
          <p:cNvSpPr txBox="1"/>
          <p:nvPr/>
        </p:nvSpPr>
        <p:spPr>
          <a:xfrm>
            <a:off x="731520" y="1755648"/>
            <a:ext cx="3154680" cy="320040"/>
          </a:xfrm>
          <a:prstGeom prst="rect">
            <a:avLst/>
          </a:prstGeom>
          <a:noFill/>
          <a:ln/>
        </p:spPr>
        <p:txBody>
          <a:bodyPr wrap="square" lIns="0" tIns="0" rIns="0" bIns="0" rtlCol="0" anchor="ctr"/>
          <a:lstStyle/>
          <a:p>
            <a:pPr indent="0" marL="0">
              <a:buNone/>
            </a:pPr>
            <a:r>
              <a:rPr lang="en-US" sz="1500" dirty="0">
                <a:solidFill>
                  <a:srgbClr val="141413"/>
                </a:solidFill>
                <a:latin typeface="Cambria" pitchFamily="34" charset="0"/>
                <a:ea typeface="Cambria" pitchFamily="34" charset="-122"/>
                <a:cs typeface="Cambria" pitchFamily="34" charset="-120"/>
              </a:rPr>
              <a:t>Request 1</a:t>
            </a:r>
            <a:endParaRPr lang="en-US" sz="1500" dirty="0"/>
          </a:p>
        </p:txBody>
      </p:sp>
      <p:sp>
        <p:nvSpPr>
          <p:cNvPr id="8" name="Shape 6"/>
          <p:cNvSpPr/>
          <p:nvPr/>
        </p:nvSpPr>
        <p:spPr>
          <a:xfrm>
            <a:off x="731520" y="2148840"/>
            <a:ext cx="3154680" cy="530352"/>
          </a:xfrm>
          <a:prstGeom prst="roundRect">
            <a:avLst>
              <a:gd name="adj" fmla="val 13793"/>
            </a:avLst>
          </a:prstGeom>
          <a:solidFill>
            <a:srgbClr val="D97757"/>
          </a:solidFill>
          <a:ln w="9525">
            <a:solidFill>
              <a:srgbClr val="D97757"/>
            </a:solidFill>
            <a:prstDash val="solid"/>
          </a:ln>
        </p:spPr>
      </p:sp>
      <p:sp>
        <p:nvSpPr>
          <p:cNvPr id="9" name="Text 7"/>
          <p:cNvSpPr txBox="1"/>
          <p:nvPr/>
        </p:nvSpPr>
        <p:spPr>
          <a:xfrm>
            <a:off x="822960" y="2148840"/>
            <a:ext cx="2971800" cy="530352"/>
          </a:xfrm>
          <a:prstGeom prst="rect">
            <a:avLst/>
          </a:prstGeom>
          <a:noFill/>
          <a:ln/>
        </p:spPr>
        <p:txBody>
          <a:bodyPr wrap="square" lIns="0" tIns="0" rIns="0" bIns="0" rtlCol="0" anchor="ctr"/>
          <a:lstStyle/>
          <a:p>
            <a:pPr indent="0" marL="0">
              <a:buNone/>
            </a:pPr>
            <a:r>
              <a:rPr lang="en-US" sz="1050" b="1" dirty="0">
                <a:solidFill>
                  <a:srgbClr val="FFFFFF"/>
                </a:solidFill>
                <a:latin typeface="Courier New" pitchFamily="34" charset="0"/>
                <a:ea typeface="Courier New" pitchFamily="34" charset="-122"/>
                <a:cs typeface="Courier New" pitchFamily="34" charset="-120"/>
              </a:rPr>
              <a:t>user: </a:t>
            </a:r>
            <a:pPr indent="0" marL="0">
              <a:buNone/>
            </a:pPr>
            <a:r>
              <a:rPr lang="en-US" sz="1200" dirty="0">
                <a:solidFill>
                  <a:srgbClr val="FFFFFF"/>
                </a:solidFill>
                <a:latin typeface="Calibri" pitchFamily="34" charset="0"/>
                <a:ea typeface="Calibri" pitchFamily="34" charset="-122"/>
                <a:cs typeface="Calibri" pitchFamily="34" charset="-120"/>
              </a:rPr>
              <a:t>Where is order #12345?</a:t>
            </a:r>
            <a:endParaRPr lang="en-US" sz="1050" dirty="0"/>
          </a:p>
        </p:txBody>
      </p:sp>
      <p:sp>
        <p:nvSpPr>
          <p:cNvPr id="10" name="Shape 8"/>
          <p:cNvSpPr/>
          <p:nvPr/>
        </p:nvSpPr>
        <p:spPr>
          <a:xfrm>
            <a:off x="4334256" y="1691640"/>
            <a:ext cx="3520440" cy="3611880"/>
          </a:xfrm>
          <a:prstGeom prst="roundRect">
            <a:avLst>
              <a:gd name="adj" fmla="val 3117"/>
            </a:avLst>
          </a:prstGeom>
          <a:solidFill>
            <a:srgbClr val="F0EEE6"/>
          </a:solidFill>
          <a:ln w="9525">
            <a:solidFill>
              <a:srgbClr val="E8E6DC"/>
            </a:solidFill>
            <a:prstDash val="solid"/>
          </a:ln>
        </p:spPr>
      </p:sp>
      <p:sp>
        <p:nvSpPr>
          <p:cNvPr id="11" name="Text 9"/>
          <p:cNvSpPr txBox="1"/>
          <p:nvPr/>
        </p:nvSpPr>
        <p:spPr>
          <a:xfrm>
            <a:off x="4517136" y="1755648"/>
            <a:ext cx="3154680" cy="320040"/>
          </a:xfrm>
          <a:prstGeom prst="rect">
            <a:avLst/>
          </a:prstGeom>
          <a:noFill/>
          <a:ln/>
        </p:spPr>
        <p:txBody>
          <a:bodyPr wrap="square" lIns="0" tIns="0" rIns="0" bIns="0" rtlCol="0" anchor="ctr"/>
          <a:lstStyle/>
          <a:p>
            <a:pPr indent="0" marL="0">
              <a:buNone/>
            </a:pPr>
            <a:r>
              <a:rPr lang="en-US" sz="1500" dirty="0">
                <a:solidFill>
                  <a:srgbClr val="141413"/>
                </a:solidFill>
                <a:latin typeface="Cambria" pitchFamily="34" charset="0"/>
                <a:ea typeface="Cambria" pitchFamily="34" charset="-122"/>
                <a:cs typeface="Cambria" pitchFamily="34" charset="-120"/>
              </a:rPr>
              <a:t>Request 2</a:t>
            </a:r>
            <a:endParaRPr lang="en-US" sz="1500" dirty="0"/>
          </a:p>
        </p:txBody>
      </p:sp>
      <p:sp>
        <p:nvSpPr>
          <p:cNvPr id="12" name="Shape 10"/>
          <p:cNvSpPr/>
          <p:nvPr/>
        </p:nvSpPr>
        <p:spPr>
          <a:xfrm>
            <a:off x="4517136" y="2148840"/>
            <a:ext cx="3154680" cy="530352"/>
          </a:xfrm>
          <a:prstGeom prst="roundRect">
            <a:avLst>
              <a:gd name="adj" fmla="val 13793"/>
            </a:avLst>
          </a:prstGeom>
          <a:solidFill>
            <a:srgbClr val="FFFFFF"/>
          </a:solidFill>
          <a:ln w="9525">
            <a:solidFill>
              <a:srgbClr val="E8E6DC"/>
            </a:solidFill>
            <a:prstDash val="solid"/>
          </a:ln>
        </p:spPr>
      </p:sp>
      <p:sp>
        <p:nvSpPr>
          <p:cNvPr id="13" name="Text 11"/>
          <p:cNvSpPr txBox="1"/>
          <p:nvPr/>
        </p:nvSpPr>
        <p:spPr>
          <a:xfrm>
            <a:off x="4608576" y="2148840"/>
            <a:ext cx="2971800" cy="530352"/>
          </a:xfrm>
          <a:prstGeom prst="rect">
            <a:avLst/>
          </a:prstGeom>
          <a:noFill/>
          <a:ln/>
        </p:spPr>
        <p:txBody>
          <a:bodyPr wrap="square" lIns="0" tIns="0" rIns="0" bIns="0" rtlCol="0" anchor="ctr"/>
          <a:lstStyle/>
          <a:p>
            <a:pPr indent="0" marL="0">
              <a:buNone/>
            </a:pPr>
            <a:r>
              <a:rPr lang="en-US" sz="1050" b="1" dirty="0">
                <a:solidFill>
                  <a:srgbClr val="141413"/>
                </a:solidFill>
                <a:latin typeface="Courier New" pitchFamily="34" charset="0"/>
                <a:ea typeface="Courier New" pitchFamily="34" charset="-122"/>
                <a:cs typeface="Courier New" pitchFamily="34" charset="-120"/>
              </a:rPr>
              <a:t>user: </a:t>
            </a:r>
            <a:pPr indent="0" marL="0">
              <a:buNone/>
            </a:pPr>
            <a:r>
              <a:rPr lang="en-US" sz="1200" dirty="0">
                <a:solidFill>
                  <a:srgbClr val="141413"/>
                </a:solidFill>
                <a:latin typeface="Calibri" pitchFamily="34" charset="0"/>
                <a:ea typeface="Calibri" pitchFamily="34" charset="-122"/>
                <a:cs typeface="Calibri" pitchFamily="34" charset="-120"/>
              </a:rPr>
              <a:t>Where is order #12345?</a:t>
            </a:r>
            <a:endParaRPr lang="en-US" sz="1050" dirty="0"/>
          </a:p>
        </p:txBody>
      </p:sp>
      <p:sp>
        <p:nvSpPr>
          <p:cNvPr id="14" name="Shape 12"/>
          <p:cNvSpPr/>
          <p:nvPr/>
        </p:nvSpPr>
        <p:spPr>
          <a:xfrm>
            <a:off x="4517136" y="2770632"/>
            <a:ext cx="3154680" cy="530352"/>
          </a:xfrm>
          <a:prstGeom prst="roundRect">
            <a:avLst>
              <a:gd name="adj" fmla="val 13793"/>
            </a:avLst>
          </a:prstGeom>
          <a:solidFill>
            <a:srgbClr val="E8E6DC"/>
          </a:solidFill>
          <a:ln w="9525">
            <a:solidFill>
              <a:srgbClr val="E8E6DC"/>
            </a:solidFill>
            <a:prstDash val="solid"/>
          </a:ln>
        </p:spPr>
      </p:sp>
      <p:sp>
        <p:nvSpPr>
          <p:cNvPr id="15" name="Text 13"/>
          <p:cNvSpPr txBox="1"/>
          <p:nvPr/>
        </p:nvSpPr>
        <p:spPr>
          <a:xfrm>
            <a:off x="4608576" y="2770632"/>
            <a:ext cx="2971800" cy="530352"/>
          </a:xfrm>
          <a:prstGeom prst="rect">
            <a:avLst/>
          </a:prstGeom>
          <a:noFill/>
          <a:ln/>
        </p:spPr>
        <p:txBody>
          <a:bodyPr wrap="square" lIns="0" tIns="0" rIns="0" bIns="0" rtlCol="0" anchor="ctr"/>
          <a:lstStyle/>
          <a:p>
            <a:pPr indent="0" marL="0">
              <a:buNone/>
            </a:pPr>
            <a:r>
              <a:rPr lang="en-US" sz="1050" b="1" dirty="0">
                <a:solidFill>
                  <a:srgbClr val="141413"/>
                </a:solidFill>
                <a:latin typeface="Courier New" pitchFamily="34" charset="0"/>
                <a:ea typeface="Courier New" pitchFamily="34" charset="-122"/>
                <a:cs typeface="Courier New" pitchFamily="34" charset="-120"/>
              </a:rPr>
              <a:t>assistant: </a:t>
            </a:r>
            <a:pPr indent="0" marL="0">
              <a:buNone/>
            </a:pPr>
            <a:r>
              <a:rPr lang="en-US" sz="1200" dirty="0">
                <a:solidFill>
                  <a:srgbClr val="141413"/>
                </a:solidFill>
                <a:latin typeface="Calibri" pitchFamily="34" charset="0"/>
                <a:ea typeface="Calibri" pitchFamily="34" charset="-122"/>
                <a:cs typeface="Calibri" pitchFamily="34" charset="-120"/>
              </a:rPr>
              <a:t>Shipped, arrives Friday.</a:t>
            </a:r>
            <a:endParaRPr lang="en-US" sz="1050" dirty="0"/>
          </a:p>
        </p:txBody>
      </p:sp>
      <p:sp>
        <p:nvSpPr>
          <p:cNvPr id="16" name="Shape 14"/>
          <p:cNvSpPr/>
          <p:nvPr/>
        </p:nvSpPr>
        <p:spPr>
          <a:xfrm>
            <a:off x="4517136" y="3392424"/>
            <a:ext cx="3154680" cy="530352"/>
          </a:xfrm>
          <a:prstGeom prst="roundRect">
            <a:avLst>
              <a:gd name="adj" fmla="val 13793"/>
            </a:avLst>
          </a:prstGeom>
          <a:solidFill>
            <a:srgbClr val="D97757"/>
          </a:solidFill>
          <a:ln w="9525">
            <a:solidFill>
              <a:srgbClr val="D97757"/>
            </a:solidFill>
            <a:prstDash val="solid"/>
          </a:ln>
        </p:spPr>
      </p:sp>
      <p:sp>
        <p:nvSpPr>
          <p:cNvPr id="17" name="Text 15"/>
          <p:cNvSpPr txBox="1"/>
          <p:nvPr/>
        </p:nvSpPr>
        <p:spPr>
          <a:xfrm>
            <a:off x="4608576" y="3392424"/>
            <a:ext cx="2971800" cy="530352"/>
          </a:xfrm>
          <a:prstGeom prst="rect">
            <a:avLst/>
          </a:prstGeom>
          <a:noFill/>
          <a:ln/>
        </p:spPr>
        <p:txBody>
          <a:bodyPr wrap="square" lIns="0" tIns="0" rIns="0" bIns="0" rtlCol="0" anchor="ctr"/>
          <a:lstStyle/>
          <a:p>
            <a:pPr indent="0" marL="0">
              <a:buNone/>
            </a:pPr>
            <a:r>
              <a:rPr lang="en-US" sz="1050" b="1" dirty="0">
                <a:solidFill>
                  <a:srgbClr val="FFFFFF"/>
                </a:solidFill>
                <a:latin typeface="Courier New" pitchFamily="34" charset="0"/>
                <a:ea typeface="Courier New" pitchFamily="34" charset="-122"/>
                <a:cs typeface="Courier New" pitchFamily="34" charset="-120"/>
              </a:rPr>
              <a:t>user: </a:t>
            </a:r>
            <a:pPr indent="0" marL="0">
              <a:buNone/>
            </a:pPr>
            <a:r>
              <a:rPr lang="en-US" sz="1200" dirty="0">
                <a:solidFill>
                  <a:srgbClr val="FFFFFF"/>
                </a:solidFill>
                <a:latin typeface="Calibri" pitchFamily="34" charset="0"/>
                <a:ea typeface="Calibri" pitchFamily="34" charset="-122"/>
                <a:cs typeface="Calibri" pitchFamily="34" charset="-120"/>
              </a:rPr>
              <a:t>Can I change the address?</a:t>
            </a:r>
            <a:endParaRPr lang="en-US" sz="1050" dirty="0"/>
          </a:p>
        </p:txBody>
      </p:sp>
      <p:sp>
        <p:nvSpPr>
          <p:cNvPr id="18" name="Shape 16"/>
          <p:cNvSpPr/>
          <p:nvPr/>
        </p:nvSpPr>
        <p:spPr>
          <a:xfrm>
            <a:off x="8119872" y="1691640"/>
            <a:ext cx="3520440" cy="3611880"/>
          </a:xfrm>
          <a:prstGeom prst="roundRect">
            <a:avLst>
              <a:gd name="adj" fmla="val 3117"/>
            </a:avLst>
          </a:prstGeom>
          <a:solidFill>
            <a:srgbClr val="F0EEE6"/>
          </a:solidFill>
          <a:ln w="9525">
            <a:solidFill>
              <a:srgbClr val="E8E6DC"/>
            </a:solidFill>
            <a:prstDash val="solid"/>
          </a:ln>
        </p:spPr>
      </p:sp>
      <p:sp>
        <p:nvSpPr>
          <p:cNvPr id="19" name="Text 17"/>
          <p:cNvSpPr txBox="1"/>
          <p:nvPr/>
        </p:nvSpPr>
        <p:spPr>
          <a:xfrm>
            <a:off x="8302752" y="1755648"/>
            <a:ext cx="3154680" cy="320040"/>
          </a:xfrm>
          <a:prstGeom prst="rect">
            <a:avLst/>
          </a:prstGeom>
          <a:noFill/>
          <a:ln/>
        </p:spPr>
        <p:txBody>
          <a:bodyPr wrap="square" lIns="0" tIns="0" rIns="0" bIns="0" rtlCol="0" anchor="ctr"/>
          <a:lstStyle/>
          <a:p>
            <a:pPr indent="0" marL="0">
              <a:buNone/>
            </a:pPr>
            <a:r>
              <a:rPr lang="en-US" sz="1500" dirty="0">
                <a:solidFill>
                  <a:srgbClr val="141413"/>
                </a:solidFill>
                <a:latin typeface="Cambria" pitchFamily="34" charset="0"/>
                <a:ea typeface="Cambria" pitchFamily="34" charset="-122"/>
                <a:cs typeface="Cambria" pitchFamily="34" charset="-120"/>
              </a:rPr>
              <a:t>Request 3</a:t>
            </a:r>
            <a:endParaRPr lang="en-US" sz="1500" dirty="0"/>
          </a:p>
        </p:txBody>
      </p:sp>
      <p:sp>
        <p:nvSpPr>
          <p:cNvPr id="20" name="Shape 18"/>
          <p:cNvSpPr/>
          <p:nvPr/>
        </p:nvSpPr>
        <p:spPr>
          <a:xfrm>
            <a:off x="8302752" y="2148840"/>
            <a:ext cx="3154680" cy="530352"/>
          </a:xfrm>
          <a:prstGeom prst="roundRect">
            <a:avLst>
              <a:gd name="adj" fmla="val 13793"/>
            </a:avLst>
          </a:prstGeom>
          <a:solidFill>
            <a:srgbClr val="FFFFFF"/>
          </a:solidFill>
          <a:ln w="9525">
            <a:solidFill>
              <a:srgbClr val="E8E6DC"/>
            </a:solidFill>
            <a:prstDash val="solid"/>
          </a:ln>
        </p:spPr>
      </p:sp>
      <p:sp>
        <p:nvSpPr>
          <p:cNvPr id="21" name="Text 19"/>
          <p:cNvSpPr txBox="1"/>
          <p:nvPr/>
        </p:nvSpPr>
        <p:spPr>
          <a:xfrm>
            <a:off x="8394192" y="2148840"/>
            <a:ext cx="2971800" cy="530352"/>
          </a:xfrm>
          <a:prstGeom prst="rect">
            <a:avLst/>
          </a:prstGeom>
          <a:noFill/>
          <a:ln/>
        </p:spPr>
        <p:txBody>
          <a:bodyPr wrap="square" lIns="0" tIns="0" rIns="0" bIns="0" rtlCol="0" anchor="ctr"/>
          <a:lstStyle/>
          <a:p>
            <a:pPr indent="0" marL="0">
              <a:buNone/>
            </a:pPr>
            <a:r>
              <a:rPr lang="en-US" sz="1050" b="1" dirty="0">
                <a:solidFill>
                  <a:srgbClr val="141413"/>
                </a:solidFill>
                <a:latin typeface="Courier New" pitchFamily="34" charset="0"/>
                <a:ea typeface="Courier New" pitchFamily="34" charset="-122"/>
                <a:cs typeface="Courier New" pitchFamily="34" charset="-120"/>
              </a:rPr>
              <a:t>user: </a:t>
            </a:r>
            <a:pPr indent="0" marL="0">
              <a:buNone/>
            </a:pPr>
            <a:r>
              <a:rPr lang="en-US" sz="1200" dirty="0">
                <a:solidFill>
                  <a:srgbClr val="141413"/>
                </a:solidFill>
                <a:latin typeface="Calibri" pitchFamily="34" charset="0"/>
                <a:ea typeface="Calibri" pitchFamily="34" charset="-122"/>
                <a:cs typeface="Calibri" pitchFamily="34" charset="-120"/>
              </a:rPr>
              <a:t>Where is order #12345?</a:t>
            </a:r>
            <a:endParaRPr lang="en-US" sz="1050" dirty="0"/>
          </a:p>
        </p:txBody>
      </p:sp>
      <p:sp>
        <p:nvSpPr>
          <p:cNvPr id="22" name="Shape 20"/>
          <p:cNvSpPr/>
          <p:nvPr/>
        </p:nvSpPr>
        <p:spPr>
          <a:xfrm>
            <a:off x="8302752" y="2770632"/>
            <a:ext cx="3154680" cy="530352"/>
          </a:xfrm>
          <a:prstGeom prst="roundRect">
            <a:avLst>
              <a:gd name="adj" fmla="val 13793"/>
            </a:avLst>
          </a:prstGeom>
          <a:solidFill>
            <a:srgbClr val="E8E6DC"/>
          </a:solidFill>
          <a:ln w="9525">
            <a:solidFill>
              <a:srgbClr val="E8E6DC"/>
            </a:solidFill>
            <a:prstDash val="solid"/>
          </a:ln>
        </p:spPr>
      </p:sp>
      <p:sp>
        <p:nvSpPr>
          <p:cNvPr id="23" name="Text 21"/>
          <p:cNvSpPr txBox="1"/>
          <p:nvPr/>
        </p:nvSpPr>
        <p:spPr>
          <a:xfrm>
            <a:off x="8394192" y="2770632"/>
            <a:ext cx="2971800" cy="530352"/>
          </a:xfrm>
          <a:prstGeom prst="rect">
            <a:avLst/>
          </a:prstGeom>
          <a:noFill/>
          <a:ln/>
        </p:spPr>
        <p:txBody>
          <a:bodyPr wrap="square" lIns="0" tIns="0" rIns="0" bIns="0" rtlCol="0" anchor="ctr"/>
          <a:lstStyle/>
          <a:p>
            <a:pPr indent="0" marL="0">
              <a:buNone/>
            </a:pPr>
            <a:r>
              <a:rPr lang="en-US" sz="1050" b="1" dirty="0">
                <a:solidFill>
                  <a:srgbClr val="141413"/>
                </a:solidFill>
                <a:latin typeface="Courier New" pitchFamily="34" charset="0"/>
                <a:ea typeface="Courier New" pitchFamily="34" charset="-122"/>
                <a:cs typeface="Courier New" pitchFamily="34" charset="-120"/>
              </a:rPr>
              <a:t>assistant: </a:t>
            </a:r>
            <a:pPr indent="0" marL="0">
              <a:buNone/>
            </a:pPr>
            <a:r>
              <a:rPr lang="en-US" sz="1200" dirty="0">
                <a:solidFill>
                  <a:srgbClr val="141413"/>
                </a:solidFill>
                <a:latin typeface="Calibri" pitchFamily="34" charset="0"/>
                <a:ea typeface="Calibri" pitchFamily="34" charset="-122"/>
                <a:cs typeface="Calibri" pitchFamily="34" charset="-120"/>
              </a:rPr>
              <a:t>Shipped, arrives Friday.</a:t>
            </a:r>
            <a:endParaRPr lang="en-US" sz="1050" dirty="0"/>
          </a:p>
        </p:txBody>
      </p:sp>
      <p:sp>
        <p:nvSpPr>
          <p:cNvPr id="24" name="Shape 22"/>
          <p:cNvSpPr/>
          <p:nvPr/>
        </p:nvSpPr>
        <p:spPr>
          <a:xfrm>
            <a:off x="8302752" y="3392424"/>
            <a:ext cx="3154680" cy="530352"/>
          </a:xfrm>
          <a:prstGeom prst="roundRect">
            <a:avLst>
              <a:gd name="adj" fmla="val 13793"/>
            </a:avLst>
          </a:prstGeom>
          <a:solidFill>
            <a:srgbClr val="FFFFFF"/>
          </a:solidFill>
          <a:ln w="9525">
            <a:solidFill>
              <a:srgbClr val="E8E6DC"/>
            </a:solidFill>
            <a:prstDash val="solid"/>
          </a:ln>
        </p:spPr>
      </p:sp>
      <p:sp>
        <p:nvSpPr>
          <p:cNvPr id="25" name="Text 23"/>
          <p:cNvSpPr txBox="1"/>
          <p:nvPr/>
        </p:nvSpPr>
        <p:spPr>
          <a:xfrm>
            <a:off x="8394192" y="3392424"/>
            <a:ext cx="2971800" cy="530352"/>
          </a:xfrm>
          <a:prstGeom prst="rect">
            <a:avLst/>
          </a:prstGeom>
          <a:noFill/>
          <a:ln/>
        </p:spPr>
        <p:txBody>
          <a:bodyPr wrap="square" lIns="0" tIns="0" rIns="0" bIns="0" rtlCol="0" anchor="ctr"/>
          <a:lstStyle/>
          <a:p>
            <a:pPr indent="0" marL="0">
              <a:buNone/>
            </a:pPr>
            <a:r>
              <a:rPr lang="en-US" sz="1050" b="1" dirty="0">
                <a:solidFill>
                  <a:srgbClr val="141413"/>
                </a:solidFill>
                <a:latin typeface="Courier New" pitchFamily="34" charset="0"/>
                <a:ea typeface="Courier New" pitchFamily="34" charset="-122"/>
                <a:cs typeface="Courier New" pitchFamily="34" charset="-120"/>
              </a:rPr>
              <a:t>user: </a:t>
            </a:r>
            <a:pPr indent="0" marL="0">
              <a:buNone/>
            </a:pPr>
            <a:r>
              <a:rPr lang="en-US" sz="1200" dirty="0">
                <a:solidFill>
                  <a:srgbClr val="141413"/>
                </a:solidFill>
                <a:latin typeface="Calibri" pitchFamily="34" charset="0"/>
                <a:ea typeface="Calibri" pitchFamily="34" charset="-122"/>
                <a:cs typeface="Calibri" pitchFamily="34" charset="-120"/>
              </a:rPr>
              <a:t>Can I change the address?</a:t>
            </a:r>
            <a:endParaRPr lang="en-US" sz="1050" dirty="0"/>
          </a:p>
        </p:txBody>
      </p:sp>
      <p:sp>
        <p:nvSpPr>
          <p:cNvPr id="26" name="Shape 24"/>
          <p:cNvSpPr/>
          <p:nvPr/>
        </p:nvSpPr>
        <p:spPr>
          <a:xfrm>
            <a:off x="8302752" y="4014216"/>
            <a:ext cx="3154680" cy="530352"/>
          </a:xfrm>
          <a:prstGeom prst="roundRect">
            <a:avLst>
              <a:gd name="adj" fmla="val 13793"/>
            </a:avLst>
          </a:prstGeom>
          <a:solidFill>
            <a:srgbClr val="E8E6DC"/>
          </a:solidFill>
          <a:ln w="9525">
            <a:solidFill>
              <a:srgbClr val="E8E6DC"/>
            </a:solidFill>
            <a:prstDash val="solid"/>
          </a:ln>
        </p:spPr>
      </p:sp>
      <p:sp>
        <p:nvSpPr>
          <p:cNvPr id="27" name="Text 25"/>
          <p:cNvSpPr txBox="1"/>
          <p:nvPr/>
        </p:nvSpPr>
        <p:spPr>
          <a:xfrm>
            <a:off x="8394192" y="4014216"/>
            <a:ext cx="2971800" cy="530352"/>
          </a:xfrm>
          <a:prstGeom prst="rect">
            <a:avLst/>
          </a:prstGeom>
          <a:noFill/>
          <a:ln/>
        </p:spPr>
        <p:txBody>
          <a:bodyPr wrap="square" lIns="0" tIns="0" rIns="0" bIns="0" rtlCol="0" anchor="ctr"/>
          <a:lstStyle/>
          <a:p>
            <a:pPr indent="0" marL="0">
              <a:buNone/>
            </a:pPr>
            <a:r>
              <a:rPr lang="en-US" sz="1050" b="1" dirty="0">
                <a:solidFill>
                  <a:srgbClr val="141413"/>
                </a:solidFill>
                <a:latin typeface="Courier New" pitchFamily="34" charset="0"/>
                <a:ea typeface="Courier New" pitchFamily="34" charset="-122"/>
                <a:cs typeface="Courier New" pitchFamily="34" charset="-120"/>
              </a:rPr>
              <a:t>assistant: </a:t>
            </a:r>
            <a:pPr indent="0" marL="0">
              <a:buNone/>
            </a:pPr>
            <a:r>
              <a:rPr lang="en-US" sz="1200" dirty="0">
                <a:solidFill>
                  <a:srgbClr val="141413"/>
                </a:solidFill>
                <a:latin typeface="Calibri" pitchFamily="34" charset="0"/>
                <a:ea typeface="Calibri" pitchFamily="34" charset="-122"/>
                <a:cs typeface="Calibri" pitchFamily="34" charset="-120"/>
              </a:rPr>
              <a:t>Not once shipped. Try the carrier.</a:t>
            </a:r>
            <a:endParaRPr lang="en-US" sz="1050" dirty="0"/>
          </a:p>
        </p:txBody>
      </p:sp>
      <p:sp>
        <p:nvSpPr>
          <p:cNvPr id="28" name="Shape 26"/>
          <p:cNvSpPr/>
          <p:nvPr/>
        </p:nvSpPr>
        <p:spPr>
          <a:xfrm>
            <a:off x="8302752" y="4636008"/>
            <a:ext cx="3154680" cy="530352"/>
          </a:xfrm>
          <a:prstGeom prst="roundRect">
            <a:avLst>
              <a:gd name="adj" fmla="val 13793"/>
            </a:avLst>
          </a:prstGeom>
          <a:solidFill>
            <a:srgbClr val="D97757"/>
          </a:solidFill>
          <a:ln w="9525">
            <a:solidFill>
              <a:srgbClr val="D97757"/>
            </a:solidFill>
            <a:prstDash val="solid"/>
          </a:ln>
        </p:spPr>
      </p:sp>
      <p:sp>
        <p:nvSpPr>
          <p:cNvPr id="29" name="Text 27"/>
          <p:cNvSpPr txBox="1"/>
          <p:nvPr/>
        </p:nvSpPr>
        <p:spPr>
          <a:xfrm>
            <a:off x="8394192" y="4636008"/>
            <a:ext cx="2971800" cy="530352"/>
          </a:xfrm>
          <a:prstGeom prst="rect">
            <a:avLst/>
          </a:prstGeom>
          <a:noFill/>
          <a:ln/>
        </p:spPr>
        <p:txBody>
          <a:bodyPr wrap="square" lIns="0" tIns="0" rIns="0" bIns="0" rtlCol="0" anchor="ctr"/>
          <a:lstStyle/>
          <a:p>
            <a:pPr indent="0" marL="0">
              <a:buNone/>
            </a:pPr>
            <a:r>
              <a:rPr lang="en-US" sz="1050" b="1" dirty="0">
                <a:solidFill>
                  <a:srgbClr val="FFFFFF"/>
                </a:solidFill>
                <a:latin typeface="Courier New" pitchFamily="34" charset="0"/>
                <a:ea typeface="Courier New" pitchFamily="34" charset="-122"/>
                <a:cs typeface="Courier New" pitchFamily="34" charset="-120"/>
              </a:rPr>
              <a:t>user: </a:t>
            </a:r>
            <a:pPr indent="0" marL="0">
              <a:buNone/>
            </a:pPr>
            <a:r>
              <a:rPr lang="en-US" sz="1200" dirty="0">
                <a:solidFill>
                  <a:srgbClr val="FFFFFF"/>
                </a:solidFill>
                <a:latin typeface="Calibri" pitchFamily="34" charset="0"/>
                <a:ea typeface="Calibri" pitchFamily="34" charset="-122"/>
                <a:cs typeface="Calibri" pitchFamily="34" charset="-120"/>
              </a:rPr>
              <a:t>OK, what is the carrier?</a:t>
            </a:r>
            <a:endParaRPr lang="en-US" sz="1050" dirty="0"/>
          </a:p>
        </p:txBody>
      </p:sp>
      <p:sp>
        <p:nvSpPr>
          <p:cNvPr id="30" name="Shape 28"/>
          <p:cNvSpPr/>
          <p:nvPr/>
        </p:nvSpPr>
        <p:spPr>
          <a:xfrm>
            <a:off x="548640" y="5440680"/>
            <a:ext cx="292608" cy="182880"/>
          </a:xfrm>
          <a:prstGeom prst="roundRect">
            <a:avLst>
              <a:gd name="adj" fmla="val 25000"/>
            </a:avLst>
          </a:prstGeom>
          <a:solidFill>
            <a:srgbClr val="D97757"/>
          </a:solidFill>
          <a:ln w="12700">
            <a:solidFill>
              <a:srgbClr val="D97757"/>
            </a:solidFill>
            <a:prstDash val="solid"/>
          </a:ln>
        </p:spPr>
      </p:sp>
      <p:sp>
        <p:nvSpPr>
          <p:cNvPr id="31" name="Text 29"/>
          <p:cNvSpPr txBox="1"/>
          <p:nvPr/>
        </p:nvSpPr>
        <p:spPr>
          <a:xfrm>
            <a:off x="914400" y="5394960"/>
            <a:ext cx="2011680" cy="274320"/>
          </a:xfrm>
          <a:prstGeom prst="rect">
            <a:avLst/>
          </a:prstGeom>
          <a:noFill/>
          <a:ln/>
        </p:spPr>
        <p:txBody>
          <a:bodyPr wrap="square" lIns="0" tIns="0" rIns="0" bIns="0" rtlCol="0" anchor="ctr"/>
          <a:lstStyle/>
          <a:p>
            <a:pPr indent="0" marL="0">
              <a:buNone/>
            </a:pPr>
            <a:r>
              <a:rPr lang="en-US" sz="1100" dirty="0">
                <a:solidFill>
                  <a:srgbClr val="5E5D59"/>
                </a:solidFill>
                <a:latin typeface="Calibri" pitchFamily="34" charset="0"/>
                <a:ea typeface="Calibri" pitchFamily="34" charset="-122"/>
                <a:cs typeface="Calibri" pitchFamily="34" charset="-120"/>
              </a:rPr>
              <a:t>new in this request</a:t>
            </a:r>
            <a:endParaRPr lang="en-US" sz="1100" dirty="0"/>
          </a:p>
        </p:txBody>
      </p:sp>
      <p:sp>
        <p:nvSpPr>
          <p:cNvPr id="32" name="Shape 30"/>
          <p:cNvSpPr/>
          <p:nvPr/>
        </p:nvSpPr>
        <p:spPr>
          <a:xfrm>
            <a:off x="548640" y="5715000"/>
            <a:ext cx="11091672" cy="594360"/>
          </a:xfrm>
          <a:prstGeom prst="roundRect">
            <a:avLst>
              <a:gd name="adj" fmla="val 18462"/>
            </a:avLst>
          </a:prstGeom>
          <a:solidFill>
            <a:srgbClr val="F6E4DB"/>
          </a:solidFill>
          <a:ln w="9525">
            <a:solidFill>
              <a:srgbClr val="F6E4DB"/>
            </a:solidFill>
            <a:prstDash val="solid"/>
          </a:ln>
        </p:spPr>
      </p:sp>
      <p:sp>
        <p:nvSpPr>
          <p:cNvPr id="33" name="Text 31"/>
          <p:cNvSpPr txBox="1"/>
          <p:nvPr/>
        </p:nvSpPr>
        <p:spPr>
          <a:xfrm>
            <a:off x="822960" y="5715000"/>
            <a:ext cx="10515600" cy="594360"/>
          </a:xfrm>
          <a:prstGeom prst="rect">
            <a:avLst/>
          </a:prstGeom>
          <a:noFill/>
          <a:ln/>
        </p:spPr>
        <p:txBody>
          <a:bodyPr wrap="square" lIns="0" tIns="0" rIns="0" bIns="0" rtlCol="0" anchor="ctr"/>
          <a:lstStyle/>
          <a:p>
            <a:pPr indent="0" marL="0">
              <a:buNone/>
            </a:pPr>
            <a:r>
              <a:rPr lang="en-US" sz="1400" dirty="0">
                <a:solidFill>
                  <a:srgbClr val="141413"/>
                </a:solidFill>
                <a:latin typeface="Calibri" pitchFamily="34" charset="0"/>
                <a:ea typeface="Calibri" pitchFamily="34" charset="-122"/>
                <a:cs typeface="Calibri" pitchFamily="34" charset="-120"/>
              </a:rPr>
              <a:t>Claude remembers nothing between calls. Your application owns the history. Forget a turn and Claude has lost it.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548640" y="365760"/>
            <a:ext cx="8686800" cy="274320"/>
          </a:xfrm>
          <a:prstGeom prst="rect">
            <a:avLst/>
          </a:prstGeom>
          <a:noFill/>
          <a:ln/>
        </p:spPr>
        <p:txBody>
          <a:bodyPr wrap="square" lIns="0" tIns="0" rIns="0" bIns="0"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CLAUDE API ESSENTIALS</a:t>
            </a:r>
            <a:endParaRPr lang="en-US" sz="1200" dirty="0"/>
          </a:p>
        </p:txBody>
      </p:sp>
      <p:sp>
        <p:nvSpPr>
          <p:cNvPr id="3" name="Text 1"/>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200" dirty="0">
                <a:solidFill>
                  <a:srgbClr val="141413"/>
                </a:solidFill>
                <a:latin typeface="Cambria" pitchFamily="34" charset="0"/>
                <a:ea typeface="Cambria" pitchFamily="34" charset="-122"/>
                <a:cs typeface="Cambria" pitchFamily="34" charset="-120"/>
              </a:rPr>
              <a:t>Defining a tool: name, description, JSON schema</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87867F"/>
                </a:solidFill>
                <a:latin typeface="Calibri" pitchFamily="34" charset="0"/>
                <a:ea typeface="Calibri" pitchFamily="34" charset="-122"/>
                <a:cs typeface="Calibri" pitchFamily="34" charset="-120"/>
              </a:rPr>
              <a:t>CCAR-F Skills Curriculum  ·  Session 1  ·  13</a:t>
            </a:r>
            <a:endParaRPr lang="en-US" sz="1000" dirty="0"/>
          </a:p>
        </p:txBody>
      </p:sp>
      <p:sp>
        <p:nvSpPr>
          <p:cNvPr id="5" name="Text 3"/>
          <p:cNvSpPr txBox="1"/>
          <p:nvPr/>
        </p:nvSpPr>
        <p:spPr>
          <a:xfrm>
            <a:off x="8869680" y="365760"/>
            <a:ext cx="2770632" cy="274320"/>
          </a:xfrm>
          <a:prstGeom prst="rect">
            <a:avLst/>
          </a:prstGeom>
          <a:noFill/>
          <a:ln/>
        </p:spPr>
        <p:txBody>
          <a:bodyPr wrap="square" lIns="0" tIns="0" rIns="0" bIns="0" rtlCol="0" anchor="ctr"/>
          <a:lstStyle/>
          <a:p>
            <a:pPr algn="r" indent="0" marL="0">
              <a:buNone/>
            </a:pPr>
            <a:r>
              <a:rPr lang="en-US" sz="1100" dirty="0">
                <a:solidFill>
                  <a:srgbClr val="87867F"/>
                </a:solidFill>
                <a:latin typeface="Calibri" pitchFamily="34" charset="0"/>
                <a:ea typeface="Calibri" pitchFamily="34" charset="-122"/>
                <a:cs typeface="Calibri" pitchFamily="34" charset="-120"/>
              </a:rPr>
              <a:t>24–26 min</a:t>
            </a:r>
            <a:endParaRPr lang="en-US" sz="1100" dirty="0"/>
          </a:p>
        </p:txBody>
      </p:sp>
      <p:sp>
        <p:nvSpPr>
          <p:cNvPr id="6" name="Shape 4"/>
          <p:cNvSpPr/>
          <p:nvPr/>
        </p:nvSpPr>
        <p:spPr>
          <a:xfrm>
            <a:off x="548640" y="1645920"/>
            <a:ext cx="6766560" cy="4343400"/>
          </a:xfrm>
          <a:prstGeom prst="roundRect">
            <a:avLst>
              <a:gd name="adj" fmla="val 2105"/>
            </a:avLst>
          </a:prstGeom>
          <a:solidFill>
            <a:srgbClr val="1F1E1D"/>
          </a:solidFill>
          <a:ln w="12700">
            <a:solidFill>
              <a:srgbClr val="1F1E1D"/>
            </a:solidFill>
            <a:prstDash val="solid"/>
          </a:ln>
        </p:spPr>
      </p:sp>
      <p:sp>
        <p:nvSpPr>
          <p:cNvPr id="7" name="Text 5"/>
          <p:cNvSpPr txBox="1"/>
          <p:nvPr/>
        </p:nvSpPr>
        <p:spPr>
          <a:xfrm>
            <a:off x="777240" y="1737360"/>
            <a:ext cx="6309360" cy="274320"/>
          </a:xfrm>
          <a:prstGeom prst="rect">
            <a:avLst/>
          </a:prstGeom>
          <a:noFill/>
          <a:ln/>
        </p:spPr>
        <p:txBody>
          <a:bodyPr wrap="square" lIns="0" tIns="0" rIns="0" bIns="0" rtlCol="0" anchor="ctr"/>
          <a:lstStyle/>
          <a:p>
            <a:pPr indent="0" marL="0">
              <a:buNone/>
            </a:pPr>
            <a:r>
              <a:rPr lang="en-US" sz="1000" dirty="0">
                <a:solidFill>
                  <a:srgbClr val="87867F"/>
                </a:solidFill>
                <a:latin typeface="Courier New" pitchFamily="34" charset="0"/>
                <a:ea typeface="Courier New" pitchFamily="34" charset="-122"/>
                <a:cs typeface="Courier New" pitchFamily="34" charset="-120"/>
              </a:rPr>
              <a:t>json  ·  one entry in the tools array</a:t>
            </a:r>
            <a:endParaRPr lang="en-US" sz="1000" dirty="0"/>
          </a:p>
        </p:txBody>
      </p:sp>
      <p:sp>
        <p:nvSpPr>
          <p:cNvPr id="8" name="Text 6"/>
          <p:cNvSpPr txBox="1"/>
          <p:nvPr/>
        </p:nvSpPr>
        <p:spPr>
          <a:xfrm>
            <a:off x="777240" y="2029968"/>
            <a:ext cx="6309360" cy="3840480"/>
          </a:xfrm>
          <a:prstGeom prst="rect">
            <a:avLst/>
          </a:prstGeom>
          <a:noFill/>
          <a:ln/>
        </p:spPr>
        <p:txBody>
          <a:bodyPr wrap="square" lIns="0" tIns="0" rIns="0" bIns="0" rtlCol="0" anchor="t"/>
          <a:lstStyle/>
          <a:p>
            <a:pPr indent="0" marL="0">
              <a:buNone/>
            </a:pPr>
            <a:r>
              <a:rPr lang="en-US" sz="1300" dirty="0">
                <a:solidFill>
                  <a:srgbClr val="E8E6DC"/>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  </a:t>
            </a:r>
            <a:pPr indent="0" marL="0">
              <a:buNone/>
            </a:pPr>
            <a:r>
              <a:rPr lang="en-US" sz="1300" dirty="0">
                <a:solidFill>
                  <a:srgbClr val="A8C98F"/>
                </a:solidFill>
                <a:latin typeface="Courier New" pitchFamily="34" charset="0"/>
                <a:ea typeface="Courier New" pitchFamily="34" charset="-122"/>
                <a:cs typeface="Courier New" pitchFamily="34" charset="-120"/>
              </a:rPr>
              <a:t>"name"</a:t>
            </a:r>
            <a:pPr indent="0" marL="0">
              <a:buNone/>
            </a:pPr>
            <a:r>
              <a:rPr lang="en-US" sz="1300" dirty="0">
                <a:solidFill>
                  <a:srgbClr val="E8E6DC"/>
                </a:solidFill>
                <a:latin typeface="Courier New" pitchFamily="34" charset="0"/>
                <a:ea typeface="Courier New" pitchFamily="34" charset="-122"/>
                <a:cs typeface="Courier New" pitchFamily="34" charset="-120"/>
              </a:rPr>
              <a:t>: </a:t>
            </a:r>
            <a:pPr indent="0" marL="0">
              <a:buNone/>
            </a:pPr>
            <a:r>
              <a:rPr lang="en-US" sz="1300" dirty="0">
                <a:solidFill>
                  <a:srgbClr val="A8C98F"/>
                </a:solidFill>
                <a:latin typeface="Courier New" pitchFamily="34" charset="0"/>
                <a:ea typeface="Courier New" pitchFamily="34" charset="-122"/>
                <a:cs typeface="Courier New" pitchFamily="34" charset="-120"/>
              </a:rPr>
              <a:t>"get_customer"</a:t>
            </a:r>
            <a:pPr indent="0" marL="0">
              <a:buNone/>
            </a:pPr>
            <a:r>
              <a:rPr lang="en-US" sz="1300" dirty="0">
                <a:solidFill>
                  <a:srgbClr val="E8E6DC"/>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  </a:t>
            </a:r>
            <a:pPr indent="0" marL="0">
              <a:buNone/>
            </a:pPr>
            <a:r>
              <a:rPr lang="en-US" sz="1300" dirty="0">
                <a:solidFill>
                  <a:srgbClr val="A8C98F"/>
                </a:solidFill>
                <a:latin typeface="Courier New" pitchFamily="34" charset="0"/>
                <a:ea typeface="Courier New" pitchFamily="34" charset="-122"/>
                <a:cs typeface="Courier New" pitchFamily="34" charset="-120"/>
              </a:rPr>
              <a:t>"description"</a:t>
            </a:r>
            <a:pPr indent="0" marL="0">
              <a:buNone/>
            </a:pPr>
            <a:r>
              <a:rPr lang="en-US" sz="1300" dirty="0">
                <a:solidFill>
                  <a:srgbClr val="E8E6DC"/>
                </a:solidFill>
                <a:latin typeface="Courier New" pitchFamily="34" charset="0"/>
                <a:ea typeface="Courier New" pitchFamily="34" charset="-122"/>
                <a:cs typeface="Courier New" pitchFamily="34" charset="-120"/>
              </a:rPr>
              <a:t>: "Look up a customer by email </a:t>
            </a:r>
            <a:pPr indent="0" marL="0">
              <a:buNone/>
            </a:pPr>
            <a:r>
              <a:rPr lang="en-US" sz="1300" dirty="0">
                <a:solidFill>
                  <a:srgbClr val="F0A98A"/>
                </a:solidFill>
                <a:latin typeface="Courier New" pitchFamily="34" charset="0"/>
                <a:ea typeface="Courier New" pitchFamily="34" charset="-122"/>
                <a:cs typeface="Courier New" pitchFamily="34" charset="-120"/>
              </a:rPr>
              <a:t>or</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    customer ID. Returns name, account status </a:t>
            </a:r>
            <a:pPr indent="0" marL="0">
              <a:buNone/>
            </a:pPr>
            <a:r>
              <a:rPr lang="en-US" sz="1300" dirty="0">
                <a:solidFill>
                  <a:srgbClr val="F0A98A"/>
                </a:solidFill>
                <a:latin typeface="Courier New" pitchFamily="34" charset="0"/>
                <a:ea typeface="Courier New" pitchFamily="34" charset="-122"/>
                <a:cs typeface="Courier New" pitchFamily="34" charset="-120"/>
              </a:rPr>
              <a:t>and</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    the verified customer_id. Use before any order</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    lookup. Does NOT </a:t>
            </a:r>
            <a:pPr indent="0" marL="0">
              <a:buNone/>
            </a:pPr>
            <a:r>
              <a:rPr lang="en-US" sz="1300" dirty="0">
                <a:solidFill>
                  <a:srgbClr val="F0A98A"/>
                </a:solidFill>
                <a:latin typeface="Courier New" pitchFamily="34" charset="0"/>
                <a:ea typeface="Courier New" pitchFamily="34" charset="-122"/>
                <a:cs typeface="Courier New" pitchFamily="34" charset="-120"/>
              </a:rPr>
              <a:t>return</a:t>
            </a:r>
            <a:pPr indent="0" marL="0">
              <a:buNone/>
            </a:pPr>
            <a:r>
              <a:rPr lang="en-US" sz="1300" dirty="0">
                <a:solidFill>
                  <a:srgbClr val="E8E6DC"/>
                </a:solidFill>
                <a:latin typeface="Courier New" pitchFamily="34" charset="0"/>
                <a:ea typeface="Courier New" pitchFamily="34" charset="-122"/>
                <a:cs typeface="Courier New" pitchFamily="34" charset="-120"/>
              </a:rPr>
              <a:t> order details.",</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  </a:t>
            </a:r>
            <a:pPr indent="0" marL="0">
              <a:buNone/>
            </a:pPr>
            <a:r>
              <a:rPr lang="en-US" sz="1300" dirty="0">
                <a:solidFill>
                  <a:srgbClr val="A8C98F"/>
                </a:solidFill>
                <a:latin typeface="Courier New" pitchFamily="34" charset="0"/>
                <a:ea typeface="Courier New" pitchFamily="34" charset="-122"/>
                <a:cs typeface="Courier New" pitchFamily="34" charset="-120"/>
              </a:rPr>
              <a:t>"input_schema"</a:t>
            </a:r>
            <a:pPr indent="0" marL="0">
              <a:buNone/>
            </a:pPr>
            <a:r>
              <a:rPr lang="en-US" sz="1300" dirty="0">
                <a:solidFill>
                  <a:srgbClr val="E8E6DC"/>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    </a:t>
            </a:r>
            <a:pPr indent="0" marL="0">
              <a:buNone/>
            </a:pPr>
            <a:r>
              <a:rPr lang="en-US" sz="1300" dirty="0">
                <a:solidFill>
                  <a:srgbClr val="A8C98F"/>
                </a:solidFill>
                <a:latin typeface="Courier New" pitchFamily="34" charset="0"/>
                <a:ea typeface="Courier New" pitchFamily="34" charset="-122"/>
                <a:cs typeface="Courier New" pitchFamily="34" charset="-120"/>
              </a:rPr>
              <a:t>"type"</a:t>
            </a:r>
            <a:pPr indent="0" marL="0">
              <a:buNone/>
            </a:pPr>
            <a:r>
              <a:rPr lang="en-US" sz="1300" dirty="0">
                <a:solidFill>
                  <a:srgbClr val="E8E6DC"/>
                </a:solidFill>
                <a:latin typeface="Courier New" pitchFamily="34" charset="0"/>
                <a:ea typeface="Courier New" pitchFamily="34" charset="-122"/>
                <a:cs typeface="Courier New" pitchFamily="34" charset="-120"/>
              </a:rPr>
              <a:t>: </a:t>
            </a:r>
            <a:pPr indent="0" marL="0">
              <a:buNone/>
            </a:pPr>
            <a:r>
              <a:rPr lang="en-US" sz="1300" dirty="0">
                <a:solidFill>
                  <a:srgbClr val="A8C98F"/>
                </a:solidFill>
                <a:latin typeface="Courier New" pitchFamily="34" charset="0"/>
                <a:ea typeface="Courier New" pitchFamily="34" charset="-122"/>
                <a:cs typeface="Courier New" pitchFamily="34" charset="-120"/>
              </a:rPr>
              <a:t>"object"</a:t>
            </a:r>
            <a:pPr indent="0" marL="0">
              <a:buNone/>
            </a:pPr>
            <a:r>
              <a:rPr lang="en-US" sz="1300" dirty="0">
                <a:solidFill>
                  <a:srgbClr val="E8E6DC"/>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    </a:t>
            </a:r>
            <a:pPr indent="0" marL="0">
              <a:buNone/>
            </a:pPr>
            <a:r>
              <a:rPr lang="en-US" sz="1300" dirty="0">
                <a:solidFill>
                  <a:srgbClr val="A8C98F"/>
                </a:solidFill>
                <a:latin typeface="Courier New" pitchFamily="34" charset="0"/>
                <a:ea typeface="Courier New" pitchFamily="34" charset="-122"/>
                <a:cs typeface="Courier New" pitchFamily="34" charset="-120"/>
              </a:rPr>
              <a:t>"properties"</a:t>
            </a:r>
            <a:pPr indent="0" marL="0">
              <a:buNone/>
            </a:pPr>
            <a:r>
              <a:rPr lang="en-US" sz="1300" dirty="0">
                <a:solidFill>
                  <a:srgbClr val="E8E6DC"/>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      </a:t>
            </a:r>
            <a:pPr indent="0" marL="0">
              <a:buNone/>
            </a:pPr>
            <a:r>
              <a:rPr lang="en-US" sz="1300" dirty="0">
                <a:solidFill>
                  <a:srgbClr val="A8C98F"/>
                </a:solidFill>
                <a:latin typeface="Courier New" pitchFamily="34" charset="0"/>
                <a:ea typeface="Courier New" pitchFamily="34" charset="-122"/>
                <a:cs typeface="Courier New" pitchFamily="34" charset="-120"/>
              </a:rPr>
              <a:t>"email"</a:t>
            </a:r>
            <a:pPr indent="0" marL="0">
              <a:buNone/>
            </a:pPr>
            <a:r>
              <a:rPr lang="en-US" sz="1300" dirty="0">
                <a:solidFill>
                  <a:srgbClr val="E8E6DC"/>
                </a:solidFill>
                <a:latin typeface="Courier New" pitchFamily="34" charset="0"/>
                <a:ea typeface="Courier New" pitchFamily="34" charset="-122"/>
                <a:cs typeface="Courier New" pitchFamily="34" charset="-120"/>
              </a:rPr>
              <a:t>: { </a:t>
            </a:r>
            <a:pPr indent="0" marL="0">
              <a:buNone/>
            </a:pPr>
            <a:r>
              <a:rPr lang="en-US" sz="1300" dirty="0">
                <a:solidFill>
                  <a:srgbClr val="A8C98F"/>
                </a:solidFill>
                <a:latin typeface="Courier New" pitchFamily="34" charset="0"/>
                <a:ea typeface="Courier New" pitchFamily="34" charset="-122"/>
                <a:cs typeface="Courier New" pitchFamily="34" charset="-120"/>
              </a:rPr>
              <a:t>"type"</a:t>
            </a:r>
            <a:pPr indent="0" marL="0">
              <a:buNone/>
            </a:pPr>
            <a:r>
              <a:rPr lang="en-US" sz="1300" dirty="0">
                <a:solidFill>
                  <a:srgbClr val="E8E6DC"/>
                </a:solidFill>
                <a:latin typeface="Courier New" pitchFamily="34" charset="0"/>
                <a:ea typeface="Courier New" pitchFamily="34" charset="-122"/>
                <a:cs typeface="Courier New" pitchFamily="34" charset="-120"/>
              </a:rPr>
              <a:t>: </a:t>
            </a:r>
            <a:pPr indent="0" marL="0">
              <a:buNone/>
            </a:pPr>
            <a:r>
              <a:rPr lang="en-US" sz="1300" dirty="0">
                <a:solidFill>
                  <a:srgbClr val="A8C98F"/>
                </a:solidFill>
                <a:latin typeface="Courier New" pitchFamily="34" charset="0"/>
                <a:ea typeface="Courier New" pitchFamily="34" charset="-122"/>
                <a:cs typeface="Courier New" pitchFamily="34" charset="-120"/>
              </a:rPr>
              <a:t>"string"</a:t>
            </a:r>
            <a:pPr indent="0" marL="0">
              <a:buNone/>
            </a:pPr>
            <a:r>
              <a:rPr lang="en-US" sz="1300" dirty="0">
                <a:solidFill>
                  <a:srgbClr val="E8E6DC"/>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                 </a:t>
            </a:r>
            <a:pPr indent="0" marL="0">
              <a:buNone/>
            </a:pPr>
            <a:r>
              <a:rPr lang="en-US" sz="1300" dirty="0">
                <a:solidFill>
                  <a:srgbClr val="A8C98F"/>
                </a:solidFill>
                <a:latin typeface="Courier New" pitchFamily="34" charset="0"/>
                <a:ea typeface="Courier New" pitchFamily="34" charset="-122"/>
                <a:cs typeface="Courier New" pitchFamily="34" charset="-120"/>
              </a:rPr>
              <a:t>"description"</a:t>
            </a:r>
            <a:pPr indent="0" marL="0">
              <a:buNone/>
            </a:pPr>
            <a:r>
              <a:rPr lang="en-US" sz="1300" dirty="0">
                <a:solidFill>
                  <a:srgbClr val="E8E6DC"/>
                </a:solidFill>
                <a:latin typeface="Courier New" pitchFamily="34" charset="0"/>
                <a:ea typeface="Courier New" pitchFamily="34" charset="-122"/>
                <a:cs typeface="Courier New" pitchFamily="34" charset="-120"/>
              </a:rPr>
              <a:t>: </a:t>
            </a:r>
            <a:pPr indent="0" marL="0">
              <a:buNone/>
            </a:pPr>
            <a:r>
              <a:rPr lang="en-US" sz="1300" dirty="0">
                <a:solidFill>
                  <a:srgbClr val="A8C98F"/>
                </a:solidFill>
                <a:latin typeface="Courier New" pitchFamily="34" charset="0"/>
                <a:ea typeface="Courier New" pitchFamily="34" charset="-122"/>
                <a:cs typeface="Courier New" pitchFamily="34" charset="-120"/>
              </a:rPr>
              <a:t>"e.g. ana@example.com"</a:t>
            </a:r>
            <a:pPr indent="0" marL="0">
              <a:buNone/>
            </a:pPr>
            <a:r>
              <a:rPr lang="en-US" sz="1300" dirty="0">
                <a:solidFill>
                  <a:srgbClr val="E8E6DC"/>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      </a:t>
            </a:r>
            <a:pPr indent="0" marL="0">
              <a:buNone/>
            </a:pPr>
            <a:r>
              <a:rPr lang="en-US" sz="1300" dirty="0">
                <a:solidFill>
                  <a:srgbClr val="A8C98F"/>
                </a:solidFill>
                <a:latin typeface="Courier New" pitchFamily="34" charset="0"/>
                <a:ea typeface="Courier New" pitchFamily="34" charset="-122"/>
                <a:cs typeface="Courier New" pitchFamily="34" charset="-120"/>
              </a:rPr>
              <a:t>"customer_id"</a:t>
            </a:r>
            <a:pPr indent="0" marL="0">
              <a:buNone/>
            </a:pPr>
            <a:r>
              <a:rPr lang="en-US" sz="1300" dirty="0">
                <a:solidFill>
                  <a:srgbClr val="E8E6DC"/>
                </a:solidFill>
                <a:latin typeface="Courier New" pitchFamily="34" charset="0"/>
                <a:ea typeface="Courier New" pitchFamily="34" charset="-122"/>
                <a:cs typeface="Courier New" pitchFamily="34" charset="-120"/>
              </a:rPr>
              <a:t>: { </a:t>
            </a:r>
            <a:pPr indent="0" marL="0">
              <a:buNone/>
            </a:pPr>
            <a:r>
              <a:rPr lang="en-US" sz="1300" dirty="0">
                <a:solidFill>
                  <a:srgbClr val="A8C98F"/>
                </a:solidFill>
                <a:latin typeface="Courier New" pitchFamily="34" charset="0"/>
                <a:ea typeface="Courier New" pitchFamily="34" charset="-122"/>
                <a:cs typeface="Courier New" pitchFamily="34" charset="-120"/>
              </a:rPr>
              <a:t>"type"</a:t>
            </a:r>
            <a:pPr indent="0" marL="0">
              <a:buNone/>
            </a:pPr>
            <a:r>
              <a:rPr lang="en-US" sz="1300" dirty="0">
                <a:solidFill>
                  <a:srgbClr val="E8E6DC"/>
                </a:solidFill>
                <a:latin typeface="Courier New" pitchFamily="34" charset="0"/>
                <a:ea typeface="Courier New" pitchFamily="34" charset="-122"/>
                <a:cs typeface="Courier New" pitchFamily="34" charset="-120"/>
              </a:rPr>
              <a:t>: </a:t>
            </a:r>
            <a:pPr indent="0" marL="0">
              <a:buNone/>
            </a:pPr>
            <a:r>
              <a:rPr lang="en-US" sz="1300" dirty="0">
                <a:solidFill>
                  <a:srgbClr val="A8C98F"/>
                </a:solidFill>
                <a:latin typeface="Courier New" pitchFamily="34" charset="0"/>
                <a:ea typeface="Courier New" pitchFamily="34" charset="-122"/>
                <a:cs typeface="Courier New" pitchFamily="34" charset="-120"/>
              </a:rPr>
              <a:t>"string"</a:t>
            </a:r>
            <a:pPr indent="0" marL="0">
              <a:buNone/>
            </a:pPr>
            <a:r>
              <a:rPr lang="en-US" sz="1300" dirty="0">
                <a:solidFill>
                  <a:srgbClr val="E8E6DC"/>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                       </a:t>
            </a:r>
            <a:pPr indent="0" marL="0">
              <a:buNone/>
            </a:pPr>
            <a:r>
              <a:rPr lang="en-US" sz="1300" dirty="0">
                <a:solidFill>
                  <a:srgbClr val="A8C98F"/>
                </a:solidFill>
                <a:latin typeface="Courier New" pitchFamily="34" charset="0"/>
                <a:ea typeface="Courier New" pitchFamily="34" charset="-122"/>
                <a:cs typeface="Courier New" pitchFamily="34" charset="-120"/>
              </a:rPr>
              <a:t>"description"</a:t>
            </a:r>
            <a:pPr indent="0" marL="0">
              <a:buNone/>
            </a:pPr>
            <a:r>
              <a:rPr lang="en-US" sz="1300" dirty="0">
                <a:solidFill>
                  <a:srgbClr val="E8E6DC"/>
                </a:solidFill>
                <a:latin typeface="Courier New" pitchFamily="34" charset="0"/>
                <a:ea typeface="Courier New" pitchFamily="34" charset="-122"/>
                <a:cs typeface="Courier New" pitchFamily="34" charset="-120"/>
              </a:rPr>
              <a:t>: </a:t>
            </a:r>
            <a:pPr indent="0" marL="0">
              <a:buNone/>
            </a:pPr>
            <a:r>
              <a:rPr lang="en-US" sz="1300" dirty="0">
                <a:solidFill>
                  <a:srgbClr val="A8C98F"/>
                </a:solidFill>
                <a:latin typeface="Courier New" pitchFamily="34" charset="0"/>
                <a:ea typeface="Courier New" pitchFamily="34" charset="-122"/>
                <a:cs typeface="Courier New" pitchFamily="34" charset="-120"/>
              </a:rPr>
              <a:t>"e.g. C-1001"</a:t>
            </a:r>
            <a:pPr indent="0" marL="0">
              <a:buNone/>
            </a:pPr>
            <a:r>
              <a:rPr lang="en-US" sz="1300" dirty="0">
                <a:solidFill>
                  <a:srgbClr val="E8E6DC"/>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a:t>
            </a:r>
            <a:endParaRPr lang="en-US" sz="1300" dirty="0"/>
          </a:p>
        </p:txBody>
      </p:sp>
      <p:sp>
        <p:nvSpPr>
          <p:cNvPr id="9" name="Shape 7"/>
          <p:cNvSpPr/>
          <p:nvPr/>
        </p:nvSpPr>
        <p:spPr>
          <a:xfrm>
            <a:off x="7589520" y="1645920"/>
            <a:ext cx="4050792" cy="1325880"/>
          </a:xfrm>
          <a:prstGeom prst="roundRect">
            <a:avLst>
              <a:gd name="adj" fmla="val 8276"/>
            </a:avLst>
          </a:prstGeom>
          <a:solidFill>
            <a:srgbClr val="FFFFFF"/>
          </a:solidFill>
          <a:ln w="9525">
            <a:solidFill>
              <a:srgbClr val="E8E6DC"/>
            </a:solidFill>
            <a:prstDash val="solid"/>
          </a:ln>
        </p:spPr>
      </p:sp>
      <p:sp>
        <p:nvSpPr>
          <p:cNvPr id="10" name="Text 8"/>
          <p:cNvSpPr txBox="1"/>
          <p:nvPr/>
        </p:nvSpPr>
        <p:spPr>
          <a:xfrm>
            <a:off x="7818120" y="1755648"/>
            <a:ext cx="3566160" cy="292608"/>
          </a:xfrm>
          <a:prstGeom prst="rect">
            <a:avLst/>
          </a:prstGeom>
          <a:noFill/>
          <a:ln/>
        </p:spPr>
        <p:txBody>
          <a:bodyPr wrap="square" lIns="0" tIns="0" rIns="0" bIns="0" rtlCol="0" anchor="ctr"/>
          <a:lstStyle/>
          <a:p>
            <a:pPr indent="0" marL="0">
              <a:buNone/>
            </a:pPr>
            <a:r>
              <a:rPr lang="en-US" sz="1500" b="1" dirty="0">
                <a:solidFill>
                  <a:srgbClr val="B85C3E"/>
                </a:solidFill>
                <a:latin typeface="Courier New" pitchFamily="34" charset="0"/>
                <a:ea typeface="Courier New" pitchFamily="34" charset="-122"/>
                <a:cs typeface="Courier New" pitchFamily="34" charset="-120"/>
              </a:rPr>
              <a:t>name</a:t>
            </a:r>
            <a:endParaRPr lang="en-US" sz="1500" dirty="0"/>
          </a:p>
        </p:txBody>
      </p:sp>
      <p:sp>
        <p:nvSpPr>
          <p:cNvPr id="11" name="Text 9"/>
          <p:cNvSpPr txBox="1"/>
          <p:nvPr/>
        </p:nvSpPr>
        <p:spPr>
          <a:xfrm>
            <a:off x="7818120" y="2103120"/>
            <a:ext cx="3611880" cy="822960"/>
          </a:xfrm>
          <a:prstGeom prst="rect">
            <a:avLst/>
          </a:prstGeom>
          <a:noFill/>
          <a:ln/>
        </p:spPr>
        <p:txBody>
          <a:bodyPr wrap="square" lIns="0" tIns="0" rIns="0" bIns="0" rtlCol="0" anchor="t"/>
          <a:lstStyle/>
          <a:p>
            <a:pPr indent="0" marL="0">
              <a:buNone/>
            </a:pPr>
            <a:r>
              <a:rPr lang="en-US" sz="1300" dirty="0">
                <a:solidFill>
                  <a:srgbClr val="5E5D59"/>
                </a:solidFill>
                <a:latin typeface="Calibri" pitchFamily="34" charset="0"/>
                <a:ea typeface="Calibri" pitchFamily="34" charset="-122"/>
                <a:cs typeface="Calibri" pitchFamily="34" charset="-120"/>
              </a:rPr>
              <a:t>How Claude refers to the tool in a tool_use block.</a:t>
            </a:r>
            <a:endParaRPr lang="en-US" sz="1300" dirty="0"/>
          </a:p>
        </p:txBody>
      </p:sp>
      <p:sp>
        <p:nvSpPr>
          <p:cNvPr id="12" name="Shape 10"/>
          <p:cNvSpPr/>
          <p:nvPr/>
        </p:nvSpPr>
        <p:spPr>
          <a:xfrm>
            <a:off x="7589520" y="3108960"/>
            <a:ext cx="4050792" cy="1325880"/>
          </a:xfrm>
          <a:prstGeom prst="roundRect">
            <a:avLst>
              <a:gd name="adj" fmla="val 8276"/>
            </a:avLst>
          </a:prstGeom>
          <a:solidFill>
            <a:srgbClr val="FFFFFF"/>
          </a:solidFill>
          <a:ln w="9525">
            <a:solidFill>
              <a:srgbClr val="E8E6DC"/>
            </a:solidFill>
            <a:prstDash val="solid"/>
          </a:ln>
        </p:spPr>
      </p:sp>
      <p:sp>
        <p:nvSpPr>
          <p:cNvPr id="13" name="Text 11"/>
          <p:cNvSpPr txBox="1"/>
          <p:nvPr/>
        </p:nvSpPr>
        <p:spPr>
          <a:xfrm>
            <a:off x="7818120" y="3218688"/>
            <a:ext cx="3566160" cy="292608"/>
          </a:xfrm>
          <a:prstGeom prst="rect">
            <a:avLst/>
          </a:prstGeom>
          <a:noFill/>
          <a:ln/>
        </p:spPr>
        <p:txBody>
          <a:bodyPr wrap="square" lIns="0" tIns="0" rIns="0" bIns="0" rtlCol="0" anchor="ctr"/>
          <a:lstStyle/>
          <a:p>
            <a:pPr indent="0" marL="0">
              <a:buNone/>
            </a:pPr>
            <a:r>
              <a:rPr lang="en-US" sz="1500" b="1" dirty="0">
                <a:solidFill>
                  <a:srgbClr val="B85C3E"/>
                </a:solidFill>
                <a:latin typeface="Courier New" pitchFamily="34" charset="0"/>
                <a:ea typeface="Courier New" pitchFamily="34" charset="-122"/>
                <a:cs typeface="Courier New" pitchFamily="34" charset="-120"/>
              </a:rPr>
              <a:t>description</a:t>
            </a:r>
            <a:endParaRPr lang="en-US" sz="1500" dirty="0"/>
          </a:p>
        </p:txBody>
      </p:sp>
      <p:sp>
        <p:nvSpPr>
          <p:cNvPr id="14" name="Text 12"/>
          <p:cNvSpPr txBox="1"/>
          <p:nvPr/>
        </p:nvSpPr>
        <p:spPr>
          <a:xfrm>
            <a:off x="7818120" y="3566160"/>
            <a:ext cx="3611880" cy="822960"/>
          </a:xfrm>
          <a:prstGeom prst="rect">
            <a:avLst/>
          </a:prstGeom>
          <a:noFill/>
          <a:ln/>
        </p:spPr>
        <p:txBody>
          <a:bodyPr wrap="square" lIns="0" tIns="0" rIns="0" bIns="0" rtlCol="0" anchor="t"/>
          <a:lstStyle/>
          <a:p>
            <a:pPr indent="0" marL="0">
              <a:buNone/>
            </a:pPr>
            <a:r>
              <a:rPr lang="en-US" sz="1300" dirty="0">
                <a:solidFill>
                  <a:srgbClr val="5E5D59"/>
                </a:solidFill>
                <a:latin typeface="Calibri" pitchFamily="34" charset="0"/>
                <a:ea typeface="Calibri" pitchFamily="34" charset="-122"/>
                <a:cs typeface="Calibri" pitchFamily="34" charset="-120"/>
              </a:rPr>
              <a:t>What it does and when to use it. Claude's main way to choose between tools. Session 3 goes deep.</a:t>
            </a:r>
            <a:endParaRPr lang="en-US" sz="1300" dirty="0"/>
          </a:p>
        </p:txBody>
      </p:sp>
      <p:sp>
        <p:nvSpPr>
          <p:cNvPr id="15" name="Shape 13"/>
          <p:cNvSpPr/>
          <p:nvPr/>
        </p:nvSpPr>
        <p:spPr>
          <a:xfrm>
            <a:off x="7589520" y="4572000"/>
            <a:ext cx="4050792" cy="1325880"/>
          </a:xfrm>
          <a:prstGeom prst="roundRect">
            <a:avLst>
              <a:gd name="adj" fmla="val 8276"/>
            </a:avLst>
          </a:prstGeom>
          <a:solidFill>
            <a:srgbClr val="FFFFFF"/>
          </a:solidFill>
          <a:ln w="9525">
            <a:solidFill>
              <a:srgbClr val="E8E6DC"/>
            </a:solidFill>
            <a:prstDash val="solid"/>
          </a:ln>
        </p:spPr>
      </p:sp>
      <p:sp>
        <p:nvSpPr>
          <p:cNvPr id="16" name="Text 14"/>
          <p:cNvSpPr txBox="1"/>
          <p:nvPr/>
        </p:nvSpPr>
        <p:spPr>
          <a:xfrm>
            <a:off x="7818120" y="4681728"/>
            <a:ext cx="3566160" cy="292608"/>
          </a:xfrm>
          <a:prstGeom prst="rect">
            <a:avLst/>
          </a:prstGeom>
          <a:noFill/>
          <a:ln/>
        </p:spPr>
        <p:txBody>
          <a:bodyPr wrap="square" lIns="0" tIns="0" rIns="0" bIns="0" rtlCol="0" anchor="ctr"/>
          <a:lstStyle/>
          <a:p>
            <a:pPr indent="0" marL="0">
              <a:buNone/>
            </a:pPr>
            <a:r>
              <a:rPr lang="en-US" sz="1500" b="1" dirty="0">
                <a:solidFill>
                  <a:srgbClr val="B85C3E"/>
                </a:solidFill>
                <a:latin typeface="Courier New" pitchFamily="34" charset="0"/>
                <a:ea typeface="Courier New" pitchFamily="34" charset="-122"/>
                <a:cs typeface="Courier New" pitchFamily="34" charset="-120"/>
              </a:rPr>
              <a:t>input_schema</a:t>
            </a:r>
            <a:endParaRPr lang="en-US" sz="1500" dirty="0"/>
          </a:p>
        </p:txBody>
      </p:sp>
      <p:sp>
        <p:nvSpPr>
          <p:cNvPr id="17" name="Text 15"/>
          <p:cNvSpPr txBox="1"/>
          <p:nvPr/>
        </p:nvSpPr>
        <p:spPr>
          <a:xfrm>
            <a:off x="7818120" y="5029200"/>
            <a:ext cx="3611880" cy="822960"/>
          </a:xfrm>
          <a:prstGeom prst="rect">
            <a:avLst/>
          </a:prstGeom>
          <a:noFill/>
          <a:ln/>
        </p:spPr>
        <p:txBody>
          <a:bodyPr wrap="square" lIns="0" tIns="0" rIns="0" bIns="0" rtlCol="0" anchor="t"/>
          <a:lstStyle/>
          <a:p>
            <a:pPr indent="0" marL="0">
              <a:buNone/>
            </a:pPr>
            <a:r>
              <a:rPr lang="en-US" sz="1300" dirty="0">
                <a:solidFill>
                  <a:srgbClr val="5E5D59"/>
                </a:solidFill>
                <a:latin typeface="Calibri" pitchFamily="34" charset="0"/>
                <a:ea typeface="Calibri" pitchFamily="34" charset="-122"/>
                <a:cs typeface="Calibri" pitchFamily="34" charset="-120"/>
              </a:rPr>
              <a:t>JSON Schema for the inputs. Claude fills it in; your code receives it.</a:t>
            </a:r>
            <a:endParaRPr lang="en-US" sz="1300" dirty="0"/>
          </a:p>
        </p:txBody>
      </p:sp>
      <p:sp>
        <p:nvSpPr>
          <p:cNvPr id="18" name="Text 16"/>
          <p:cNvSpPr txBox="1"/>
          <p:nvPr/>
        </p:nvSpPr>
        <p:spPr>
          <a:xfrm>
            <a:off x="7589520" y="6035040"/>
            <a:ext cx="4050792" cy="320040"/>
          </a:xfrm>
          <a:prstGeom prst="rect">
            <a:avLst/>
          </a:prstGeom>
          <a:noFill/>
          <a:ln/>
        </p:spPr>
        <p:txBody>
          <a:bodyPr wrap="square" lIns="0" tIns="0" rIns="0" bIns="0" rtlCol="0" anchor="ctr"/>
          <a:lstStyle/>
          <a:p>
            <a:pPr indent="0" marL="0">
              <a:buNone/>
            </a:pPr>
            <a:r>
              <a:rPr lang="en-US" sz="1200" i="1" dirty="0">
                <a:solidFill>
                  <a:srgbClr val="87867F"/>
                </a:solidFill>
                <a:latin typeface="Calibri" pitchFamily="34" charset="0"/>
                <a:ea typeface="Calibri" pitchFamily="34" charset="-122"/>
                <a:cs typeface="Calibri" pitchFamily="34" charset="-120"/>
              </a:rPr>
              <a:t>Claude only ever sees this definition, never your implementation.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548640" y="365760"/>
            <a:ext cx="8686800" cy="274320"/>
          </a:xfrm>
          <a:prstGeom prst="rect">
            <a:avLst/>
          </a:prstGeom>
          <a:noFill/>
          <a:ln/>
        </p:spPr>
        <p:txBody>
          <a:bodyPr wrap="square" lIns="0" tIns="0" rIns="0" bIns="0"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CLAUDE API ESSENTIALS</a:t>
            </a:r>
            <a:endParaRPr lang="en-US" sz="1200" dirty="0"/>
          </a:p>
        </p:txBody>
      </p:sp>
      <p:sp>
        <p:nvSpPr>
          <p:cNvPr id="3" name="Text 1"/>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200" dirty="0">
                <a:solidFill>
                  <a:srgbClr val="141413"/>
                </a:solidFill>
                <a:latin typeface="Cambria" pitchFamily="34" charset="0"/>
                <a:ea typeface="Cambria" pitchFamily="34" charset="-122"/>
                <a:cs typeface="Cambria" pitchFamily="34" charset="-120"/>
              </a:rPr>
              <a:t>One full tool-use cycle</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87867F"/>
                </a:solidFill>
                <a:latin typeface="Calibri" pitchFamily="34" charset="0"/>
                <a:ea typeface="Calibri" pitchFamily="34" charset="-122"/>
                <a:cs typeface="Calibri" pitchFamily="34" charset="-120"/>
              </a:rPr>
              <a:t>CCAR-F Skills Curriculum  ·  Session 1  ·  14</a:t>
            </a:r>
            <a:endParaRPr lang="en-US" sz="1000" dirty="0"/>
          </a:p>
        </p:txBody>
      </p:sp>
      <p:sp>
        <p:nvSpPr>
          <p:cNvPr id="5" name="Text 3"/>
          <p:cNvSpPr txBox="1"/>
          <p:nvPr/>
        </p:nvSpPr>
        <p:spPr>
          <a:xfrm>
            <a:off x="8869680" y="365760"/>
            <a:ext cx="2770632" cy="274320"/>
          </a:xfrm>
          <a:prstGeom prst="rect">
            <a:avLst/>
          </a:prstGeom>
          <a:noFill/>
          <a:ln/>
        </p:spPr>
        <p:txBody>
          <a:bodyPr wrap="square" lIns="0" tIns="0" rIns="0" bIns="0" rtlCol="0" anchor="ctr"/>
          <a:lstStyle/>
          <a:p>
            <a:pPr algn="r" indent="0" marL="0">
              <a:buNone/>
            </a:pPr>
            <a:r>
              <a:rPr lang="en-US" sz="1100" dirty="0">
                <a:solidFill>
                  <a:srgbClr val="87867F"/>
                </a:solidFill>
                <a:latin typeface="Calibri" pitchFamily="34" charset="0"/>
                <a:ea typeface="Calibri" pitchFamily="34" charset="-122"/>
                <a:cs typeface="Calibri" pitchFamily="34" charset="-120"/>
              </a:rPr>
              <a:t>26–29 min</a:t>
            </a:r>
            <a:endParaRPr lang="en-US" sz="1100" dirty="0"/>
          </a:p>
        </p:txBody>
      </p:sp>
      <p:sp>
        <p:nvSpPr>
          <p:cNvPr id="6" name="Shape 4"/>
          <p:cNvSpPr/>
          <p:nvPr/>
        </p:nvSpPr>
        <p:spPr>
          <a:xfrm>
            <a:off x="731520" y="1600200"/>
            <a:ext cx="2011680" cy="457200"/>
          </a:xfrm>
          <a:prstGeom prst="roundRect">
            <a:avLst>
              <a:gd name="adj" fmla="val 20000"/>
            </a:avLst>
          </a:prstGeom>
          <a:solidFill>
            <a:srgbClr val="141413"/>
          </a:solidFill>
          <a:ln w="12700">
            <a:solidFill>
              <a:srgbClr val="141413"/>
            </a:solidFill>
            <a:prstDash val="solid"/>
          </a:ln>
        </p:spPr>
      </p:sp>
      <p:sp>
        <p:nvSpPr>
          <p:cNvPr id="7" name="Text 5"/>
          <p:cNvSpPr txBox="1"/>
          <p:nvPr/>
        </p:nvSpPr>
        <p:spPr>
          <a:xfrm>
            <a:off x="731520" y="1600200"/>
            <a:ext cx="2011680" cy="457200"/>
          </a:xfrm>
          <a:prstGeom prst="rect">
            <a:avLst/>
          </a:prstGeom>
          <a:noFill/>
          <a:ln/>
        </p:spPr>
        <p:txBody>
          <a:bodyPr wrap="square" lIns="0" tIns="0" rIns="0" bIns="0" rtlCol="0" anchor="ctr"/>
          <a:lstStyle/>
          <a:p>
            <a:pPr algn="ctr" indent="0" marL="0">
              <a:buNone/>
            </a:pPr>
            <a:r>
              <a:rPr lang="en-US" sz="1400" dirty="0">
                <a:solidFill>
                  <a:srgbClr val="FFFFFF"/>
                </a:solidFill>
                <a:latin typeface="Cambria" pitchFamily="34" charset="0"/>
                <a:ea typeface="Cambria" pitchFamily="34" charset="-122"/>
                <a:cs typeface="Cambria" pitchFamily="34" charset="-120"/>
              </a:rPr>
              <a:t>Your application</a:t>
            </a:r>
            <a:endParaRPr lang="en-US" sz="1400" dirty="0"/>
          </a:p>
        </p:txBody>
      </p:sp>
      <p:sp>
        <p:nvSpPr>
          <p:cNvPr id="8" name="Shape 6"/>
          <p:cNvSpPr/>
          <p:nvPr/>
        </p:nvSpPr>
        <p:spPr>
          <a:xfrm>
            <a:off x="1737360" y="2057400"/>
            <a:ext cx="0" cy="4206240"/>
          </a:xfrm>
          <a:prstGeom prst="line">
            <a:avLst/>
          </a:prstGeom>
          <a:noFill/>
          <a:ln w="19050">
            <a:solidFill>
              <a:srgbClr val="E8E6DC"/>
            </a:solidFill>
            <a:prstDash val="dash"/>
          </a:ln>
        </p:spPr>
      </p:sp>
      <p:sp>
        <p:nvSpPr>
          <p:cNvPr id="9" name="Shape 7"/>
          <p:cNvSpPr/>
          <p:nvPr/>
        </p:nvSpPr>
        <p:spPr>
          <a:xfrm>
            <a:off x="5029200" y="1600200"/>
            <a:ext cx="2011680" cy="457200"/>
          </a:xfrm>
          <a:prstGeom prst="roundRect">
            <a:avLst>
              <a:gd name="adj" fmla="val 20000"/>
            </a:avLst>
          </a:prstGeom>
          <a:solidFill>
            <a:srgbClr val="D97757"/>
          </a:solidFill>
          <a:ln w="12700">
            <a:solidFill>
              <a:srgbClr val="D97757"/>
            </a:solidFill>
            <a:prstDash val="solid"/>
          </a:ln>
        </p:spPr>
      </p:sp>
      <p:sp>
        <p:nvSpPr>
          <p:cNvPr id="10" name="Text 8"/>
          <p:cNvSpPr txBox="1"/>
          <p:nvPr/>
        </p:nvSpPr>
        <p:spPr>
          <a:xfrm>
            <a:off x="5029200" y="1600200"/>
            <a:ext cx="2011680" cy="457200"/>
          </a:xfrm>
          <a:prstGeom prst="rect">
            <a:avLst/>
          </a:prstGeom>
          <a:noFill/>
          <a:ln/>
        </p:spPr>
        <p:txBody>
          <a:bodyPr wrap="square" lIns="0" tIns="0" rIns="0" bIns="0" rtlCol="0" anchor="ctr"/>
          <a:lstStyle/>
          <a:p>
            <a:pPr algn="ctr" indent="0" marL="0">
              <a:buNone/>
            </a:pPr>
            <a:r>
              <a:rPr lang="en-US" sz="1400" dirty="0">
                <a:solidFill>
                  <a:srgbClr val="FFFFFF"/>
                </a:solidFill>
                <a:latin typeface="Cambria" pitchFamily="34" charset="0"/>
                <a:ea typeface="Cambria" pitchFamily="34" charset="-122"/>
                <a:cs typeface="Cambria" pitchFamily="34" charset="-120"/>
              </a:rPr>
              <a:t>Claude API</a:t>
            </a:r>
            <a:endParaRPr lang="en-US" sz="1400" dirty="0"/>
          </a:p>
        </p:txBody>
      </p:sp>
      <p:sp>
        <p:nvSpPr>
          <p:cNvPr id="11" name="Shape 9"/>
          <p:cNvSpPr/>
          <p:nvPr/>
        </p:nvSpPr>
        <p:spPr>
          <a:xfrm>
            <a:off x="6035040" y="2057400"/>
            <a:ext cx="0" cy="4206240"/>
          </a:xfrm>
          <a:prstGeom prst="line">
            <a:avLst/>
          </a:prstGeom>
          <a:noFill/>
          <a:ln w="19050">
            <a:solidFill>
              <a:srgbClr val="E8E6DC"/>
            </a:solidFill>
            <a:prstDash val="dash"/>
          </a:ln>
        </p:spPr>
      </p:sp>
      <p:sp>
        <p:nvSpPr>
          <p:cNvPr id="12" name="Shape 10"/>
          <p:cNvSpPr/>
          <p:nvPr/>
        </p:nvSpPr>
        <p:spPr>
          <a:xfrm>
            <a:off x="1783080" y="2514600"/>
            <a:ext cx="4206240" cy="0"/>
          </a:xfrm>
          <a:prstGeom prst="line">
            <a:avLst/>
          </a:prstGeom>
          <a:noFill/>
          <a:ln w="25400">
            <a:solidFill>
              <a:srgbClr val="D97757"/>
            </a:solidFill>
            <a:prstDash val="solid"/>
            <a:tailEnd type="triangle"/>
          </a:ln>
        </p:spPr>
      </p:sp>
      <p:sp>
        <p:nvSpPr>
          <p:cNvPr id="13" name="Shape 11"/>
          <p:cNvSpPr/>
          <p:nvPr/>
        </p:nvSpPr>
        <p:spPr>
          <a:xfrm>
            <a:off x="502920" y="2340864"/>
            <a:ext cx="347472" cy="347472"/>
          </a:xfrm>
          <a:prstGeom prst="ellipse">
            <a:avLst/>
          </a:prstGeom>
          <a:solidFill>
            <a:srgbClr val="D97757"/>
          </a:solidFill>
          <a:ln w="12700">
            <a:solidFill>
              <a:srgbClr val="D97757"/>
            </a:solidFill>
            <a:prstDash val="solid"/>
          </a:ln>
        </p:spPr>
      </p:sp>
      <p:sp>
        <p:nvSpPr>
          <p:cNvPr id="14" name="Text 12"/>
          <p:cNvSpPr txBox="1"/>
          <p:nvPr/>
        </p:nvSpPr>
        <p:spPr>
          <a:xfrm>
            <a:off x="502920" y="234086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Text 13"/>
          <p:cNvSpPr txBox="1"/>
          <p:nvPr/>
        </p:nvSpPr>
        <p:spPr>
          <a:xfrm>
            <a:off x="1920240" y="2057400"/>
            <a:ext cx="3931920" cy="256032"/>
          </a:xfrm>
          <a:prstGeom prst="rect">
            <a:avLst/>
          </a:prstGeom>
          <a:noFill/>
          <a:ln/>
        </p:spPr>
        <p:txBody>
          <a:bodyPr wrap="square" lIns="0" tIns="0" rIns="0" bIns="0" rtlCol="0" anchor="ctr"/>
          <a:lstStyle/>
          <a:p>
            <a:pPr algn="ctr" indent="0" marL="0">
              <a:buNone/>
            </a:pPr>
            <a:r>
              <a:rPr lang="en-US" sz="1250" b="1" dirty="0">
                <a:solidFill>
                  <a:srgbClr val="141413"/>
                </a:solidFill>
                <a:latin typeface="Calibri" pitchFamily="34" charset="0"/>
                <a:ea typeface="Calibri" pitchFamily="34" charset="-122"/>
                <a:cs typeface="Calibri" pitchFamily="34" charset="-120"/>
              </a:rPr>
              <a:t>messages + tools</a:t>
            </a:r>
            <a:endParaRPr lang="en-US" sz="1250" dirty="0"/>
          </a:p>
        </p:txBody>
      </p:sp>
      <p:sp>
        <p:nvSpPr>
          <p:cNvPr id="16" name="Text 14"/>
          <p:cNvSpPr txBox="1"/>
          <p:nvPr/>
        </p:nvSpPr>
        <p:spPr>
          <a:xfrm>
            <a:off x="1920240" y="2569464"/>
            <a:ext cx="3931920" cy="237744"/>
          </a:xfrm>
          <a:prstGeom prst="rect">
            <a:avLst/>
          </a:prstGeom>
          <a:noFill/>
          <a:ln/>
        </p:spPr>
        <p:txBody>
          <a:bodyPr wrap="square" lIns="0" tIns="0" rIns="0" bIns="0" rtlCol="0" anchor="ctr"/>
          <a:lstStyle/>
          <a:p>
            <a:pPr algn="ctr" indent="0" marL="0">
              <a:buNone/>
            </a:pPr>
            <a:r>
              <a:rPr lang="en-US" sz="1100" dirty="0">
                <a:solidFill>
                  <a:srgbClr val="5E5D59"/>
                </a:solidFill>
                <a:latin typeface="Calibri" pitchFamily="34" charset="0"/>
                <a:ea typeface="Calibri" pitchFamily="34" charset="-122"/>
                <a:cs typeface="Calibri" pitchFamily="34" charset="-120"/>
              </a:rPr>
              <a:t>User asks about order 12345</a:t>
            </a:r>
            <a:endParaRPr lang="en-US" sz="1100" dirty="0"/>
          </a:p>
        </p:txBody>
      </p:sp>
      <p:sp>
        <p:nvSpPr>
          <p:cNvPr id="17" name="Shape 15"/>
          <p:cNvSpPr/>
          <p:nvPr/>
        </p:nvSpPr>
        <p:spPr>
          <a:xfrm flipH="1">
            <a:off x="1783080" y="3337560"/>
            <a:ext cx="4206240" cy="0"/>
          </a:xfrm>
          <a:prstGeom prst="line">
            <a:avLst/>
          </a:prstGeom>
          <a:noFill/>
          <a:ln w="25400">
            <a:solidFill>
              <a:srgbClr val="141413"/>
            </a:solidFill>
            <a:prstDash val="solid"/>
            <a:tailEnd type="triangle"/>
          </a:ln>
        </p:spPr>
      </p:sp>
      <p:sp>
        <p:nvSpPr>
          <p:cNvPr id="18" name="Shape 16"/>
          <p:cNvSpPr/>
          <p:nvPr/>
        </p:nvSpPr>
        <p:spPr>
          <a:xfrm>
            <a:off x="502920" y="3163824"/>
            <a:ext cx="347472" cy="347472"/>
          </a:xfrm>
          <a:prstGeom prst="ellipse">
            <a:avLst/>
          </a:prstGeom>
          <a:solidFill>
            <a:srgbClr val="D97757"/>
          </a:solidFill>
          <a:ln w="12700">
            <a:solidFill>
              <a:srgbClr val="D97757"/>
            </a:solidFill>
            <a:prstDash val="solid"/>
          </a:ln>
        </p:spPr>
      </p:sp>
      <p:sp>
        <p:nvSpPr>
          <p:cNvPr id="19" name="Text 17"/>
          <p:cNvSpPr txBox="1"/>
          <p:nvPr/>
        </p:nvSpPr>
        <p:spPr>
          <a:xfrm>
            <a:off x="502920" y="316382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0" name="Text 18"/>
          <p:cNvSpPr txBox="1"/>
          <p:nvPr/>
        </p:nvSpPr>
        <p:spPr>
          <a:xfrm>
            <a:off x="1920240" y="2880360"/>
            <a:ext cx="3931920" cy="256032"/>
          </a:xfrm>
          <a:prstGeom prst="rect">
            <a:avLst/>
          </a:prstGeom>
          <a:noFill/>
          <a:ln/>
        </p:spPr>
        <p:txBody>
          <a:bodyPr wrap="square" lIns="0" tIns="0" rIns="0" bIns="0" rtlCol="0" anchor="ctr"/>
          <a:lstStyle/>
          <a:p>
            <a:pPr algn="ctr" indent="0" marL="0">
              <a:buNone/>
            </a:pPr>
            <a:r>
              <a:rPr lang="en-US" sz="1250" b="1" dirty="0">
                <a:solidFill>
                  <a:srgbClr val="141413"/>
                </a:solidFill>
                <a:latin typeface="Calibri" pitchFamily="34" charset="0"/>
                <a:ea typeface="Calibri" pitchFamily="34" charset="-122"/>
                <a:cs typeface="Calibri" pitchFamily="34" charset="-120"/>
              </a:rPr>
              <a:t>tool_use  ·  stop_reason: "tool_use"</a:t>
            </a:r>
            <a:endParaRPr lang="en-US" sz="1250" dirty="0"/>
          </a:p>
        </p:txBody>
      </p:sp>
      <p:sp>
        <p:nvSpPr>
          <p:cNvPr id="21" name="Text 19"/>
          <p:cNvSpPr txBox="1"/>
          <p:nvPr/>
        </p:nvSpPr>
        <p:spPr>
          <a:xfrm>
            <a:off x="1920240" y="3392424"/>
            <a:ext cx="3931920" cy="237744"/>
          </a:xfrm>
          <a:prstGeom prst="rect">
            <a:avLst/>
          </a:prstGeom>
          <a:noFill/>
          <a:ln/>
        </p:spPr>
        <p:txBody>
          <a:bodyPr wrap="square" lIns="0" tIns="0" rIns="0" bIns="0" rtlCol="0" anchor="ctr"/>
          <a:lstStyle/>
          <a:p>
            <a:pPr algn="ctr" indent="0" marL="0">
              <a:buNone/>
            </a:pPr>
            <a:r>
              <a:rPr lang="en-US" sz="1100" dirty="0">
                <a:solidFill>
                  <a:srgbClr val="5E5D59"/>
                </a:solidFill>
                <a:latin typeface="Calibri" pitchFamily="34" charset="0"/>
                <a:ea typeface="Calibri" pitchFamily="34" charset="-122"/>
                <a:cs typeface="Calibri" pitchFamily="34" charset="-120"/>
              </a:rPr>
              <a:t>lookup_order { order_id: "12345" }</a:t>
            </a:r>
            <a:endParaRPr lang="en-US" sz="1100" dirty="0"/>
          </a:p>
        </p:txBody>
      </p:sp>
      <p:sp>
        <p:nvSpPr>
          <p:cNvPr id="22" name="Shape 20"/>
          <p:cNvSpPr/>
          <p:nvPr/>
        </p:nvSpPr>
        <p:spPr>
          <a:xfrm>
            <a:off x="1097280" y="3959352"/>
            <a:ext cx="1280160" cy="402336"/>
          </a:xfrm>
          <a:prstGeom prst="roundRect">
            <a:avLst>
              <a:gd name="adj" fmla="val 18182"/>
            </a:avLst>
          </a:prstGeom>
          <a:solidFill>
            <a:srgbClr val="E6ECDD"/>
          </a:solidFill>
          <a:ln w="12700">
            <a:solidFill>
              <a:srgbClr val="788C5D"/>
            </a:solidFill>
            <a:prstDash val="solid"/>
          </a:ln>
        </p:spPr>
      </p:sp>
      <p:sp>
        <p:nvSpPr>
          <p:cNvPr id="23" name="Text 21"/>
          <p:cNvSpPr txBox="1"/>
          <p:nvPr/>
        </p:nvSpPr>
        <p:spPr>
          <a:xfrm>
            <a:off x="1097280" y="3959352"/>
            <a:ext cx="1280160" cy="402336"/>
          </a:xfrm>
          <a:prstGeom prst="rect">
            <a:avLst/>
          </a:prstGeom>
          <a:noFill/>
          <a:ln/>
        </p:spPr>
        <p:txBody>
          <a:bodyPr wrap="square" lIns="0" tIns="0" rIns="0" bIns="0" rtlCol="0" anchor="ctr"/>
          <a:lstStyle/>
          <a:p>
            <a:pPr algn="ctr" indent="0" marL="0">
              <a:buNone/>
            </a:pPr>
            <a:r>
              <a:rPr lang="en-US" sz="1100" dirty="0">
                <a:solidFill>
                  <a:srgbClr val="141413"/>
                </a:solidFill>
                <a:latin typeface="Courier New" pitchFamily="34" charset="0"/>
                <a:ea typeface="Courier New" pitchFamily="34" charset="-122"/>
                <a:cs typeface="Courier New" pitchFamily="34" charset="-120"/>
              </a:rPr>
              <a:t>your code</a:t>
            </a:r>
            <a:endParaRPr lang="en-US" sz="1100" dirty="0"/>
          </a:p>
        </p:txBody>
      </p:sp>
      <p:sp>
        <p:nvSpPr>
          <p:cNvPr id="24" name="Shape 22"/>
          <p:cNvSpPr/>
          <p:nvPr/>
        </p:nvSpPr>
        <p:spPr>
          <a:xfrm>
            <a:off x="502920" y="3986784"/>
            <a:ext cx="347472" cy="347472"/>
          </a:xfrm>
          <a:prstGeom prst="ellipse">
            <a:avLst/>
          </a:prstGeom>
          <a:solidFill>
            <a:srgbClr val="D97757"/>
          </a:solidFill>
          <a:ln w="12700">
            <a:solidFill>
              <a:srgbClr val="D97757"/>
            </a:solidFill>
            <a:prstDash val="solid"/>
          </a:ln>
        </p:spPr>
      </p:sp>
      <p:sp>
        <p:nvSpPr>
          <p:cNvPr id="25" name="Text 23"/>
          <p:cNvSpPr txBox="1"/>
          <p:nvPr/>
        </p:nvSpPr>
        <p:spPr>
          <a:xfrm>
            <a:off x="502920" y="398678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6" name="Text 24"/>
          <p:cNvSpPr txBox="1"/>
          <p:nvPr/>
        </p:nvSpPr>
        <p:spPr>
          <a:xfrm>
            <a:off x="2514600" y="3886200"/>
            <a:ext cx="3840480" cy="292608"/>
          </a:xfrm>
          <a:prstGeom prst="rect">
            <a:avLst/>
          </a:prstGeom>
          <a:noFill/>
          <a:ln/>
        </p:spPr>
        <p:txBody>
          <a:bodyPr wrap="square" lIns="0" tIns="0" rIns="0" bIns="0" rtlCol="0" anchor="ctr"/>
          <a:lstStyle/>
          <a:p>
            <a:pPr indent="0" marL="0">
              <a:buNone/>
            </a:pPr>
            <a:r>
              <a:rPr lang="en-US" sz="1300" b="1" dirty="0">
                <a:solidFill>
                  <a:srgbClr val="141413"/>
                </a:solidFill>
                <a:latin typeface="Calibri" pitchFamily="34" charset="0"/>
                <a:ea typeface="Calibri" pitchFamily="34" charset="-122"/>
                <a:cs typeface="Calibri" pitchFamily="34" charset="-120"/>
              </a:rPr>
              <a:t>Your code runs lookup_order</a:t>
            </a:r>
            <a:endParaRPr lang="en-US" sz="1300" dirty="0"/>
          </a:p>
        </p:txBody>
      </p:sp>
      <p:sp>
        <p:nvSpPr>
          <p:cNvPr id="27" name="Text 25"/>
          <p:cNvSpPr txBox="1"/>
          <p:nvPr/>
        </p:nvSpPr>
        <p:spPr>
          <a:xfrm>
            <a:off x="2514600" y="4178808"/>
            <a:ext cx="3840480" cy="274320"/>
          </a:xfrm>
          <a:prstGeom prst="rect">
            <a:avLst/>
          </a:prstGeom>
          <a:noFill/>
          <a:ln/>
        </p:spPr>
        <p:txBody>
          <a:bodyPr wrap="square" lIns="0" tIns="0" rIns="0" bIns="0" rtlCol="0" anchor="ctr"/>
          <a:lstStyle/>
          <a:p>
            <a:pPr indent="0" marL="0">
              <a:buNone/>
            </a:pPr>
            <a:r>
              <a:rPr lang="en-US" sz="1150" dirty="0">
                <a:solidFill>
                  <a:srgbClr val="5E5D59"/>
                </a:solidFill>
                <a:latin typeface="Calibri" pitchFamily="34" charset="0"/>
                <a:ea typeface="Calibri" pitchFamily="34" charset="-122"/>
                <a:cs typeface="Calibri" pitchFamily="34" charset="-120"/>
              </a:rPr>
              <a:t>Claude never executes anything</a:t>
            </a:r>
            <a:endParaRPr lang="en-US" sz="1150" dirty="0"/>
          </a:p>
        </p:txBody>
      </p:sp>
      <p:sp>
        <p:nvSpPr>
          <p:cNvPr id="28" name="Shape 26"/>
          <p:cNvSpPr/>
          <p:nvPr/>
        </p:nvSpPr>
        <p:spPr>
          <a:xfrm>
            <a:off x="1783080" y="5074920"/>
            <a:ext cx="4206240" cy="0"/>
          </a:xfrm>
          <a:prstGeom prst="line">
            <a:avLst/>
          </a:prstGeom>
          <a:noFill/>
          <a:ln w="25400">
            <a:solidFill>
              <a:srgbClr val="D97757"/>
            </a:solidFill>
            <a:prstDash val="solid"/>
            <a:tailEnd type="triangle"/>
          </a:ln>
        </p:spPr>
      </p:sp>
      <p:sp>
        <p:nvSpPr>
          <p:cNvPr id="29" name="Shape 27"/>
          <p:cNvSpPr/>
          <p:nvPr/>
        </p:nvSpPr>
        <p:spPr>
          <a:xfrm>
            <a:off x="502920" y="4901184"/>
            <a:ext cx="347472" cy="347472"/>
          </a:xfrm>
          <a:prstGeom prst="ellipse">
            <a:avLst/>
          </a:prstGeom>
          <a:solidFill>
            <a:srgbClr val="D97757"/>
          </a:solidFill>
          <a:ln w="12700">
            <a:solidFill>
              <a:srgbClr val="D97757"/>
            </a:solidFill>
            <a:prstDash val="solid"/>
          </a:ln>
        </p:spPr>
      </p:sp>
      <p:sp>
        <p:nvSpPr>
          <p:cNvPr id="30" name="Text 28"/>
          <p:cNvSpPr txBox="1"/>
          <p:nvPr/>
        </p:nvSpPr>
        <p:spPr>
          <a:xfrm>
            <a:off x="502920" y="490118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1" name="Text 29"/>
          <p:cNvSpPr txBox="1"/>
          <p:nvPr/>
        </p:nvSpPr>
        <p:spPr>
          <a:xfrm>
            <a:off x="1920240" y="4617720"/>
            <a:ext cx="3931920" cy="256032"/>
          </a:xfrm>
          <a:prstGeom prst="rect">
            <a:avLst/>
          </a:prstGeom>
          <a:noFill/>
          <a:ln/>
        </p:spPr>
        <p:txBody>
          <a:bodyPr wrap="square" lIns="0" tIns="0" rIns="0" bIns="0" rtlCol="0" anchor="ctr"/>
          <a:lstStyle/>
          <a:p>
            <a:pPr algn="ctr" indent="0" marL="0">
              <a:buNone/>
            </a:pPr>
            <a:r>
              <a:rPr lang="en-US" sz="1250" b="1" dirty="0">
                <a:solidFill>
                  <a:srgbClr val="141413"/>
                </a:solidFill>
                <a:latin typeface="Calibri" pitchFamily="34" charset="0"/>
                <a:ea typeface="Calibri" pitchFamily="34" charset="-122"/>
                <a:cs typeface="Calibri" pitchFamily="34" charset="-120"/>
              </a:rPr>
              <a:t>full history + tool_result</a:t>
            </a:r>
            <a:endParaRPr lang="en-US" sz="1250" dirty="0"/>
          </a:p>
        </p:txBody>
      </p:sp>
      <p:sp>
        <p:nvSpPr>
          <p:cNvPr id="32" name="Text 30"/>
          <p:cNvSpPr txBox="1"/>
          <p:nvPr/>
        </p:nvSpPr>
        <p:spPr>
          <a:xfrm>
            <a:off x="1920240" y="5129784"/>
            <a:ext cx="3931920" cy="237744"/>
          </a:xfrm>
          <a:prstGeom prst="rect">
            <a:avLst/>
          </a:prstGeom>
          <a:noFill/>
          <a:ln/>
        </p:spPr>
        <p:txBody>
          <a:bodyPr wrap="square" lIns="0" tIns="0" rIns="0" bIns="0" rtlCol="0" anchor="ctr"/>
          <a:lstStyle/>
          <a:p>
            <a:pPr algn="ctr" indent="0" marL="0">
              <a:buNone/>
            </a:pPr>
            <a:r>
              <a:rPr lang="en-US" sz="1100" dirty="0">
                <a:solidFill>
                  <a:srgbClr val="5E5D59"/>
                </a:solidFill>
                <a:latin typeface="Calibri" pitchFamily="34" charset="0"/>
                <a:ea typeface="Calibri" pitchFamily="34" charset="-122"/>
                <a:cs typeface="Calibri" pitchFamily="34" charset="-120"/>
              </a:rPr>
              <a:t>user turn, matching tool_use_id</a:t>
            </a:r>
            <a:endParaRPr lang="en-US" sz="1100" dirty="0"/>
          </a:p>
        </p:txBody>
      </p:sp>
      <p:sp>
        <p:nvSpPr>
          <p:cNvPr id="33" name="Shape 31"/>
          <p:cNvSpPr/>
          <p:nvPr/>
        </p:nvSpPr>
        <p:spPr>
          <a:xfrm flipH="1">
            <a:off x="1783080" y="5897880"/>
            <a:ext cx="4206240" cy="0"/>
          </a:xfrm>
          <a:prstGeom prst="line">
            <a:avLst/>
          </a:prstGeom>
          <a:noFill/>
          <a:ln w="25400">
            <a:solidFill>
              <a:srgbClr val="141413"/>
            </a:solidFill>
            <a:prstDash val="solid"/>
            <a:tailEnd type="triangle"/>
          </a:ln>
        </p:spPr>
      </p:sp>
      <p:sp>
        <p:nvSpPr>
          <p:cNvPr id="34" name="Shape 32"/>
          <p:cNvSpPr/>
          <p:nvPr/>
        </p:nvSpPr>
        <p:spPr>
          <a:xfrm>
            <a:off x="502920" y="5724144"/>
            <a:ext cx="347472" cy="347472"/>
          </a:xfrm>
          <a:prstGeom prst="ellipse">
            <a:avLst/>
          </a:prstGeom>
          <a:solidFill>
            <a:srgbClr val="D97757"/>
          </a:solidFill>
          <a:ln w="12700">
            <a:solidFill>
              <a:srgbClr val="D97757"/>
            </a:solidFill>
            <a:prstDash val="solid"/>
          </a:ln>
        </p:spPr>
      </p:sp>
      <p:sp>
        <p:nvSpPr>
          <p:cNvPr id="35" name="Text 33"/>
          <p:cNvSpPr txBox="1"/>
          <p:nvPr/>
        </p:nvSpPr>
        <p:spPr>
          <a:xfrm>
            <a:off x="502920" y="572414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6" name="Text 34"/>
          <p:cNvSpPr txBox="1"/>
          <p:nvPr/>
        </p:nvSpPr>
        <p:spPr>
          <a:xfrm>
            <a:off x="1920240" y="5440680"/>
            <a:ext cx="3931920" cy="256032"/>
          </a:xfrm>
          <a:prstGeom prst="rect">
            <a:avLst/>
          </a:prstGeom>
          <a:noFill/>
          <a:ln/>
        </p:spPr>
        <p:txBody>
          <a:bodyPr wrap="square" lIns="0" tIns="0" rIns="0" bIns="0" rtlCol="0" anchor="ctr"/>
          <a:lstStyle/>
          <a:p>
            <a:pPr algn="ctr" indent="0" marL="0">
              <a:buNone/>
            </a:pPr>
            <a:r>
              <a:rPr lang="en-US" sz="1250" b="1" dirty="0">
                <a:solidFill>
                  <a:srgbClr val="141413"/>
                </a:solidFill>
                <a:latin typeface="Calibri" pitchFamily="34" charset="0"/>
                <a:ea typeface="Calibri" pitchFamily="34" charset="-122"/>
                <a:cs typeface="Calibri" pitchFamily="34" charset="-120"/>
              </a:rPr>
              <a:t>final text  ·  stop_reason: "end_turn"</a:t>
            </a:r>
            <a:endParaRPr lang="en-US" sz="1250" dirty="0"/>
          </a:p>
        </p:txBody>
      </p:sp>
      <p:sp>
        <p:nvSpPr>
          <p:cNvPr id="37" name="Text 35"/>
          <p:cNvSpPr txBox="1"/>
          <p:nvPr/>
        </p:nvSpPr>
        <p:spPr>
          <a:xfrm>
            <a:off x="1920240" y="5952744"/>
            <a:ext cx="3931920" cy="237744"/>
          </a:xfrm>
          <a:prstGeom prst="rect">
            <a:avLst/>
          </a:prstGeom>
          <a:noFill/>
          <a:ln/>
        </p:spPr>
        <p:txBody>
          <a:bodyPr wrap="square" lIns="0" tIns="0" rIns="0" bIns="0" rtlCol="0" anchor="ctr"/>
          <a:lstStyle/>
          <a:p>
            <a:pPr algn="ctr" indent="0" marL="0">
              <a:buNone/>
            </a:pPr>
            <a:r>
              <a:rPr lang="en-US" sz="1100" dirty="0">
                <a:solidFill>
                  <a:srgbClr val="5E5D59"/>
                </a:solidFill>
                <a:latin typeface="Calibri" pitchFamily="34" charset="0"/>
                <a:ea typeface="Calibri" pitchFamily="34" charset="-122"/>
                <a:cs typeface="Calibri" pitchFamily="34" charset="-120"/>
              </a:rPr>
              <a:t>Answer for the customer</a:t>
            </a:r>
            <a:endParaRPr lang="en-US" sz="1100" dirty="0"/>
          </a:p>
        </p:txBody>
      </p:sp>
      <p:sp>
        <p:nvSpPr>
          <p:cNvPr id="38" name="Shape 36"/>
          <p:cNvSpPr/>
          <p:nvPr/>
        </p:nvSpPr>
        <p:spPr>
          <a:xfrm>
            <a:off x="7863840" y="1645920"/>
            <a:ext cx="3776472" cy="1371600"/>
          </a:xfrm>
          <a:prstGeom prst="roundRect">
            <a:avLst>
              <a:gd name="adj" fmla="val 8000"/>
            </a:avLst>
          </a:prstGeom>
          <a:solidFill>
            <a:srgbClr val="FFFFFF"/>
          </a:solidFill>
          <a:ln w="9525">
            <a:solidFill>
              <a:srgbClr val="E8E6DC"/>
            </a:solidFill>
            <a:prstDash val="solid"/>
          </a:ln>
        </p:spPr>
      </p:sp>
      <p:sp>
        <p:nvSpPr>
          <p:cNvPr id="39" name="Text 37"/>
          <p:cNvSpPr txBox="1"/>
          <p:nvPr/>
        </p:nvSpPr>
        <p:spPr>
          <a:xfrm>
            <a:off x="8092440" y="1755648"/>
            <a:ext cx="3383280" cy="292608"/>
          </a:xfrm>
          <a:prstGeom prst="rect">
            <a:avLst/>
          </a:prstGeom>
          <a:noFill/>
          <a:ln/>
        </p:spPr>
        <p:txBody>
          <a:bodyPr wrap="square" lIns="0" tIns="0" rIns="0" bIns="0" rtlCol="0" anchor="ctr"/>
          <a:lstStyle/>
          <a:p>
            <a:pPr indent="0" marL="0">
              <a:buNone/>
            </a:pPr>
            <a:r>
              <a:rPr lang="en-US" sz="1500" dirty="0">
                <a:solidFill>
                  <a:srgbClr val="B85C3E"/>
                </a:solidFill>
                <a:latin typeface="Cambria" pitchFamily="34" charset="0"/>
                <a:ea typeface="Cambria" pitchFamily="34" charset="-122"/>
                <a:cs typeface="Cambria" pitchFamily="34" charset="-120"/>
              </a:rPr>
              <a:t>Append two turns</a:t>
            </a:r>
            <a:endParaRPr lang="en-US" sz="1500" dirty="0"/>
          </a:p>
        </p:txBody>
      </p:sp>
      <p:sp>
        <p:nvSpPr>
          <p:cNvPr id="40" name="Text 38"/>
          <p:cNvSpPr txBox="1"/>
          <p:nvPr/>
        </p:nvSpPr>
        <p:spPr>
          <a:xfrm>
            <a:off x="8092440" y="2103120"/>
            <a:ext cx="3383280" cy="868680"/>
          </a:xfrm>
          <a:prstGeom prst="rect">
            <a:avLst/>
          </a:prstGeom>
          <a:noFill/>
          <a:ln/>
        </p:spPr>
        <p:txBody>
          <a:bodyPr wrap="square" lIns="0" tIns="0" rIns="0" bIns="0" rtlCol="0" anchor="t"/>
          <a:lstStyle/>
          <a:p>
            <a:pPr indent="0" marL="0">
              <a:buNone/>
            </a:pPr>
            <a:r>
              <a:rPr lang="en-US" sz="1300" dirty="0">
                <a:solidFill>
                  <a:srgbClr val="5E5D59"/>
                </a:solidFill>
                <a:latin typeface="Calibri" pitchFamily="34" charset="0"/>
                <a:ea typeface="Calibri" pitchFamily="34" charset="-122"/>
                <a:cs typeface="Calibri" pitchFamily="34" charset="-120"/>
              </a:rPr>
              <a:t>The assistant's tool_use turn, then a user turn holding the tool_result.</a:t>
            </a:r>
            <a:endParaRPr lang="en-US" sz="1300" dirty="0"/>
          </a:p>
        </p:txBody>
      </p:sp>
      <p:sp>
        <p:nvSpPr>
          <p:cNvPr id="41" name="Shape 39"/>
          <p:cNvSpPr/>
          <p:nvPr/>
        </p:nvSpPr>
        <p:spPr>
          <a:xfrm>
            <a:off x="7863840" y="3154680"/>
            <a:ext cx="3776472" cy="1371600"/>
          </a:xfrm>
          <a:prstGeom prst="roundRect">
            <a:avLst>
              <a:gd name="adj" fmla="val 8000"/>
            </a:avLst>
          </a:prstGeom>
          <a:solidFill>
            <a:srgbClr val="FFFFFF"/>
          </a:solidFill>
          <a:ln w="9525">
            <a:solidFill>
              <a:srgbClr val="E8E6DC"/>
            </a:solidFill>
            <a:prstDash val="solid"/>
          </a:ln>
        </p:spPr>
      </p:sp>
      <p:sp>
        <p:nvSpPr>
          <p:cNvPr id="42" name="Text 40"/>
          <p:cNvSpPr txBox="1"/>
          <p:nvPr/>
        </p:nvSpPr>
        <p:spPr>
          <a:xfrm>
            <a:off x="8092440" y="3264408"/>
            <a:ext cx="3383280" cy="292608"/>
          </a:xfrm>
          <a:prstGeom prst="rect">
            <a:avLst/>
          </a:prstGeom>
          <a:noFill/>
          <a:ln/>
        </p:spPr>
        <p:txBody>
          <a:bodyPr wrap="square" lIns="0" tIns="0" rIns="0" bIns="0" rtlCol="0" anchor="ctr"/>
          <a:lstStyle/>
          <a:p>
            <a:pPr indent="0" marL="0">
              <a:buNone/>
            </a:pPr>
            <a:r>
              <a:rPr lang="en-US" sz="1500" dirty="0">
                <a:solidFill>
                  <a:srgbClr val="B85C3E"/>
                </a:solidFill>
                <a:latin typeface="Cambria" pitchFamily="34" charset="0"/>
                <a:ea typeface="Cambria" pitchFamily="34" charset="-122"/>
                <a:cs typeface="Cambria" pitchFamily="34" charset="-120"/>
              </a:rPr>
              <a:t>Match the id</a:t>
            </a:r>
            <a:endParaRPr lang="en-US" sz="1500" dirty="0"/>
          </a:p>
        </p:txBody>
      </p:sp>
      <p:sp>
        <p:nvSpPr>
          <p:cNvPr id="43" name="Text 41"/>
          <p:cNvSpPr txBox="1"/>
          <p:nvPr/>
        </p:nvSpPr>
        <p:spPr>
          <a:xfrm>
            <a:off x="8092440" y="3611880"/>
            <a:ext cx="3383280" cy="868680"/>
          </a:xfrm>
          <a:prstGeom prst="rect">
            <a:avLst/>
          </a:prstGeom>
          <a:noFill/>
          <a:ln/>
        </p:spPr>
        <p:txBody>
          <a:bodyPr wrap="square" lIns="0" tIns="0" rIns="0" bIns="0" rtlCol="0" anchor="t"/>
          <a:lstStyle/>
          <a:p>
            <a:pPr indent="0" marL="0">
              <a:buNone/>
            </a:pPr>
            <a:r>
              <a:rPr lang="en-US" sz="1300" dirty="0">
                <a:solidFill>
                  <a:srgbClr val="5E5D59"/>
                </a:solidFill>
                <a:latin typeface="Calibri" pitchFamily="34" charset="0"/>
                <a:ea typeface="Calibri" pitchFamily="34" charset="-122"/>
                <a:cs typeface="Calibri" pitchFamily="34" charset="-120"/>
              </a:rPr>
              <a:t>tool_result.tool_use_id must equal the tool_use.id it answers.</a:t>
            </a:r>
            <a:endParaRPr lang="en-US" sz="1300" dirty="0"/>
          </a:p>
        </p:txBody>
      </p:sp>
      <p:sp>
        <p:nvSpPr>
          <p:cNvPr id="44" name="Shape 42"/>
          <p:cNvSpPr/>
          <p:nvPr/>
        </p:nvSpPr>
        <p:spPr>
          <a:xfrm>
            <a:off x="7863840" y="4663440"/>
            <a:ext cx="3776472" cy="1371600"/>
          </a:xfrm>
          <a:prstGeom prst="roundRect">
            <a:avLst>
              <a:gd name="adj" fmla="val 8000"/>
            </a:avLst>
          </a:prstGeom>
          <a:solidFill>
            <a:srgbClr val="FFFFFF"/>
          </a:solidFill>
          <a:ln w="9525">
            <a:solidFill>
              <a:srgbClr val="E8E6DC"/>
            </a:solidFill>
            <a:prstDash val="solid"/>
          </a:ln>
        </p:spPr>
      </p:sp>
      <p:sp>
        <p:nvSpPr>
          <p:cNvPr id="45" name="Text 43"/>
          <p:cNvSpPr txBox="1"/>
          <p:nvPr/>
        </p:nvSpPr>
        <p:spPr>
          <a:xfrm>
            <a:off x="8092440" y="4773168"/>
            <a:ext cx="3383280" cy="292608"/>
          </a:xfrm>
          <a:prstGeom prst="rect">
            <a:avLst/>
          </a:prstGeom>
          <a:noFill/>
          <a:ln/>
        </p:spPr>
        <p:txBody>
          <a:bodyPr wrap="square" lIns="0" tIns="0" rIns="0" bIns="0" rtlCol="0" anchor="ctr"/>
          <a:lstStyle/>
          <a:p>
            <a:pPr indent="0" marL="0">
              <a:buNone/>
            </a:pPr>
            <a:r>
              <a:rPr lang="en-US" sz="1500" dirty="0">
                <a:solidFill>
                  <a:srgbClr val="B85C3E"/>
                </a:solidFill>
                <a:latin typeface="Cambria" pitchFamily="34" charset="0"/>
                <a:ea typeface="Cambria" pitchFamily="34" charset="-122"/>
                <a:cs typeface="Cambria" pitchFamily="34" charset="-120"/>
              </a:rPr>
              <a:t>Send everything again</a:t>
            </a:r>
            <a:endParaRPr lang="en-US" sz="1500" dirty="0"/>
          </a:p>
        </p:txBody>
      </p:sp>
      <p:sp>
        <p:nvSpPr>
          <p:cNvPr id="46" name="Text 44"/>
          <p:cNvSpPr txBox="1"/>
          <p:nvPr/>
        </p:nvSpPr>
        <p:spPr>
          <a:xfrm>
            <a:off x="8092440" y="5120640"/>
            <a:ext cx="3383280" cy="868680"/>
          </a:xfrm>
          <a:prstGeom prst="rect">
            <a:avLst/>
          </a:prstGeom>
          <a:noFill/>
          <a:ln/>
        </p:spPr>
        <p:txBody>
          <a:bodyPr wrap="square" lIns="0" tIns="0" rIns="0" bIns="0" rtlCol="0" anchor="t"/>
          <a:lstStyle/>
          <a:p>
            <a:pPr indent="0" marL="0">
              <a:buNone/>
            </a:pPr>
            <a:r>
              <a:rPr lang="en-US" sz="1300" dirty="0">
                <a:solidFill>
                  <a:srgbClr val="5E5D59"/>
                </a:solidFill>
                <a:latin typeface="Calibri" pitchFamily="34" charset="0"/>
                <a:ea typeface="Calibri" pitchFamily="34" charset="-122"/>
                <a:cs typeface="Calibri" pitchFamily="34" charset="-120"/>
              </a:rPr>
              <a:t>Statelessness applies here too: the second call carries the whole history.</a:t>
            </a:r>
            <a:endParaRPr lang="en-US" sz="1300" dirty="0"/>
          </a:p>
        </p:txBody>
      </p:sp>
      <p:sp>
        <p:nvSpPr>
          <p:cNvPr id="47" name="Text 45"/>
          <p:cNvSpPr txBox="1"/>
          <p:nvPr/>
        </p:nvSpPr>
        <p:spPr>
          <a:xfrm>
            <a:off x="7863840" y="6172200"/>
            <a:ext cx="3776472" cy="228600"/>
          </a:xfrm>
          <a:prstGeom prst="rect">
            <a:avLst/>
          </a:prstGeom>
          <a:noFill/>
          <a:ln/>
        </p:spPr>
        <p:txBody>
          <a:bodyPr wrap="square" lIns="0" tIns="0" rIns="0" bIns="0" rtlCol="0" anchor="ctr"/>
          <a:lstStyle/>
          <a:p>
            <a:pPr indent="0" marL="0">
              <a:buNone/>
            </a:pPr>
            <a:r>
              <a:rPr lang="en-US" sz="1050" i="1" dirty="0">
                <a:solidFill>
                  <a:srgbClr val="87867F"/>
                </a:solidFill>
                <a:latin typeface="Calibri" pitchFamily="34" charset="0"/>
                <a:ea typeface="Calibri" pitchFamily="34" charset="-122"/>
                <a:cs typeface="Calibri" pitchFamily="34" charset="-120"/>
              </a:rPr>
              <a:t>Anthropic docs: "How tool use works"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548640" y="365760"/>
            <a:ext cx="8686800" cy="274320"/>
          </a:xfrm>
          <a:prstGeom prst="rect">
            <a:avLst/>
          </a:prstGeom>
          <a:noFill/>
          <a:ln/>
        </p:spPr>
        <p:txBody>
          <a:bodyPr wrap="square" lIns="0" tIns="0" rIns="0" bIns="0"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CLAUDE API ESSENTIALS</a:t>
            </a:r>
            <a:endParaRPr lang="en-US" sz="1200" dirty="0"/>
          </a:p>
        </p:txBody>
      </p:sp>
      <p:sp>
        <p:nvSpPr>
          <p:cNvPr id="3" name="Text 1"/>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200" dirty="0">
                <a:solidFill>
                  <a:srgbClr val="141413"/>
                </a:solidFill>
                <a:latin typeface="Cambria" pitchFamily="34" charset="0"/>
                <a:ea typeface="Cambria" pitchFamily="34" charset="-122"/>
                <a:cs typeface="Cambria" pitchFamily="34" charset="-120"/>
              </a:rPr>
              <a:t>stop_reason drives control flow</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87867F"/>
                </a:solidFill>
                <a:latin typeface="Calibri" pitchFamily="34" charset="0"/>
                <a:ea typeface="Calibri" pitchFamily="34" charset="-122"/>
                <a:cs typeface="Calibri" pitchFamily="34" charset="-120"/>
              </a:rPr>
              <a:t>CCAR-F Skills Curriculum  ·  Session 1  ·  15</a:t>
            </a:r>
            <a:endParaRPr lang="en-US" sz="1000" dirty="0"/>
          </a:p>
        </p:txBody>
      </p:sp>
      <p:sp>
        <p:nvSpPr>
          <p:cNvPr id="5" name="Text 3"/>
          <p:cNvSpPr txBox="1"/>
          <p:nvPr/>
        </p:nvSpPr>
        <p:spPr>
          <a:xfrm>
            <a:off x="8869680" y="365760"/>
            <a:ext cx="2770632" cy="274320"/>
          </a:xfrm>
          <a:prstGeom prst="rect">
            <a:avLst/>
          </a:prstGeom>
          <a:noFill/>
          <a:ln/>
        </p:spPr>
        <p:txBody>
          <a:bodyPr wrap="square" lIns="0" tIns="0" rIns="0" bIns="0" rtlCol="0" anchor="ctr"/>
          <a:lstStyle/>
          <a:p>
            <a:pPr algn="r" indent="0" marL="0">
              <a:buNone/>
            </a:pPr>
            <a:r>
              <a:rPr lang="en-US" sz="1100" dirty="0">
                <a:solidFill>
                  <a:srgbClr val="87867F"/>
                </a:solidFill>
                <a:latin typeface="Calibri" pitchFamily="34" charset="0"/>
                <a:ea typeface="Calibri" pitchFamily="34" charset="-122"/>
                <a:cs typeface="Calibri" pitchFamily="34" charset="-120"/>
              </a:rPr>
              <a:t>29–32 min</a:t>
            </a:r>
            <a:endParaRPr lang="en-US" sz="1100" dirty="0"/>
          </a:p>
        </p:txBody>
      </p:sp>
      <p:sp>
        <p:nvSpPr>
          <p:cNvPr id="6" name="Shape 4"/>
          <p:cNvSpPr/>
          <p:nvPr/>
        </p:nvSpPr>
        <p:spPr>
          <a:xfrm>
            <a:off x="548640" y="1645920"/>
            <a:ext cx="3200400" cy="2103120"/>
          </a:xfrm>
          <a:prstGeom prst="roundRect">
            <a:avLst>
              <a:gd name="adj" fmla="val 5217"/>
            </a:avLst>
          </a:prstGeom>
          <a:solidFill>
            <a:srgbClr val="FFFFFF"/>
          </a:solidFill>
          <a:ln w="9525">
            <a:solidFill>
              <a:srgbClr val="788C5D"/>
            </a:solidFill>
            <a:prstDash val="solid"/>
          </a:ln>
        </p:spPr>
      </p:sp>
      <p:sp>
        <p:nvSpPr>
          <p:cNvPr id="7" name="Text 5"/>
          <p:cNvSpPr txBox="1"/>
          <p:nvPr/>
        </p:nvSpPr>
        <p:spPr>
          <a:xfrm>
            <a:off x="777240" y="1783080"/>
            <a:ext cx="2743200" cy="457200"/>
          </a:xfrm>
          <a:prstGeom prst="rect">
            <a:avLst/>
          </a:prstGeom>
          <a:noFill/>
          <a:ln/>
        </p:spPr>
        <p:txBody>
          <a:bodyPr wrap="square" lIns="0" tIns="0" rIns="0" bIns="0" rtlCol="0" anchor="ctr"/>
          <a:lstStyle/>
          <a:p>
            <a:pPr indent="0" marL="0">
              <a:buNone/>
            </a:pPr>
            <a:r>
              <a:rPr lang="en-US" sz="2000" b="1" dirty="0">
                <a:solidFill>
                  <a:srgbClr val="788C5D"/>
                </a:solidFill>
                <a:latin typeface="Courier New" pitchFamily="34" charset="0"/>
                <a:ea typeface="Courier New" pitchFamily="34" charset="-122"/>
                <a:cs typeface="Courier New" pitchFamily="34" charset="-120"/>
              </a:rPr>
              <a:t>"end_turn"</a:t>
            </a:r>
            <a:endParaRPr lang="en-US" sz="2000" dirty="0"/>
          </a:p>
        </p:txBody>
      </p:sp>
      <p:sp>
        <p:nvSpPr>
          <p:cNvPr id="8" name="Text 6"/>
          <p:cNvSpPr txBox="1"/>
          <p:nvPr/>
        </p:nvSpPr>
        <p:spPr>
          <a:xfrm>
            <a:off x="777240" y="2331720"/>
            <a:ext cx="2743200" cy="457200"/>
          </a:xfrm>
          <a:prstGeom prst="rect">
            <a:avLst/>
          </a:prstGeom>
          <a:noFill/>
          <a:ln/>
        </p:spPr>
        <p:txBody>
          <a:bodyPr wrap="square" lIns="0" tIns="0" rIns="0" bIns="0" rtlCol="0" anchor="t"/>
          <a:lstStyle/>
          <a:p>
            <a:pPr indent="0" marL="0">
              <a:buNone/>
            </a:pPr>
            <a:r>
              <a:rPr lang="en-US" sz="1400" b="1" dirty="0">
                <a:solidFill>
                  <a:srgbClr val="141413"/>
                </a:solidFill>
                <a:latin typeface="Calibri" pitchFamily="34" charset="0"/>
                <a:ea typeface="Calibri" pitchFamily="34" charset="-122"/>
                <a:cs typeface="Calibri" pitchFamily="34" charset="-120"/>
              </a:rPr>
              <a:t>Claude finished its turn.</a:t>
            </a:r>
            <a:endParaRPr lang="en-US" sz="1400" dirty="0"/>
          </a:p>
        </p:txBody>
      </p:sp>
      <p:sp>
        <p:nvSpPr>
          <p:cNvPr id="9" name="Text 7"/>
          <p:cNvSpPr txBox="1"/>
          <p:nvPr/>
        </p:nvSpPr>
        <p:spPr>
          <a:xfrm>
            <a:off x="777240" y="2834640"/>
            <a:ext cx="2743200" cy="822960"/>
          </a:xfrm>
          <a:prstGeom prst="rect">
            <a:avLst/>
          </a:prstGeom>
          <a:noFill/>
          <a:ln/>
        </p:spPr>
        <p:txBody>
          <a:bodyPr wrap="square" lIns="0" tIns="0" rIns="0" bIns="0" rtlCol="0" anchor="t"/>
          <a:lstStyle/>
          <a:p>
            <a:pPr indent="0" marL="0">
              <a:buNone/>
            </a:pPr>
            <a:r>
              <a:rPr lang="en-US" sz="1300" dirty="0">
                <a:solidFill>
                  <a:srgbClr val="5E5D59"/>
                </a:solidFill>
                <a:latin typeface="Calibri" pitchFamily="34" charset="0"/>
                <a:ea typeface="Calibri" pitchFamily="34" charset="-122"/>
                <a:cs typeface="Calibri" pitchFamily="34" charset="-120"/>
              </a:rPr>
              <a:t>Return the answer. Stop looping.</a:t>
            </a:r>
            <a:endParaRPr lang="en-US" sz="1300" dirty="0"/>
          </a:p>
        </p:txBody>
      </p:sp>
      <p:sp>
        <p:nvSpPr>
          <p:cNvPr id="10" name="Shape 8"/>
          <p:cNvSpPr/>
          <p:nvPr/>
        </p:nvSpPr>
        <p:spPr>
          <a:xfrm>
            <a:off x="3931920" y="1645920"/>
            <a:ext cx="3200400" cy="2103120"/>
          </a:xfrm>
          <a:prstGeom prst="roundRect">
            <a:avLst>
              <a:gd name="adj" fmla="val 5217"/>
            </a:avLst>
          </a:prstGeom>
          <a:solidFill>
            <a:srgbClr val="FFFFFF"/>
          </a:solidFill>
          <a:ln w="9525">
            <a:solidFill>
              <a:srgbClr val="D97757"/>
            </a:solidFill>
            <a:prstDash val="solid"/>
          </a:ln>
        </p:spPr>
      </p:sp>
      <p:sp>
        <p:nvSpPr>
          <p:cNvPr id="11" name="Text 9"/>
          <p:cNvSpPr txBox="1"/>
          <p:nvPr/>
        </p:nvSpPr>
        <p:spPr>
          <a:xfrm>
            <a:off x="4160520" y="1783080"/>
            <a:ext cx="2743200" cy="457200"/>
          </a:xfrm>
          <a:prstGeom prst="rect">
            <a:avLst/>
          </a:prstGeom>
          <a:noFill/>
          <a:ln/>
        </p:spPr>
        <p:txBody>
          <a:bodyPr wrap="square" lIns="0" tIns="0" rIns="0" bIns="0" rtlCol="0" anchor="ctr"/>
          <a:lstStyle/>
          <a:p>
            <a:pPr indent="0" marL="0">
              <a:buNone/>
            </a:pPr>
            <a:r>
              <a:rPr lang="en-US" sz="2000" b="1" dirty="0">
                <a:solidFill>
                  <a:srgbClr val="D97757"/>
                </a:solidFill>
                <a:latin typeface="Courier New" pitchFamily="34" charset="0"/>
                <a:ea typeface="Courier New" pitchFamily="34" charset="-122"/>
                <a:cs typeface="Courier New" pitchFamily="34" charset="-120"/>
              </a:rPr>
              <a:t>"tool_use"</a:t>
            </a:r>
            <a:endParaRPr lang="en-US" sz="2000" dirty="0"/>
          </a:p>
        </p:txBody>
      </p:sp>
      <p:sp>
        <p:nvSpPr>
          <p:cNvPr id="12" name="Text 10"/>
          <p:cNvSpPr txBox="1"/>
          <p:nvPr/>
        </p:nvSpPr>
        <p:spPr>
          <a:xfrm>
            <a:off x="4160520" y="2331720"/>
            <a:ext cx="2743200" cy="457200"/>
          </a:xfrm>
          <a:prstGeom prst="rect">
            <a:avLst/>
          </a:prstGeom>
          <a:noFill/>
          <a:ln/>
        </p:spPr>
        <p:txBody>
          <a:bodyPr wrap="square" lIns="0" tIns="0" rIns="0" bIns="0" rtlCol="0" anchor="t"/>
          <a:lstStyle/>
          <a:p>
            <a:pPr indent="0" marL="0">
              <a:buNone/>
            </a:pPr>
            <a:r>
              <a:rPr lang="en-US" sz="1400" b="1" dirty="0">
                <a:solidFill>
                  <a:srgbClr val="141413"/>
                </a:solidFill>
                <a:latin typeface="Calibri" pitchFamily="34" charset="0"/>
                <a:ea typeface="Calibri" pitchFamily="34" charset="-122"/>
                <a:cs typeface="Calibri" pitchFamily="34" charset="-120"/>
              </a:rPr>
              <a:t>Claude wants a tool run.</a:t>
            </a:r>
            <a:endParaRPr lang="en-US" sz="1400" dirty="0"/>
          </a:p>
        </p:txBody>
      </p:sp>
      <p:sp>
        <p:nvSpPr>
          <p:cNvPr id="13" name="Text 11"/>
          <p:cNvSpPr txBox="1"/>
          <p:nvPr/>
        </p:nvSpPr>
        <p:spPr>
          <a:xfrm>
            <a:off x="4160520" y="2834640"/>
            <a:ext cx="2743200" cy="822960"/>
          </a:xfrm>
          <a:prstGeom prst="rect">
            <a:avLst/>
          </a:prstGeom>
          <a:noFill/>
          <a:ln/>
        </p:spPr>
        <p:txBody>
          <a:bodyPr wrap="square" lIns="0" tIns="0" rIns="0" bIns="0" rtlCol="0" anchor="t"/>
          <a:lstStyle/>
          <a:p>
            <a:pPr indent="0" marL="0">
              <a:buNone/>
            </a:pPr>
            <a:r>
              <a:rPr lang="en-US" sz="1300" dirty="0">
                <a:solidFill>
                  <a:srgbClr val="5E5D59"/>
                </a:solidFill>
                <a:latin typeface="Calibri" pitchFamily="34" charset="0"/>
                <a:ea typeface="Calibri" pitchFamily="34" charset="-122"/>
                <a:cs typeface="Calibri" pitchFamily="34" charset="-120"/>
              </a:rPr>
              <a:t>Execute it, append both turns, call again.</a:t>
            </a:r>
            <a:endParaRPr lang="en-US" sz="1300" dirty="0"/>
          </a:p>
        </p:txBody>
      </p:sp>
      <p:sp>
        <p:nvSpPr>
          <p:cNvPr id="14" name="Text 12"/>
          <p:cNvSpPr txBox="1"/>
          <p:nvPr/>
        </p:nvSpPr>
        <p:spPr>
          <a:xfrm>
            <a:off x="548640" y="3977640"/>
            <a:ext cx="4572000" cy="274320"/>
          </a:xfrm>
          <a:prstGeom prst="rect">
            <a:avLst/>
          </a:prstGeom>
          <a:noFill/>
          <a:ln/>
        </p:spPr>
        <p:txBody>
          <a:bodyPr wrap="square" lIns="0" tIns="0" rIns="0" bIns="0" rtlCol="0" anchor="ctr"/>
          <a:lstStyle/>
          <a:p>
            <a:pPr indent="0" marL="0">
              <a:buNone/>
            </a:pPr>
            <a:r>
              <a:rPr lang="en-US" sz="1500" dirty="0">
                <a:solidFill>
                  <a:srgbClr val="141413"/>
                </a:solidFill>
                <a:latin typeface="Cambria" pitchFamily="34" charset="0"/>
                <a:ea typeface="Cambria" pitchFamily="34" charset="-122"/>
                <a:cs typeface="Cambria" pitchFamily="34" charset="-120"/>
              </a:rPr>
              <a:t>Also possible</a:t>
            </a:r>
            <a:endParaRPr lang="en-US" sz="1500" dirty="0"/>
          </a:p>
        </p:txBody>
      </p:sp>
      <p:sp>
        <p:nvSpPr>
          <p:cNvPr id="15" name="Text 13"/>
          <p:cNvSpPr txBox="1"/>
          <p:nvPr/>
        </p:nvSpPr>
        <p:spPr>
          <a:xfrm>
            <a:off x="548640" y="4343400"/>
            <a:ext cx="2468880" cy="365760"/>
          </a:xfrm>
          <a:prstGeom prst="rect">
            <a:avLst/>
          </a:prstGeom>
          <a:noFill/>
          <a:ln/>
        </p:spPr>
        <p:txBody>
          <a:bodyPr wrap="square" lIns="0" tIns="0" rIns="0" bIns="0" rtlCol="0" anchor="ctr"/>
          <a:lstStyle/>
          <a:p>
            <a:pPr indent="0" marL="0">
              <a:buNone/>
            </a:pPr>
            <a:r>
              <a:rPr lang="en-US" sz="1050" b="1" dirty="0">
                <a:solidFill>
                  <a:srgbClr val="5E5D59"/>
                </a:solidFill>
                <a:latin typeface="Courier New" pitchFamily="34" charset="0"/>
                <a:ea typeface="Courier New" pitchFamily="34" charset="-122"/>
                <a:cs typeface="Courier New" pitchFamily="34" charset="-120"/>
              </a:rPr>
              <a:t>max_tokens</a:t>
            </a:r>
            <a:endParaRPr lang="en-US" sz="1050" dirty="0"/>
          </a:p>
        </p:txBody>
      </p:sp>
      <p:sp>
        <p:nvSpPr>
          <p:cNvPr id="16" name="Text 14"/>
          <p:cNvSpPr txBox="1"/>
          <p:nvPr/>
        </p:nvSpPr>
        <p:spPr>
          <a:xfrm>
            <a:off x="3063240" y="4343400"/>
            <a:ext cx="3657600" cy="365760"/>
          </a:xfrm>
          <a:prstGeom prst="rect">
            <a:avLst/>
          </a:prstGeom>
          <a:noFill/>
          <a:ln/>
        </p:spPr>
        <p:txBody>
          <a:bodyPr wrap="square" lIns="0" tIns="0" rIns="0" bIns="0" rtlCol="0" anchor="ctr"/>
          <a:lstStyle/>
          <a:p>
            <a:pPr indent="0" marL="0">
              <a:buNone/>
            </a:pPr>
            <a:r>
              <a:rPr lang="en-US" sz="1150" dirty="0">
                <a:solidFill>
                  <a:srgbClr val="5E5D59"/>
                </a:solidFill>
                <a:latin typeface="Calibri" pitchFamily="34" charset="0"/>
                <a:ea typeface="Calibri" pitchFamily="34" charset="-122"/>
                <a:cs typeface="Calibri" pitchFamily="34" charset="-120"/>
              </a:rPr>
              <a:t>Output hit your cap. Truncated. Raise it or continue.</a:t>
            </a:r>
            <a:endParaRPr lang="en-US" sz="1150" dirty="0"/>
          </a:p>
        </p:txBody>
      </p:sp>
      <p:sp>
        <p:nvSpPr>
          <p:cNvPr id="17" name="Text 15"/>
          <p:cNvSpPr txBox="1"/>
          <p:nvPr/>
        </p:nvSpPr>
        <p:spPr>
          <a:xfrm>
            <a:off x="548640" y="4800600"/>
            <a:ext cx="2468880" cy="365760"/>
          </a:xfrm>
          <a:prstGeom prst="rect">
            <a:avLst/>
          </a:prstGeom>
          <a:noFill/>
          <a:ln/>
        </p:spPr>
        <p:txBody>
          <a:bodyPr wrap="square" lIns="0" tIns="0" rIns="0" bIns="0" rtlCol="0" anchor="ctr"/>
          <a:lstStyle/>
          <a:p>
            <a:pPr indent="0" marL="0">
              <a:buNone/>
            </a:pPr>
            <a:r>
              <a:rPr lang="en-US" sz="1050" b="1" dirty="0">
                <a:solidFill>
                  <a:srgbClr val="5E5D59"/>
                </a:solidFill>
                <a:latin typeface="Courier New" pitchFamily="34" charset="0"/>
                <a:ea typeface="Courier New" pitchFamily="34" charset="-122"/>
                <a:cs typeface="Courier New" pitchFamily="34" charset="-120"/>
              </a:rPr>
              <a:t>stop_sequence</a:t>
            </a:r>
            <a:endParaRPr lang="en-US" sz="1050" dirty="0"/>
          </a:p>
        </p:txBody>
      </p:sp>
      <p:sp>
        <p:nvSpPr>
          <p:cNvPr id="18" name="Text 16"/>
          <p:cNvSpPr txBox="1"/>
          <p:nvPr/>
        </p:nvSpPr>
        <p:spPr>
          <a:xfrm>
            <a:off x="3063240" y="4800600"/>
            <a:ext cx="3657600" cy="365760"/>
          </a:xfrm>
          <a:prstGeom prst="rect">
            <a:avLst/>
          </a:prstGeom>
          <a:noFill/>
          <a:ln/>
        </p:spPr>
        <p:txBody>
          <a:bodyPr wrap="square" lIns="0" tIns="0" rIns="0" bIns="0" rtlCol="0" anchor="ctr"/>
          <a:lstStyle/>
          <a:p>
            <a:pPr indent="0" marL="0">
              <a:buNone/>
            </a:pPr>
            <a:r>
              <a:rPr lang="en-US" sz="1150" dirty="0">
                <a:solidFill>
                  <a:srgbClr val="5E5D59"/>
                </a:solidFill>
                <a:latin typeface="Calibri" pitchFamily="34" charset="0"/>
                <a:ea typeface="Calibri" pitchFamily="34" charset="-122"/>
                <a:cs typeface="Calibri" pitchFamily="34" charset="-120"/>
              </a:rPr>
              <a:t>A custom stop string was emitted.</a:t>
            </a:r>
            <a:endParaRPr lang="en-US" sz="1150" dirty="0"/>
          </a:p>
        </p:txBody>
      </p:sp>
      <p:sp>
        <p:nvSpPr>
          <p:cNvPr id="19" name="Text 17"/>
          <p:cNvSpPr txBox="1"/>
          <p:nvPr/>
        </p:nvSpPr>
        <p:spPr>
          <a:xfrm>
            <a:off x="548640" y="5257800"/>
            <a:ext cx="2468880" cy="365760"/>
          </a:xfrm>
          <a:prstGeom prst="rect">
            <a:avLst/>
          </a:prstGeom>
          <a:noFill/>
          <a:ln/>
        </p:spPr>
        <p:txBody>
          <a:bodyPr wrap="square" lIns="0" tIns="0" rIns="0" bIns="0" rtlCol="0" anchor="ctr"/>
          <a:lstStyle/>
          <a:p>
            <a:pPr indent="0" marL="0">
              <a:buNone/>
            </a:pPr>
            <a:r>
              <a:rPr lang="en-US" sz="1050" b="1" dirty="0">
                <a:solidFill>
                  <a:srgbClr val="5E5D59"/>
                </a:solidFill>
                <a:latin typeface="Courier New" pitchFamily="34" charset="0"/>
                <a:ea typeface="Courier New" pitchFamily="34" charset="-122"/>
                <a:cs typeface="Courier New" pitchFamily="34" charset="-120"/>
              </a:rPr>
              <a:t>refusal</a:t>
            </a:r>
            <a:endParaRPr lang="en-US" sz="1050" dirty="0"/>
          </a:p>
        </p:txBody>
      </p:sp>
      <p:sp>
        <p:nvSpPr>
          <p:cNvPr id="20" name="Text 18"/>
          <p:cNvSpPr txBox="1"/>
          <p:nvPr/>
        </p:nvSpPr>
        <p:spPr>
          <a:xfrm>
            <a:off x="3063240" y="5257800"/>
            <a:ext cx="3657600" cy="365760"/>
          </a:xfrm>
          <a:prstGeom prst="rect">
            <a:avLst/>
          </a:prstGeom>
          <a:noFill/>
          <a:ln/>
        </p:spPr>
        <p:txBody>
          <a:bodyPr wrap="square" lIns="0" tIns="0" rIns="0" bIns="0" rtlCol="0" anchor="ctr"/>
          <a:lstStyle/>
          <a:p>
            <a:pPr indent="0" marL="0">
              <a:buNone/>
            </a:pPr>
            <a:r>
              <a:rPr lang="en-US" sz="1150" dirty="0">
                <a:solidFill>
                  <a:srgbClr val="5E5D59"/>
                </a:solidFill>
                <a:latin typeface="Calibri" pitchFamily="34" charset="0"/>
                <a:ea typeface="Calibri" pitchFamily="34" charset="-122"/>
                <a:cs typeface="Calibri" pitchFamily="34" charset="-120"/>
              </a:rPr>
              <a:t>Claude declined. Handle it explicitly.</a:t>
            </a:r>
            <a:endParaRPr lang="en-US" sz="1150" dirty="0"/>
          </a:p>
        </p:txBody>
      </p:sp>
      <p:sp>
        <p:nvSpPr>
          <p:cNvPr id="21" name="Text 19"/>
          <p:cNvSpPr txBox="1"/>
          <p:nvPr/>
        </p:nvSpPr>
        <p:spPr>
          <a:xfrm>
            <a:off x="548640" y="5715000"/>
            <a:ext cx="2468880" cy="365760"/>
          </a:xfrm>
          <a:prstGeom prst="rect">
            <a:avLst/>
          </a:prstGeom>
          <a:noFill/>
          <a:ln/>
        </p:spPr>
        <p:txBody>
          <a:bodyPr wrap="square" lIns="0" tIns="0" rIns="0" bIns="0" rtlCol="0" anchor="ctr"/>
          <a:lstStyle/>
          <a:p>
            <a:pPr indent="0" marL="0">
              <a:buNone/>
            </a:pPr>
            <a:r>
              <a:rPr lang="en-US" sz="1050" b="1" dirty="0">
                <a:solidFill>
                  <a:srgbClr val="5E5D59"/>
                </a:solidFill>
                <a:latin typeface="Courier New" pitchFamily="34" charset="0"/>
                <a:ea typeface="Courier New" pitchFamily="34" charset="-122"/>
                <a:cs typeface="Courier New" pitchFamily="34" charset="-120"/>
              </a:rPr>
              <a:t>pause_turn / model_context_window_exceeded</a:t>
            </a:r>
            <a:endParaRPr lang="en-US" sz="1050" dirty="0"/>
          </a:p>
        </p:txBody>
      </p:sp>
      <p:sp>
        <p:nvSpPr>
          <p:cNvPr id="22" name="Text 20"/>
          <p:cNvSpPr txBox="1"/>
          <p:nvPr/>
        </p:nvSpPr>
        <p:spPr>
          <a:xfrm>
            <a:off x="3063240" y="5715000"/>
            <a:ext cx="3657600" cy="365760"/>
          </a:xfrm>
          <a:prstGeom prst="rect">
            <a:avLst/>
          </a:prstGeom>
          <a:noFill/>
          <a:ln/>
        </p:spPr>
        <p:txBody>
          <a:bodyPr wrap="square" lIns="0" tIns="0" rIns="0" bIns="0" rtlCol="0" anchor="ctr"/>
          <a:lstStyle/>
          <a:p>
            <a:pPr indent="0" marL="0">
              <a:buNone/>
            </a:pPr>
            <a:r>
              <a:rPr lang="en-US" sz="1150" dirty="0">
                <a:solidFill>
                  <a:srgbClr val="5E5D59"/>
                </a:solidFill>
                <a:latin typeface="Calibri" pitchFamily="34" charset="0"/>
                <a:ea typeface="Calibri" pitchFamily="34" charset="-122"/>
                <a:cs typeface="Calibri" pitchFamily="34" charset="-120"/>
              </a:rPr>
              <a:t>Server-tool pause, or context filled. Handle per docs.</a:t>
            </a:r>
            <a:endParaRPr lang="en-US" sz="1150" dirty="0"/>
          </a:p>
        </p:txBody>
      </p:sp>
      <p:sp>
        <p:nvSpPr>
          <p:cNvPr id="23" name="Shape 21"/>
          <p:cNvSpPr/>
          <p:nvPr/>
        </p:nvSpPr>
        <p:spPr>
          <a:xfrm>
            <a:off x="7178040" y="1645920"/>
            <a:ext cx="4462272" cy="2377440"/>
          </a:xfrm>
          <a:prstGeom prst="roundRect">
            <a:avLst>
              <a:gd name="adj" fmla="val 3846"/>
            </a:avLst>
          </a:prstGeom>
          <a:solidFill>
            <a:srgbClr val="1F1E1D"/>
          </a:solidFill>
          <a:ln w="12700">
            <a:solidFill>
              <a:srgbClr val="1F1E1D"/>
            </a:solidFill>
            <a:prstDash val="solid"/>
          </a:ln>
        </p:spPr>
      </p:sp>
      <p:sp>
        <p:nvSpPr>
          <p:cNvPr id="24" name="Text 22"/>
          <p:cNvSpPr txBox="1"/>
          <p:nvPr/>
        </p:nvSpPr>
        <p:spPr>
          <a:xfrm>
            <a:off x="7406640" y="1737360"/>
            <a:ext cx="4005072" cy="274320"/>
          </a:xfrm>
          <a:prstGeom prst="rect">
            <a:avLst/>
          </a:prstGeom>
          <a:noFill/>
          <a:ln/>
        </p:spPr>
        <p:txBody>
          <a:bodyPr wrap="square" lIns="0" tIns="0" rIns="0" bIns="0" rtlCol="0" anchor="ctr"/>
          <a:lstStyle/>
          <a:p>
            <a:pPr indent="0" marL="0">
              <a:buNone/>
            </a:pPr>
            <a:r>
              <a:rPr lang="en-US" sz="1000" dirty="0">
                <a:solidFill>
                  <a:srgbClr val="87867F"/>
                </a:solidFill>
                <a:latin typeface="Courier New" pitchFamily="34" charset="0"/>
                <a:ea typeface="Courier New" pitchFamily="34" charset="-122"/>
                <a:cs typeface="Courier New" pitchFamily="34" charset="-120"/>
              </a:rPr>
              <a:t>skeleton of Session 2's loop</a:t>
            </a:r>
            <a:endParaRPr lang="en-US" sz="1000" dirty="0"/>
          </a:p>
        </p:txBody>
      </p:sp>
      <p:sp>
        <p:nvSpPr>
          <p:cNvPr id="25" name="Text 23"/>
          <p:cNvSpPr txBox="1"/>
          <p:nvPr/>
        </p:nvSpPr>
        <p:spPr>
          <a:xfrm>
            <a:off x="7406640" y="2029968"/>
            <a:ext cx="4005072" cy="1874520"/>
          </a:xfrm>
          <a:prstGeom prst="rect">
            <a:avLst/>
          </a:prstGeom>
          <a:noFill/>
          <a:ln/>
        </p:spPr>
        <p:txBody>
          <a:bodyPr wrap="square" lIns="0" tIns="0" rIns="0" bIns="0" rtlCol="0" anchor="t"/>
          <a:lstStyle/>
          <a:p>
            <a:pPr indent="0" marL="0">
              <a:buNone/>
            </a:pPr>
            <a:r>
              <a:rPr lang="en-US" sz="1250" dirty="0">
                <a:solidFill>
                  <a:srgbClr val="F0A98A"/>
                </a:solidFill>
                <a:latin typeface="Courier New" pitchFamily="34" charset="0"/>
                <a:ea typeface="Courier New" pitchFamily="34" charset="-122"/>
                <a:cs typeface="Courier New" pitchFamily="34" charset="-120"/>
              </a:rPr>
              <a:t>while</a:t>
            </a:r>
            <a:pPr indent="0" marL="0">
              <a:buNone/>
            </a:pPr>
            <a:r>
              <a:rPr lang="en-US" sz="1250" dirty="0">
                <a:solidFill>
                  <a:srgbClr val="E8E6DC"/>
                </a:solidFill>
                <a:latin typeface="Courier New" pitchFamily="34" charset="0"/>
                <a:ea typeface="Courier New" pitchFamily="34" charset="-122"/>
                <a:cs typeface="Courier New" pitchFamily="34" charset="-120"/>
              </a:rPr>
              <a:t> </a:t>
            </a:r>
            <a:pPr indent="0" marL="0">
              <a:buNone/>
            </a:pPr>
            <a:r>
              <a:rPr lang="en-US" sz="1250" dirty="0">
                <a:solidFill>
                  <a:srgbClr val="F0A98A"/>
                </a:solidFill>
                <a:latin typeface="Courier New" pitchFamily="34" charset="0"/>
                <a:ea typeface="Courier New" pitchFamily="34" charset="-122"/>
                <a:cs typeface="Courier New" pitchFamily="34" charset="-120"/>
              </a:rPr>
              <a:t>True</a:t>
            </a:r>
            <a:pPr indent="0" marL="0">
              <a:buNone/>
            </a:pPr>
            <a:r>
              <a:rPr lang="en-US" sz="1250" dirty="0">
                <a:solidFill>
                  <a:srgbClr val="E8E6DC"/>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E8E6DC"/>
                </a:solidFill>
                <a:latin typeface="Courier New" pitchFamily="34" charset="0"/>
                <a:ea typeface="Courier New" pitchFamily="34" charset="-122"/>
                <a:cs typeface="Courier New" pitchFamily="34" charset="-120"/>
              </a:rPr>
              <a:t>    response = client.messages.create(...)</a:t>
            </a:r>
            <a:endParaRPr lang="en-US" sz="1250" dirty="0"/>
          </a:p>
          <a:p>
            <a:pPr indent="0" marL="0">
              <a:buNone/>
            </a:pPr>
            <a:r>
              <a:rPr lang="en-US" sz="1250" dirty="0">
                <a:solidFill>
                  <a:srgbClr val="E8E6DC"/>
                </a:solidFill>
                <a:latin typeface="Courier New" pitchFamily="34" charset="0"/>
                <a:ea typeface="Courier New" pitchFamily="34" charset="-122"/>
                <a:cs typeface="Courier New" pitchFamily="34" charset="-120"/>
              </a:rPr>
              <a:t>    </a:t>
            </a:r>
            <a:pPr indent="0" marL="0">
              <a:buNone/>
            </a:pPr>
            <a:r>
              <a:rPr lang="en-US" sz="1250" dirty="0">
                <a:solidFill>
                  <a:srgbClr val="F0A98A"/>
                </a:solidFill>
                <a:latin typeface="Courier New" pitchFamily="34" charset="0"/>
                <a:ea typeface="Courier New" pitchFamily="34" charset="-122"/>
                <a:cs typeface="Courier New" pitchFamily="34" charset="-120"/>
              </a:rPr>
              <a:t>if</a:t>
            </a:r>
            <a:pPr indent="0" marL="0">
              <a:buNone/>
            </a:pPr>
            <a:r>
              <a:rPr lang="en-US" sz="1250" dirty="0">
                <a:solidFill>
                  <a:srgbClr val="E8E6DC"/>
                </a:solidFill>
                <a:latin typeface="Courier New" pitchFamily="34" charset="0"/>
                <a:ea typeface="Courier New" pitchFamily="34" charset="-122"/>
                <a:cs typeface="Courier New" pitchFamily="34" charset="-120"/>
              </a:rPr>
              <a:t> response.stop_reason == </a:t>
            </a:r>
            <a:pPr indent="0" marL="0">
              <a:buNone/>
            </a:pPr>
            <a:r>
              <a:rPr lang="en-US" sz="1250" dirty="0">
                <a:solidFill>
                  <a:srgbClr val="A8C98F"/>
                </a:solidFill>
                <a:latin typeface="Courier New" pitchFamily="34" charset="0"/>
                <a:ea typeface="Courier New" pitchFamily="34" charset="-122"/>
                <a:cs typeface="Courier New" pitchFamily="34" charset="-120"/>
              </a:rPr>
              <a:t>"tool_use"</a:t>
            </a:r>
            <a:pPr indent="0" marL="0">
              <a:buNone/>
            </a:pPr>
            <a:r>
              <a:rPr lang="en-US" sz="1250" dirty="0">
                <a:solidFill>
                  <a:srgbClr val="E8E6DC"/>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E8E6DC"/>
                </a:solidFill>
                <a:latin typeface="Courier New" pitchFamily="34" charset="0"/>
                <a:ea typeface="Courier New" pitchFamily="34" charset="-122"/>
                <a:cs typeface="Courier New" pitchFamily="34" charset="-120"/>
              </a:rPr>
              <a:t>        </a:t>
            </a:r>
            <a:pPr indent="0" marL="0">
              <a:buNone/>
            </a:pPr>
            <a:r>
              <a:rPr lang="en-US" sz="1250" dirty="0">
                <a:solidFill>
                  <a:srgbClr val="87867F"/>
                </a:solidFill>
                <a:latin typeface="Courier New" pitchFamily="34" charset="0"/>
                <a:ea typeface="Courier New" pitchFamily="34" charset="-122"/>
                <a:cs typeface="Courier New" pitchFamily="34" charset="-120"/>
              </a:rPr>
              <a:t># run tools, append both turns</a:t>
            </a:r>
            <a:endParaRPr lang="en-US" sz="1250" dirty="0"/>
          </a:p>
          <a:p>
            <a:pPr indent="0" marL="0">
              <a:buNone/>
            </a:pPr>
            <a:r>
              <a:rPr lang="en-US" sz="1250" dirty="0">
                <a:solidFill>
                  <a:srgbClr val="E8E6DC"/>
                </a:solidFill>
                <a:latin typeface="Courier New" pitchFamily="34" charset="0"/>
                <a:ea typeface="Courier New" pitchFamily="34" charset="-122"/>
                <a:cs typeface="Courier New" pitchFamily="34" charset="-120"/>
              </a:rPr>
              <a:t>        </a:t>
            </a:r>
            <a:pPr indent="0" marL="0">
              <a:buNone/>
            </a:pPr>
            <a:r>
              <a:rPr lang="en-US" sz="1250" dirty="0">
                <a:solidFill>
                  <a:srgbClr val="F0A98A"/>
                </a:solidFill>
                <a:latin typeface="Courier New" pitchFamily="34" charset="0"/>
                <a:ea typeface="Courier New" pitchFamily="34" charset="-122"/>
                <a:cs typeface="Courier New" pitchFamily="34" charset="-120"/>
              </a:rPr>
              <a:t>continue</a:t>
            </a:r>
            <a:endParaRPr lang="en-US" sz="1250" dirty="0"/>
          </a:p>
          <a:p>
            <a:pPr indent="0" marL="0">
              <a:buNone/>
            </a:pPr>
            <a:r>
              <a:rPr lang="en-US" sz="1250" dirty="0">
                <a:solidFill>
                  <a:srgbClr val="E8E6DC"/>
                </a:solidFill>
                <a:latin typeface="Courier New" pitchFamily="34" charset="0"/>
                <a:ea typeface="Courier New" pitchFamily="34" charset="-122"/>
                <a:cs typeface="Courier New" pitchFamily="34" charset="-120"/>
              </a:rPr>
              <a:t>    </a:t>
            </a:r>
            <a:pPr indent="0" marL="0">
              <a:buNone/>
            </a:pPr>
            <a:r>
              <a:rPr lang="en-US" sz="1250" dirty="0">
                <a:solidFill>
                  <a:srgbClr val="F0A98A"/>
                </a:solidFill>
                <a:latin typeface="Courier New" pitchFamily="34" charset="0"/>
                <a:ea typeface="Courier New" pitchFamily="34" charset="-122"/>
                <a:cs typeface="Courier New" pitchFamily="34" charset="-120"/>
              </a:rPr>
              <a:t>break</a:t>
            </a:r>
            <a:pPr indent="0" marL="0">
              <a:buNone/>
            </a:pPr>
            <a:r>
              <a:rPr lang="en-US" sz="1250" dirty="0">
                <a:solidFill>
                  <a:srgbClr val="E8E6DC"/>
                </a:solidFill>
                <a:latin typeface="Courier New" pitchFamily="34" charset="0"/>
                <a:ea typeface="Courier New" pitchFamily="34" charset="-122"/>
                <a:cs typeface="Courier New" pitchFamily="34" charset="-120"/>
              </a:rPr>
              <a:t>   </a:t>
            </a:r>
            <a:pPr indent="0" marL="0">
              <a:buNone/>
            </a:pPr>
            <a:r>
              <a:rPr lang="en-US" sz="1250" dirty="0">
                <a:solidFill>
                  <a:srgbClr val="87867F"/>
                </a:solidFill>
                <a:latin typeface="Courier New" pitchFamily="34" charset="0"/>
                <a:ea typeface="Courier New" pitchFamily="34" charset="-122"/>
                <a:cs typeface="Courier New" pitchFamily="34" charset="-120"/>
              </a:rPr>
              <a:t># "end_turn": done</a:t>
            </a:r>
            <a:endParaRPr lang="en-US" sz="1250" dirty="0"/>
          </a:p>
        </p:txBody>
      </p:sp>
      <p:sp>
        <p:nvSpPr>
          <p:cNvPr id="26" name="Shape 24"/>
          <p:cNvSpPr/>
          <p:nvPr/>
        </p:nvSpPr>
        <p:spPr>
          <a:xfrm>
            <a:off x="7178040" y="4251960"/>
            <a:ext cx="4462272" cy="1463040"/>
          </a:xfrm>
          <a:prstGeom prst="roundRect">
            <a:avLst>
              <a:gd name="adj" fmla="val 7500"/>
            </a:avLst>
          </a:prstGeom>
          <a:solidFill>
            <a:srgbClr val="F6E4DB"/>
          </a:solidFill>
          <a:ln w="9525">
            <a:solidFill>
              <a:srgbClr val="F6E4DB"/>
            </a:solidFill>
            <a:prstDash val="solid"/>
          </a:ln>
        </p:spPr>
      </p:sp>
      <p:sp>
        <p:nvSpPr>
          <p:cNvPr id="27" name="Text 25"/>
          <p:cNvSpPr txBox="1"/>
          <p:nvPr/>
        </p:nvSpPr>
        <p:spPr>
          <a:xfrm>
            <a:off x="7406640" y="4251960"/>
            <a:ext cx="4023360" cy="1463040"/>
          </a:xfrm>
          <a:prstGeom prst="rect">
            <a:avLst/>
          </a:prstGeom>
          <a:noFill/>
          <a:ln/>
        </p:spPr>
        <p:txBody>
          <a:bodyPr wrap="square" lIns="0" tIns="0" rIns="0" bIns="0" rtlCol="0" anchor="ctr"/>
          <a:lstStyle/>
          <a:p>
            <a:pPr indent="0" marL="0">
              <a:buNone/>
            </a:pPr>
            <a:r>
              <a:rPr lang="en-US" sz="1400" dirty="0">
                <a:solidFill>
                  <a:srgbClr val="141413"/>
                </a:solidFill>
                <a:latin typeface="Calibri" pitchFamily="34" charset="0"/>
                <a:ea typeface="Calibri" pitchFamily="34" charset="-122"/>
                <a:cs typeface="Calibri" pitchFamily="34" charset="-120"/>
              </a:rPr>
              <a:t>Decide on stop_reason, not on what the text says. Full loop in Session 2.</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548640" y="365760"/>
            <a:ext cx="8686800" cy="274320"/>
          </a:xfrm>
          <a:prstGeom prst="rect">
            <a:avLst/>
          </a:prstGeom>
          <a:noFill/>
          <a:ln/>
        </p:spPr>
        <p:txBody>
          <a:bodyPr wrap="square" lIns="0" tIns="0" rIns="0" bIns="0"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CLAUDE API ESSENTIALS</a:t>
            </a:r>
            <a:endParaRPr lang="en-US" sz="1200" dirty="0"/>
          </a:p>
        </p:txBody>
      </p:sp>
      <p:sp>
        <p:nvSpPr>
          <p:cNvPr id="3" name="Text 1"/>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200" dirty="0">
                <a:solidFill>
                  <a:srgbClr val="141413"/>
                </a:solidFill>
                <a:latin typeface="Cambria" pitchFamily="34" charset="0"/>
                <a:ea typeface="Cambria" pitchFamily="34" charset="-122"/>
                <a:cs typeface="Cambria" pitchFamily="34" charset="-120"/>
              </a:rPr>
              <a:t>Prompt caching: know that it exists</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87867F"/>
                </a:solidFill>
                <a:latin typeface="Calibri" pitchFamily="34" charset="0"/>
                <a:ea typeface="Calibri" pitchFamily="34" charset="-122"/>
                <a:cs typeface="Calibri" pitchFamily="34" charset="-120"/>
              </a:rPr>
              <a:t>CCAR-F Skills Curriculum  ·  Session 1  ·  16</a:t>
            </a:r>
            <a:endParaRPr lang="en-US" sz="1000" dirty="0"/>
          </a:p>
        </p:txBody>
      </p:sp>
      <p:sp>
        <p:nvSpPr>
          <p:cNvPr id="5" name="Text 3"/>
          <p:cNvSpPr txBox="1"/>
          <p:nvPr/>
        </p:nvSpPr>
        <p:spPr>
          <a:xfrm>
            <a:off x="8869680" y="365760"/>
            <a:ext cx="2770632" cy="274320"/>
          </a:xfrm>
          <a:prstGeom prst="rect">
            <a:avLst/>
          </a:prstGeom>
          <a:noFill/>
          <a:ln/>
        </p:spPr>
        <p:txBody>
          <a:bodyPr wrap="square" lIns="0" tIns="0" rIns="0" bIns="0" rtlCol="0" anchor="ctr"/>
          <a:lstStyle/>
          <a:p>
            <a:pPr algn="r" indent="0" marL="0">
              <a:buNone/>
            </a:pPr>
            <a:r>
              <a:rPr lang="en-US" sz="1100" dirty="0">
                <a:solidFill>
                  <a:srgbClr val="87867F"/>
                </a:solidFill>
                <a:latin typeface="Calibri" pitchFamily="34" charset="0"/>
                <a:ea typeface="Calibri" pitchFamily="34" charset="-122"/>
                <a:cs typeface="Calibri" pitchFamily="34" charset="-120"/>
              </a:rPr>
              <a:t>32–33 min</a:t>
            </a:r>
            <a:endParaRPr lang="en-US" sz="1100" dirty="0"/>
          </a:p>
        </p:txBody>
      </p:sp>
      <p:sp>
        <p:nvSpPr>
          <p:cNvPr id="6" name="Shape 4"/>
          <p:cNvSpPr/>
          <p:nvPr/>
        </p:nvSpPr>
        <p:spPr>
          <a:xfrm>
            <a:off x="548640" y="1691640"/>
            <a:ext cx="6766560" cy="3291840"/>
          </a:xfrm>
          <a:prstGeom prst="roundRect">
            <a:avLst>
              <a:gd name="adj" fmla="val 3333"/>
            </a:avLst>
          </a:prstGeom>
          <a:solidFill>
            <a:srgbClr val="FFFFFF"/>
          </a:solidFill>
          <a:ln w="9525">
            <a:solidFill>
              <a:srgbClr val="E8E6DC"/>
            </a:solidFill>
            <a:prstDash val="solid"/>
          </a:ln>
        </p:spPr>
      </p:sp>
      <p:sp>
        <p:nvSpPr>
          <p:cNvPr id="7" name="Text 5"/>
          <p:cNvSpPr txBox="1"/>
          <p:nvPr/>
        </p:nvSpPr>
        <p:spPr>
          <a:xfrm>
            <a:off x="822960" y="1874520"/>
            <a:ext cx="6217920" cy="365760"/>
          </a:xfrm>
          <a:prstGeom prst="rect">
            <a:avLst/>
          </a:prstGeom>
          <a:noFill/>
          <a:ln/>
        </p:spPr>
        <p:txBody>
          <a:bodyPr wrap="square" lIns="0" tIns="0" rIns="0" bIns="0" rtlCol="0" anchor="ctr"/>
          <a:lstStyle/>
          <a:p>
            <a:pPr indent="0" marL="0">
              <a:buNone/>
            </a:pPr>
            <a:r>
              <a:rPr lang="en-US" sz="2000" dirty="0">
                <a:solidFill>
                  <a:srgbClr val="141413"/>
                </a:solidFill>
                <a:latin typeface="Cambria" pitchFamily="34" charset="0"/>
                <a:ea typeface="Cambria" pitchFamily="34" charset="-122"/>
                <a:cs typeface="Cambria" pitchFamily="34" charset="-120"/>
              </a:rPr>
              <a:t>What it is</a:t>
            </a:r>
            <a:endParaRPr lang="en-US" sz="2000" dirty="0"/>
          </a:p>
        </p:txBody>
      </p:sp>
      <p:sp>
        <p:nvSpPr>
          <p:cNvPr id="8" name="Text 6"/>
          <p:cNvSpPr txBox="1"/>
          <p:nvPr/>
        </p:nvSpPr>
        <p:spPr>
          <a:xfrm>
            <a:off x="822960" y="2377440"/>
            <a:ext cx="6217920" cy="31089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41413"/>
                </a:solidFill>
                <a:latin typeface="Calibri" pitchFamily="34" charset="0"/>
                <a:ea typeface="Calibri" pitchFamily="34" charset="-122"/>
                <a:cs typeface="Calibri" pitchFamily="34" charset="-120"/>
              </a:rPr>
              <a:t>Repeated prompt prefixes (long system prompts, tool definitions) can be cached and reused across requests.</a:t>
            </a:r>
            <a:endParaRPr lang="en-US" sz="1500" dirty="0"/>
          </a:p>
          <a:p>
            <a:pPr marL="177800" indent="-177800">
              <a:spcAft>
                <a:spcPts val="600"/>
              </a:spcAft>
              <a:buSzPct val="100000"/>
              <a:buChar char="•"/>
            </a:pPr>
            <a:r>
              <a:rPr lang="en-US" sz="1500" dirty="0">
                <a:solidFill>
                  <a:srgbClr val="141413"/>
                </a:solidFill>
                <a:latin typeface="Calibri" pitchFamily="34" charset="0"/>
                <a:ea typeface="Calibri" pitchFamily="34" charset="-122"/>
                <a:cs typeface="Calibri" pitchFamily="34" charset="-120"/>
              </a:rPr>
              <a:t>Enabled with a cache_control field on the request or on individual content blocks.</a:t>
            </a:r>
            <a:endParaRPr lang="en-US" sz="1500" dirty="0"/>
          </a:p>
          <a:p>
            <a:pPr marL="177800" indent="-177800">
              <a:spcAft>
                <a:spcPts val="600"/>
              </a:spcAft>
              <a:buSzPct val="100000"/>
              <a:buChar char="•"/>
            </a:pPr>
            <a:r>
              <a:rPr lang="en-US" sz="1500" dirty="0">
                <a:solidFill>
                  <a:srgbClr val="141413"/>
                </a:solidFill>
                <a:latin typeface="Calibri" pitchFamily="34" charset="0"/>
                <a:ea typeface="Calibri" pitchFamily="34" charset="-122"/>
                <a:cs typeface="Calibri" pitchFamily="34" charset="-120"/>
              </a:rPr>
              <a:t>Cached reads are cheaper and faster than reprocessing the same prefix.</a:t>
            </a:r>
            <a:endParaRPr lang="en-US" sz="1500" dirty="0"/>
          </a:p>
        </p:txBody>
      </p:sp>
      <p:sp>
        <p:nvSpPr>
          <p:cNvPr id="9" name="Shape 7"/>
          <p:cNvSpPr/>
          <p:nvPr/>
        </p:nvSpPr>
        <p:spPr>
          <a:xfrm>
            <a:off x="7589520" y="1691640"/>
            <a:ext cx="4050792" cy="3291840"/>
          </a:xfrm>
          <a:prstGeom prst="roundRect">
            <a:avLst>
              <a:gd name="adj" fmla="val 3333"/>
            </a:avLst>
          </a:prstGeom>
          <a:solidFill>
            <a:srgbClr val="F6E4DB"/>
          </a:solidFill>
          <a:ln w="9525">
            <a:solidFill>
              <a:srgbClr val="F6E4DB"/>
            </a:solidFill>
            <a:prstDash val="solid"/>
          </a:ln>
        </p:spPr>
      </p:sp>
      <p:sp>
        <p:nvSpPr>
          <p:cNvPr id="10" name="Text 8"/>
          <p:cNvSpPr txBox="1"/>
          <p:nvPr/>
        </p:nvSpPr>
        <p:spPr>
          <a:xfrm>
            <a:off x="7863840" y="1874520"/>
            <a:ext cx="3566160" cy="365760"/>
          </a:xfrm>
          <a:prstGeom prst="rect">
            <a:avLst/>
          </a:prstGeom>
          <a:noFill/>
          <a:ln/>
        </p:spPr>
        <p:txBody>
          <a:bodyPr wrap="square" lIns="0" tIns="0" rIns="0" bIns="0" rtlCol="0" anchor="ctr"/>
          <a:lstStyle/>
          <a:p>
            <a:pPr indent="0" marL="0">
              <a:buNone/>
            </a:pPr>
            <a:r>
              <a:rPr lang="en-US" sz="2000" dirty="0">
                <a:solidFill>
                  <a:srgbClr val="B85C3E"/>
                </a:solidFill>
                <a:latin typeface="Cambria" pitchFamily="34" charset="0"/>
                <a:ea typeface="Cambria" pitchFamily="34" charset="-122"/>
                <a:cs typeface="Cambria" pitchFamily="34" charset="-120"/>
              </a:rPr>
              <a:t>For this curriculum</a:t>
            </a:r>
            <a:endParaRPr lang="en-US" sz="2000" dirty="0"/>
          </a:p>
        </p:txBody>
      </p:sp>
      <p:sp>
        <p:nvSpPr>
          <p:cNvPr id="11" name="Text 9"/>
          <p:cNvSpPr txBox="1"/>
          <p:nvPr/>
        </p:nvSpPr>
        <p:spPr>
          <a:xfrm>
            <a:off x="7863840" y="2377440"/>
            <a:ext cx="3566160" cy="1645920"/>
          </a:xfrm>
          <a:prstGeom prst="rect">
            <a:avLst/>
          </a:prstGeom>
          <a:noFill/>
          <a:ln/>
        </p:spPr>
        <p:txBody>
          <a:bodyPr wrap="square" lIns="0" tIns="0" rIns="0" bIns="0" rtlCol="0" anchor="t"/>
          <a:lstStyle/>
          <a:p>
            <a:pPr indent="0" marL="0">
              <a:buNone/>
            </a:pPr>
            <a:r>
              <a:rPr lang="en-US" sz="1500" dirty="0">
                <a:solidFill>
                  <a:srgbClr val="141413"/>
                </a:solidFill>
                <a:latin typeface="Calibri" pitchFamily="34" charset="0"/>
                <a:ea typeface="Calibri" pitchFamily="34" charset="-122"/>
                <a:cs typeface="Calibri" pitchFamily="34" charset="-120"/>
              </a:rPr>
              <a:t>Knowing it exists is enough. Implementation details are out of scope in the exam guide, so we do not go further.</a:t>
            </a:r>
            <a:endParaRPr lang="en-US" sz="1500" dirty="0"/>
          </a:p>
        </p:txBody>
      </p:sp>
      <p:sp>
        <p:nvSpPr>
          <p:cNvPr id="12" name="Text 10"/>
          <p:cNvSpPr txBox="1"/>
          <p:nvPr/>
        </p:nvSpPr>
        <p:spPr>
          <a:xfrm>
            <a:off x="7863840" y="4434840"/>
            <a:ext cx="3566160" cy="365760"/>
          </a:xfrm>
          <a:prstGeom prst="rect">
            <a:avLst/>
          </a:prstGeom>
          <a:noFill/>
          <a:ln/>
        </p:spPr>
        <p:txBody>
          <a:bodyPr wrap="square" lIns="0" tIns="0" rIns="0" bIns="0" rtlCol="0" anchor="ctr"/>
          <a:lstStyle/>
          <a:p>
            <a:pPr indent="0" marL="0">
              <a:buNone/>
            </a:pPr>
            <a:r>
              <a:rPr lang="en-US" sz="1150" i="1" dirty="0">
                <a:solidFill>
                  <a:srgbClr val="5E5D59"/>
                </a:solidFill>
                <a:latin typeface="Calibri" pitchFamily="34" charset="0"/>
                <a:ea typeface="Calibri" pitchFamily="34" charset="-122"/>
                <a:cs typeface="Calibri" pitchFamily="34" charset="-120"/>
              </a:rPr>
              <a:t>Docs: Build with Claude &gt; Prompt caching</a:t>
            </a:r>
            <a:endParaRPr lang="en-US" sz="1150" dirty="0"/>
          </a:p>
        </p:txBody>
      </p:sp>
      <p:sp>
        <p:nvSpPr>
          <p:cNvPr id="13" name="Shape 11"/>
          <p:cNvSpPr/>
          <p:nvPr/>
        </p:nvSpPr>
        <p:spPr>
          <a:xfrm>
            <a:off x="548640" y="5212080"/>
            <a:ext cx="11091672" cy="777240"/>
          </a:xfrm>
          <a:prstGeom prst="roundRect">
            <a:avLst>
              <a:gd name="adj" fmla="val 14118"/>
            </a:avLst>
          </a:prstGeom>
          <a:solidFill>
            <a:srgbClr val="FFFFFF"/>
          </a:solidFill>
          <a:ln w="9525">
            <a:solidFill>
              <a:srgbClr val="E8E6DC"/>
            </a:solidFill>
            <a:prstDash val="solid"/>
          </a:ln>
        </p:spPr>
      </p:sp>
      <p:sp>
        <p:nvSpPr>
          <p:cNvPr id="14" name="Text 12"/>
          <p:cNvSpPr txBox="1"/>
          <p:nvPr/>
        </p:nvSpPr>
        <p:spPr>
          <a:xfrm>
            <a:off x="822960" y="5212080"/>
            <a:ext cx="10515600" cy="777240"/>
          </a:xfrm>
          <a:prstGeom prst="rect">
            <a:avLst/>
          </a:prstGeom>
          <a:noFill/>
          <a:ln/>
        </p:spPr>
        <p:txBody>
          <a:bodyPr wrap="square" lIns="0" tIns="0" rIns="0" bIns="0" rtlCol="0" anchor="ctr"/>
          <a:lstStyle/>
          <a:p>
            <a:pPr indent="0" marL="0">
              <a:buNone/>
            </a:pPr>
            <a:r>
              <a:rPr lang="en-US" sz="1400" dirty="0">
                <a:solidFill>
                  <a:srgbClr val="141413"/>
                </a:solidFill>
                <a:latin typeface="Calibri" pitchFamily="34" charset="0"/>
                <a:ea typeface="Calibri" pitchFamily="34" charset="-122"/>
                <a:cs typeface="Calibri" pitchFamily="34" charset="-120"/>
              </a:rPr>
              <a:t>Caching is an optimization on top of a correct design. It does not change what your agent does, only what repeated requests cost.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548640" y="365760"/>
            <a:ext cx="8686800" cy="274320"/>
          </a:xfrm>
          <a:prstGeom prst="rect">
            <a:avLst/>
          </a:prstGeom>
          <a:noFill/>
          <a:ln/>
        </p:spPr>
        <p:txBody>
          <a:bodyPr wrap="square" lIns="0" tIns="0" rIns="0" bIns="0"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200" dirty="0">
                <a:solidFill>
                  <a:srgbClr val="141413"/>
                </a:solidFill>
                <a:latin typeface="Cambria" pitchFamily="34" charset="0"/>
                <a:ea typeface="Cambria" pitchFamily="34" charset="-122"/>
                <a:cs typeface="Cambria" pitchFamily="34" charset="-120"/>
              </a:rPr>
              <a:t>One tool, one call: what the response really looks like</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87867F"/>
                </a:solidFill>
                <a:latin typeface="Calibri" pitchFamily="34" charset="0"/>
                <a:ea typeface="Calibri" pitchFamily="34" charset="-122"/>
                <a:cs typeface="Calibri" pitchFamily="34" charset="-120"/>
              </a:rPr>
              <a:t>CCAR-F Skills Curriculum  ·  Session 1  ·  17</a:t>
            </a:r>
            <a:endParaRPr lang="en-US" sz="1000" dirty="0"/>
          </a:p>
        </p:txBody>
      </p:sp>
      <p:sp>
        <p:nvSpPr>
          <p:cNvPr id="5" name="Text 3"/>
          <p:cNvSpPr txBox="1"/>
          <p:nvPr/>
        </p:nvSpPr>
        <p:spPr>
          <a:xfrm>
            <a:off x="8869680" y="365760"/>
            <a:ext cx="2770632" cy="274320"/>
          </a:xfrm>
          <a:prstGeom prst="rect">
            <a:avLst/>
          </a:prstGeom>
          <a:noFill/>
          <a:ln/>
        </p:spPr>
        <p:txBody>
          <a:bodyPr wrap="square" lIns="0" tIns="0" rIns="0" bIns="0" rtlCol="0" anchor="ctr"/>
          <a:lstStyle/>
          <a:p>
            <a:pPr algn="r" indent="0" marL="0">
              <a:buNone/>
            </a:pPr>
            <a:r>
              <a:rPr lang="en-US" sz="1100" dirty="0">
                <a:solidFill>
                  <a:srgbClr val="87867F"/>
                </a:solidFill>
                <a:latin typeface="Calibri" pitchFamily="34" charset="0"/>
                <a:ea typeface="Calibri" pitchFamily="34" charset="-122"/>
                <a:cs typeface="Calibri" pitchFamily="34" charset="-120"/>
              </a:rPr>
              <a:t>33–37 min</a:t>
            </a:r>
            <a:endParaRPr lang="en-US" sz="1100" dirty="0"/>
          </a:p>
        </p:txBody>
      </p:sp>
      <p:sp>
        <p:nvSpPr>
          <p:cNvPr id="6" name="Shape 4"/>
          <p:cNvSpPr/>
          <p:nvPr/>
        </p:nvSpPr>
        <p:spPr>
          <a:xfrm>
            <a:off x="548640" y="1645920"/>
            <a:ext cx="6675120" cy="2743200"/>
          </a:xfrm>
          <a:prstGeom prst="roundRect">
            <a:avLst>
              <a:gd name="adj" fmla="val 3333"/>
            </a:avLst>
          </a:prstGeom>
          <a:solidFill>
            <a:srgbClr val="1F1E1D"/>
          </a:solidFill>
          <a:ln w="12700">
            <a:solidFill>
              <a:srgbClr val="1F1E1D"/>
            </a:solidFill>
            <a:prstDash val="solid"/>
          </a:ln>
        </p:spPr>
      </p:sp>
      <p:sp>
        <p:nvSpPr>
          <p:cNvPr id="7" name="Text 5"/>
          <p:cNvSpPr txBox="1"/>
          <p:nvPr/>
        </p:nvSpPr>
        <p:spPr>
          <a:xfrm>
            <a:off x="777240" y="1737360"/>
            <a:ext cx="6217920" cy="274320"/>
          </a:xfrm>
          <a:prstGeom prst="rect">
            <a:avLst/>
          </a:prstGeom>
          <a:noFill/>
          <a:ln/>
        </p:spPr>
        <p:txBody>
          <a:bodyPr wrap="square" lIns="0" tIns="0" rIns="0" bIns="0" rtlCol="0" anchor="ctr"/>
          <a:lstStyle/>
          <a:p>
            <a:pPr indent="0" marL="0">
              <a:buNone/>
            </a:pPr>
            <a:r>
              <a:rPr lang="en-US" sz="1000" dirty="0">
                <a:solidFill>
                  <a:srgbClr val="87867F"/>
                </a:solidFill>
                <a:latin typeface="Courier New" pitchFamily="34" charset="0"/>
                <a:ea typeface="Courier New" pitchFamily="34" charset="-122"/>
                <a:cs typeface="Courier New" pitchFamily="34" charset="-120"/>
              </a:rPr>
              <a:t>expected output (wording of the text block will vary)</a:t>
            </a:r>
            <a:endParaRPr lang="en-US" sz="1000" dirty="0"/>
          </a:p>
        </p:txBody>
      </p:sp>
      <p:sp>
        <p:nvSpPr>
          <p:cNvPr id="8" name="Text 6"/>
          <p:cNvSpPr txBox="1"/>
          <p:nvPr/>
        </p:nvSpPr>
        <p:spPr>
          <a:xfrm>
            <a:off x="777240" y="2029968"/>
            <a:ext cx="6217920" cy="2240280"/>
          </a:xfrm>
          <a:prstGeom prst="rect">
            <a:avLst/>
          </a:prstGeom>
          <a:noFill/>
          <a:ln/>
        </p:spPr>
        <p:txBody>
          <a:bodyPr wrap="square" lIns="0" tIns="0" rIns="0" bIns="0" rtlCol="0" anchor="t"/>
          <a:lstStyle/>
          <a:p>
            <a:pPr indent="0" marL="0">
              <a:buNone/>
            </a:pPr>
            <a:r>
              <a:rPr lang="en-US" sz="1300" dirty="0">
                <a:solidFill>
                  <a:srgbClr val="E8E6DC"/>
                </a:solidFill>
                <a:latin typeface="Courier New" pitchFamily="34" charset="0"/>
                <a:ea typeface="Courier New" pitchFamily="34" charset="-122"/>
                <a:cs typeface="Courier New" pitchFamily="34" charset="-120"/>
              </a:rPr>
              <a:t>$ python s1_single_call.py</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stop_reason: tool_use</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content blocks: </a:t>
            </a:r>
            <a:pPr indent="0" marL="0">
              <a:buNone/>
            </a:pPr>
            <a:r>
              <a:rPr lang="en-US" sz="1300" dirty="0">
                <a:solidFill>
                  <a:srgbClr val="8FB8E0"/>
                </a:solidFill>
                <a:latin typeface="Courier New" pitchFamily="34" charset="0"/>
                <a:ea typeface="Courier New" pitchFamily="34" charset="-122"/>
                <a:cs typeface="Courier New" pitchFamily="34" charset="-120"/>
              </a:rPr>
              <a:t>2</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  [</a:t>
            </a:r>
            <a:pPr indent="0" marL="0">
              <a:buNone/>
            </a:pPr>
            <a:r>
              <a:rPr lang="en-US" sz="1300" dirty="0">
                <a:solidFill>
                  <a:srgbClr val="8FB8E0"/>
                </a:solidFill>
                <a:latin typeface="Courier New" pitchFamily="34" charset="0"/>
                <a:ea typeface="Courier New" pitchFamily="34" charset="-122"/>
                <a:cs typeface="Courier New" pitchFamily="34" charset="-120"/>
              </a:rPr>
              <a:t>0</a:t>
            </a:r>
            <a:pPr indent="0" marL="0">
              <a:buNone/>
            </a:pPr>
            <a:r>
              <a:rPr lang="en-US" sz="1300" dirty="0">
                <a:solidFill>
                  <a:srgbClr val="E8E6DC"/>
                </a:solidFill>
                <a:latin typeface="Courier New" pitchFamily="34" charset="0"/>
                <a:ea typeface="Courier New" pitchFamily="34" charset="-122"/>
                <a:cs typeface="Courier New" pitchFamily="34" charset="-120"/>
              </a:rPr>
              <a:t>] text     -&gt; </a:t>
            </a:r>
            <a:pPr indent="0" marL="0">
              <a:buNone/>
            </a:pPr>
            <a:r>
              <a:rPr lang="en-US" sz="1300" dirty="0">
                <a:solidFill>
                  <a:srgbClr val="A8C98F"/>
                </a:solidFill>
                <a:latin typeface="Courier New" pitchFamily="34" charset="0"/>
                <a:ea typeface="Courier New" pitchFamily="34" charset="-122"/>
                <a:cs typeface="Courier New" pitchFamily="34" charset="-120"/>
              </a:rPr>
              <a:t>"I'll look that up for you."</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  [</a:t>
            </a:r>
            <a:pPr indent="0" marL="0">
              <a:buNone/>
            </a:pPr>
            <a:r>
              <a:rPr lang="en-US" sz="1300" dirty="0">
                <a:solidFill>
                  <a:srgbClr val="8FB8E0"/>
                </a:solidFill>
                <a:latin typeface="Courier New" pitchFamily="34" charset="0"/>
                <a:ea typeface="Courier New" pitchFamily="34" charset="-122"/>
                <a:cs typeface="Courier New" pitchFamily="34" charset="-120"/>
              </a:rPr>
              <a:t>1</a:t>
            </a:r>
            <a:pPr indent="0" marL="0">
              <a:buNone/>
            </a:pPr>
            <a:r>
              <a:rPr lang="en-US" sz="1300" dirty="0">
                <a:solidFill>
                  <a:srgbClr val="E8E6DC"/>
                </a:solidFill>
                <a:latin typeface="Courier New" pitchFamily="34" charset="0"/>
                <a:ea typeface="Courier New" pitchFamily="34" charset="-122"/>
                <a:cs typeface="Courier New" pitchFamily="34" charset="-120"/>
              </a:rPr>
              <a:t>] tool_use -&gt; lookup_order</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                  id=toolu_01A09q...</a:t>
            </a:r>
            <a:endParaRPr lang="en-US" sz="1300" dirty="0"/>
          </a:p>
          <a:p>
            <a:pPr indent="0" marL="0">
              <a:buNone/>
            </a:pPr>
            <a:r>
              <a:rPr lang="en-US" sz="1300" dirty="0">
                <a:solidFill>
                  <a:srgbClr val="E8E6DC"/>
                </a:solidFill>
                <a:latin typeface="Courier New" pitchFamily="34" charset="0"/>
                <a:ea typeface="Courier New" pitchFamily="34" charset="-122"/>
                <a:cs typeface="Courier New" pitchFamily="34" charset="-120"/>
              </a:rPr>
              <a:t>                  input={</a:t>
            </a:r>
            <a:pPr indent="0" marL="0">
              <a:buNone/>
            </a:pPr>
            <a:r>
              <a:rPr lang="en-US" sz="1300" dirty="0">
                <a:solidFill>
                  <a:srgbClr val="A8C98F"/>
                </a:solidFill>
                <a:latin typeface="Courier New" pitchFamily="34" charset="0"/>
                <a:ea typeface="Courier New" pitchFamily="34" charset="-122"/>
                <a:cs typeface="Courier New" pitchFamily="34" charset="-120"/>
              </a:rPr>
              <a:t>'order_id'</a:t>
            </a:r>
            <a:pPr indent="0" marL="0">
              <a:buNone/>
            </a:pPr>
            <a:r>
              <a:rPr lang="en-US" sz="1300" dirty="0">
                <a:solidFill>
                  <a:srgbClr val="E8E6DC"/>
                </a:solidFill>
                <a:latin typeface="Courier New" pitchFamily="34" charset="0"/>
                <a:ea typeface="Courier New" pitchFamily="34" charset="-122"/>
                <a:cs typeface="Courier New" pitchFamily="34" charset="-120"/>
              </a:rPr>
              <a:t>: </a:t>
            </a:r>
            <a:pPr indent="0" marL="0">
              <a:buNone/>
            </a:pPr>
            <a:r>
              <a:rPr lang="en-US" sz="1300" dirty="0">
                <a:solidFill>
                  <a:srgbClr val="A8C98F"/>
                </a:solidFill>
                <a:latin typeface="Courier New" pitchFamily="34" charset="0"/>
                <a:ea typeface="Courier New" pitchFamily="34" charset="-122"/>
                <a:cs typeface="Courier New" pitchFamily="34" charset="-120"/>
              </a:rPr>
              <a:t>'12345'</a:t>
            </a:r>
            <a:pPr indent="0" marL="0">
              <a:buNone/>
            </a:pPr>
            <a:r>
              <a:rPr lang="en-US" sz="1300" dirty="0">
                <a:solidFill>
                  <a:srgbClr val="E8E6DC"/>
                </a:solidFill>
                <a:latin typeface="Courier New" pitchFamily="34" charset="0"/>
                <a:ea typeface="Courier New" pitchFamily="34" charset="-122"/>
                <a:cs typeface="Courier New" pitchFamily="34" charset="-120"/>
              </a:rPr>
              <a:t>}</a:t>
            </a:r>
            <a:endParaRPr lang="en-US" sz="1300" dirty="0"/>
          </a:p>
        </p:txBody>
      </p:sp>
      <p:sp>
        <p:nvSpPr>
          <p:cNvPr id="9" name="Text 7"/>
          <p:cNvSpPr txBox="1"/>
          <p:nvPr/>
        </p:nvSpPr>
        <p:spPr>
          <a:xfrm>
            <a:off x="7543800" y="1645920"/>
            <a:ext cx="4023360" cy="365760"/>
          </a:xfrm>
          <a:prstGeom prst="rect">
            <a:avLst/>
          </a:prstGeom>
          <a:noFill/>
          <a:ln/>
        </p:spPr>
        <p:txBody>
          <a:bodyPr wrap="square" lIns="0" tIns="0" rIns="0" bIns="0" rtlCol="0" anchor="ctr"/>
          <a:lstStyle/>
          <a:p>
            <a:pPr indent="0" marL="0">
              <a:buNone/>
            </a:pPr>
            <a:r>
              <a:rPr lang="en-US" sz="1900" dirty="0">
                <a:solidFill>
                  <a:srgbClr val="141413"/>
                </a:solidFill>
                <a:latin typeface="Cambria" pitchFamily="34" charset="0"/>
                <a:ea typeface="Cambria" pitchFamily="34" charset="-122"/>
                <a:cs typeface="Cambria" pitchFamily="34" charset="-120"/>
              </a:rPr>
              <a:t>What to point out</a:t>
            </a:r>
            <a:endParaRPr lang="en-US" sz="1900" dirty="0"/>
          </a:p>
        </p:txBody>
      </p:sp>
      <p:sp>
        <p:nvSpPr>
          <p:cNvPr id="10" name="Text 8"/>
          <p:cNvSpPr txBox="1"/>
          <p:nvPr/>
        </p:nvSpPr>
        <p:spPr>
          <a:xfrm>
            <a:off x="7543800" y="2103120"/>
            <a:ext cx="4069080" cy="27432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41413"/>
                </a:solidFill>
                <a:latin typeface="Calibri" pitchFamily="34" charset="0"/>
                <a:ea typeface="Calibri" pitchFamily="34" charset="-122"/>
                <a:cs typeface="Calibri" pitchFamily="34" charset="-120"/>
              </a:rPr>
              <a:t>stop_reason is "tool_use", not "end_turn".</a:t>
            </a:r>
            <a:endParaRPr lang="en-US" sz="1400" dirty="0"/>
          </a:p>
          <a:p>
            <a:pPr marL="177800" indent="-177800">
              <a:spcAft>
                <a:spcPts val="600"/>
              </a:spcAft>
              <a:buSzPct val="100000"/>
              <a:buChar char="•"/>
            </a:pPr>
            <a:r>
              <a:rPr lang="en-US" sz="1400" dirty="0">
                <a:solidFill>
                  <a:srgbClr val="141413"/>
                </a:solidFill>
                <a:latin typeface="Calibri" pitchFamily="34" charset="0"/>
                <a:ea typeface="Calibri" pitchFamily="34" charset="-122"/>
                <a:cs typeface="Calibri" pitchFamily="34" charset="-120"/>
              </a:rPr>
              <a:t>Two blocks, and the text one is not the answer.</a:t>
            </a:r>
            <a:endParaRPr lang="en-US" sz="1400" dirty="0"/>
          </a:p>
          <a:p>
            <a:pPr marL="177800" indent="-177800">
              <a:spcAft>
                <a:spcPts val="600"/>
              </a:spcAft>
              <a:buSzPct val="100000"/>
              <a:buChar char="•"/>
            </a:pPr>
            <a:r>
              <a:rPr lang="en-US" sz="1400" dirty="0">
                <a:solidFill>
                  <a:srgbClr val="141413"/>
                </a:solidFill>
                <a:latin typeface="Calibri" pitchFamily="34" charset="0"/>
                <a:ea typeface="Calibri" pitchFamily="34" charset="-122"/>
                <a:cs typeface="Calibri" pitchFamily="34" charset="-120"/>
              </a:rPr>
              <a:t>input is already a dict shaped by your schema.</a:t>
            </a:r>
            <a:endParaRPr lang="en-US" sz="1400" dirty="0"/>
          </a:p>
          <a:p>
            <a:pPr marL="177800" indent="-177800">
              <a:spcAft>
                <a:spcPts val="600"/>
              </a:spcAft>
              <a:buSzPct val="100000"/>
              <a:buChar char="•"/>
            </a:pPr>
            <a:r>
              <a:rPr lang="en-US" sz="1400" dirty="0">
                <a:solidFill>
                  <a:srgbClr val="141413"/>
                </a:solidFill>
                <a:latin typeface="Calibri" pitchFamily="34" charset="0"/>
                <a:ea typeface="Calibri" pitchFamily="34" charset="-122"/>
                <a:cs typeface="Calibri" pitchFamily="34" charset="-120"/>
              </a:rPr>
              <a:t>The tool did not run. We have not run anything yet.</a:t>
            </a:r>
            <a:endParaRPr lang="en-US" sz="1400" dirty="0"/>
          </a:p>
        </p:txBody>
      </p:sp>
      <p:sp>
        <p:nvSpPr>
          <p:cNvPr id="11" name="Shape 9"/>
          <p:cNvSpPr/>
          <p:nvPr/>
        </p:nvSpPr>
        <p:spPr>
          <a:xfrm>
            <a:off x="548640" y="4754880"/>
            <a:ext cx="11091672" cy="1188720"/>
          </a:xfrm>
          <a:prstGeom prst="roundRect">
            <a:avLst>
              <a:gd name="adj" fmla="val 9231"/>
            </a:avLst>
          </a:prstGeom>
          <a:solidFill>
            <a:srgbClr val="F6E4DB"/>
          </a:solidFill>
          <a:ln w="9525">
            <a:solidFill>
              <a:srgbClr val="F6E4DB"/>
            </a:solidFill>
            <a:prstDash val="solid"/>
          </a:ln>
        </p:spPr>
      </p:sp>
      <p:pic>
        <p:nvPicPr>
          <p:cNvPr id="12" name="Image 0" descr="preencoded.png">    </p:cNvPr>
          <p:cNvPicPr>
            <a:picLocks noChangeAspect="1"/>
          </p:cNvPicPr>
          <p:nvPr/>
        </p:nvPicPr>
        <p:blipFill>
          <a:blip r:embed="rId1"/>
          <a:stretch>
            <a:fillRect/>
          </a:stretch>
        </p:blipFill>
        <p:spPr>
          <a:xfrm>
            <a:off x="822960" y="5120640"/>
            <a:ext cx="457200" cy="457200"/>
          </a:xfrm>
          <a:prstGeom prst="rect">
            <a:avLst/>
          </a:prstGeom>
        </p:spPr>
      </p:pic>
      <p:sp>
        <p:nvSpPr>
          <p:cNvPr id="13" name="Text 10"/>
          <p:cNvSpPr txBox="1"/>
          <p:nvPr/>
        </p:nvSpPr>
        <p:spPr>
          <a:xfrm>
            <a:off x="1508760" y="4754880"/>
            <a:ext cx="9875520" cy="1188720"/>
          </a:xfrm>
          <a:prstGeom prst="rect">
            <a:avLst/>
          </a:prstGeom>
          <a:noFill/>
          <a:ln/>
        </p:spPr>
        <p:txBody>
          <a:bodyPr wrap="square" lIns="0" tIns="0" rIns="0" bIns="0" rtlCol="0" anchor="ctr"/>
          <a:lstStyle/>
          <a:p>
            <a:pPr indent="0" marL="0">
              <a:buNone/>
            </a:pPr>
            <a:r>
              <a:rPr lang="en-US" sz="1400" dirty="0">
                <a:solidFill>
                  <a:srgbClr val="141413"/>
                </a:solidFill>
                <a:latin typeface="Calibri" pitchFamily="34" charset="0"/>
                <a:ea typeface="Calibri" pitchFamily="34" charset="-122"/>
                <a:cs typeface="Calibri" pitchFamily="34" charset="-120"/>
              </a:rPr>
              <a:t>Homework step 3 is this script, run by you. The full practical is in the Session 1 practical document; step 4 sends the tool_result back and shows statelessness.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413"/>
        </a:solidFill>
      </p:bgPr>
    </p:bg>
    <p:spTree>
      <p:nvGrpSpPr>
        <p:cNvPr id="1" name=""/>
        <p:cNvGrpSpPr/>
        <p:nvPr/>
      </p:nvGrpSpPr>
      <p:grpSpPr>
        <a:xfrm>
          <a:off x="0" y="0"/>
          <a:ext cx="0" cy="0"/>
          <a:chOff x="0" y="0"/>
          <a:chExt cx="0" cy="0"/>
        </a:xfrm>
      </p:grpSpPr>
      <p:sp>
        <p:nvSpPr>
          <p:cNvPr id="2" name="Text 0"/>
          <p:cNvSpPr txBox="1"/>
          <p:nvPr/>
        </p:nvSpPr>
        <p:spPr>
          <a:xfrm>
            <a:off x="822960" y="1371600"/>
            <a:ext cx="7315200" cy="274320"/>
          </a:xfrm>
          <a:prstGeom prst="rect">
            <a:avLst/>
          </a:prstGeom>
          <a:noFill/>
          <a:ln/>
        </p:spPr>
        <p:txBody>
          <a:bodyPr wrap="square" lIns="0" tIns="0" rIns="0" bIns="0" rtlCol="0" anchor="ctr"/>
          <a:lstStyle/>
          <a:p>
            <a:pPr indent="0" marL="0">
              <a:buNone/>
            </a:pPr>
            <a:r>
              <a:rPr lang="en-US" sz="1300" b="1" spc="300" kern="0" dirty="0">
                <a:solidFill>
                  <a:srgbClr val="D97757"/>
                </a:solidFill>
                <a:latin typeface="Calibri" pitchFamily="34" charset="0"/>
                <a:ea typeface="Calibri" pitchFamily="34" charset="-122"/>
                <a:cs typeface="Calibri" pitchFamily="34" charset="-120"/>
              </a:rPr>
              <a:t>PART 3  ·  37–52 MIN</a:t>
            </a:r>
            <a:endParaRPr lang="en-US" sz="1300" dirty="0"/>
          </a:p>
        </p:txBody>
      </p:sp>
      <p:sp>
        <p:nvSpPr>
          <p:cNvPr id="3" name="Text 1"/>
          <p:cNvSpPr txBox="1"/>
          <p:nvPr/>
        </p:nvSpPr>
        <p:spPr>
          <a:xfrm>
            <a:off x="822960" y="1828800"/>
            <a:ext cx="8686800" cy="1828800"/>
          </a:xfrm>
          <a:prstGeom prst="rect">
            <a:avLst/>
          </a:prstGeom>
          <a:noFill/>
          <a:ln/>
        </p:spPr>
        <p:txBody>
          <a:bodyPr wrap="square" lIns="0" tIns="0" rIns="0" bIns="0" rtlCol="0" anchor="t"/>
          <a:lstStyle/>
          <a:p>
            <a:pPr indent="0" marL="0">
              <a:buNone/>
            </a:pPr>
            <a:r>
              <a:rPr lang="en-US" sz="5000" dirty="0">
                <a:solidFill>
                  <a:srgbClr val="FAF9F5"/>
                </a:solidFill>
                <a:latin typeface="Cambria" pitchFamily="34" charset="0"/>
                <a:ea typeface="Cambria" pitchFamily="34" charset="-122"/>
                <a:cs typeface="Cambria" pitchFamily="34" charset="-120"/>
              </a:rPr>
              <a:t>Reasoning through scenario questions</a:t>
            </a:r>
            <a:endParaRPr lang="en-US" sz="5000" dirty="0"/>
          </a:p>
        </p:txBody>
      </p:sp>
      <p:sp>
        <p:nvSpPr>
          <p:cNvPr id="4" name="Text 2"/>
          <p:cNvSpPr txBox="1"/>
          <p:nvPr/>
        </p:nvSpPr>
        <p:spPr>
          <a:xfrm>
            <a:off x="822960" y="4023360"/>
            <a:ext cx="7498080" cy="914400"/>
          </a:xfrm>
          <a:prstGeom prst="rect">
            <a:avLst/>
          </a:prstGeom>
          <a:noFill/>
          <a:ln/>
        </p:spPr>
        <p:txBody>
          <a:bodyPr wrap="square" lIns="0" tIns="0" rIns="0" bIns="0" rtlCol="0" anchor="t"/>
          <a:lstStyle/>
          <a:p>
            <a:pPr indent="0" marL="0">
              <a:buNone/>
            </a:pPr>
            <a:r>
              <a:rPr lang="en-US" sz="1800" dirty="0">
                <a:solidFill>
                  <a:srgbClr val="C9C7BC"/>
                </a:solidFill>
                <a:latin typeface="Calibri" pitchFamily="34" charset="0"/>
                <a:ea typeface="Calibri" pitchFamily="34" charset="-122"/>
                <a:cs typeface="Calibri" pitchFamily="34" charset="-120"/>
              </a:rPr>
              <a:t>Sample Q2 and Q3 from the official exam guide (wording lightly condensed), both from Scenario 1: Customer Support Resolution Agent.</a:t>
            </a:r>
            <a:endParaRPr lang="en-US" sz="1800" dirty="0"/>
          </a:p>
        </p:txBody>
      </p:sp>
      <p:sp>
        <p:nvSpPr>
          <p:cNvPr id="5" name="Shape 3"/>
          <p:cNvSpPr/>
          <p:nvPr/>
        </p:nvSpPr>
        <p:spPr>
          <a:xfrm>
            <a:off x="9052560" y="2011680"/>
            <a:ext cx="2377440" cy="2377440"/>
          </a:xfrm>
          <a:prstGeom prst="ellipse">
            <a:avLst/>
          </a:prstGeom>
          <a:solidFill>
            <a:srgbClr val="D97757">
              <a:alpha val="30000"/>
            </a:srgbClr>
          </a:solidFill>
          <a:ln w="12700">
            <a:solidFill>
              <a:srgbClr val="D97757">
                <a:alpha val="30000"/>
              </a:srgbClr>
            </a:solidFill>
            <a:prstDash val="solid"/>
          </a:ln>
        </p:spPr>
      </p:sp>
      <p:sp>
        <p:nvSpPr>
          <p:cNvPr id="6" name="Shape 4"/>
          <p:cNvSpPr/>
          <p:nvPr/>
        </p:nvSpPr>
        <p:spPr>
          <a:xfrm>
            <a:off x="9646920" y="2606040"/>
            <a:ext cx="1188720" cy="1188720"/>
          </a:xfrm>
          <a:prstGeom prst="ellipse">
            <a:avLst/>
          </a:prstGeom>
          <a:solidFill>
            <a:srgbClr val="D97757"/>
          </a:solidFill>
          <a:ln w="12700">
            <a:solidFill>
              <a:srgbClr val="D97757"/>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548640" y="365760"/>
            <a:ext cx="8686800" cy="274320"/>
          </a:xfrm>
          <a:prstGeom prst="rect">
            <a:avLst/>
          </a:prstGeom>
          <a:noFill/>
          <a:ln/>
        </p:spPr>
        <p:txBody>
          <a:bodyPr wrap="square" lIns="0" tIns="0" rIns="0" bIns="0"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EXAM REASONING</a:t>
            </a:r>
            <a:endParaRPr lang="en-US" sz="1200" dirty="0"/>
          </a:p>
        </p:txBody>
      </p:sp>
      <p:sp>
        <p:nvSpPr>
          <p:cNvPr id="3" name="Text 1"/>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200" dirty="0">
                <a:solidFill>
                  <a:srgbClr val="141413"/>
                </a:solidFill>
                <a:latin typeface="Cambria" pitchFamily="34" charset="0"/>
                <a:ea typeface="Cambria" pitchFamily="34" charset="-122"/>
                <a:cs typeface="Cambria" pitchFamily="34" charset="-120"/>
              </a:rPr>
              <a:t>A five-step approach to scenario questions</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87867F"/>
                </a:solidFill>
                <a:latin typeface="Calibri" pitchFamily="34" charset="0"/>
                <a:ea typeface="Calibri" pitchFamily="34" charset="-122"/>
                <a:cs typeface="Calibri" pitchFamily="34" charset="-120"/>
              </a:rPr>
              <a:t>CCAR-F Skills Curriculum  ·  Session 1  ·  19</a:t>
            </a:r>
            <a:endParaRPr lang="en-US" sz="1000" dirty="0"/>
          </a:p>
        </p:txBody>
      </p:sp>
      <p:sp>
        <p:nvSpPr>
          <p:cNvPr id="5" name="Text 3"/>
          <p:cNvSpPr txBox="1"/>
          <p:nvPr/>
        </p:nvSpPr>
        <p:spPr>
          <a:xfrm>
            <a:off x="8869680" y="365760"/>
            <a:ext cx="2770632" cy="274320"/>
          </a:xfrm>
          <a:prstGeom prst="rect">
            <a:avLst/>
          </a:prstGeom>
          <a:noFill/>
          <a:ln/>
        </p:spPr>
        <p:txBody>
          <a:bodyPr wrap="square" lIns="0" tIns="0" rIns="0" bIns="0" rtlCol="0" anchor="ctr"/>
          <a:lstStyle/>
          <a:p>
            <a:pPr algn="r" indent="0" marL="0">
              <a:buNone/>
            </a:pPr>
            <a:r>
              <a:rPr lang="en-US" sz="1100" dirty="0">
                <a:solidFill>
                  <a:srgbClr val="87867F"/>
                </a:solidFill>
                <a:latin typeface="Calibri" pitchFamily="34" charset="0"/>
                <a:ea typeface="Calibri" pitchFamily="34" charset="-122"/>
                <a:cs typeface="Calibri" pitchFamily="34" charset="-120"/>
              </a:rPr>
              <a:t>37–40 min</a:t>
            </a:r>
            <a:endParaRPr lang="en-US" sz="1100" dirty="0"/>
          </a:p>
        </p:txBody>
      </p:sp>
      <p:sp>
        <p:nvSpPr>
          <p:cNvPr id="6" name="Shape 4"/>
          <p:cNvSpPr/>
          <p:nvPr/>
        </p:nvSpPr>
        <p:spPr>
          <a:xfrm>
            <a:off x="548640" y="1600200"/>
            <a:ext cx="11091672" cy="804672"/>
          </a:xfrm>
          <a:prstGeom prst="roundRect">
            <a:avLst>
              <a:gd name="adj" fmla="val 13636"/>
            </a:avLst>
          </a:prstGeom>
          <a:solidFill>
            <a:srgbClr val="FFFFFF"/>
          </a:solidFill>
          <a:ln w="9525">
            <a:solidFill>
              <a:srgbClr val="E8E6DC"/>
            </a:solidFill>
            <a:prstDash val="solid"/>
          </a:ln>
        </p:spPr>
      </p:sp>
      <p:sp>
        <p:nvSpPr>
          <p:cNvPr id="7" name="Shape 5"/>
          <p:cNvSpPr/>
          <p:nvPr/>
        </p:nvSpPr>
        <p:spPr>
          <a:xfrm>
            <a:off x="731520" y="1755648"/>
            <a:ext cx="493776" cy="493776"/>
          </a:xfrm>
          <a:prstGeom prst="ellipse">
            <a:avLst/>
          </a:prstGeom>
          <a:solidFill>
            <a:srgbClr val="D97757"/>
          </a:solidFill>
          <a:ln w="12700">
            <a:solidFill>
              <a:srgbClr val="D97757"/>
            </a:solidFill>
            <a:prstDash val="solid"/>
          </a:ln>
        </p:spPr>
      </p:sp>
      <p:sp>
        <p:nvSpPr>
          <p:cNvPr id="8" name="Text 6"/>
          <p:cNvSpPr txBox="1"/>
          <p:nvPr/>
        </p:nvSpPr>
        <p:spPr>
          <a:xfrm>
            <a:off x="731520" y="1755648"/>
            <a:ext cx="493776" cy="493776"/>
          </a:xfrm>
          <a:prstGeom prst="rect">
            <a:avLst/>
          </a:prstGeom>
          <a:noFill/>
          <a:ln/>
        </p:spPr>
        <p:txBody>
          <a:bodyPr wrap="square" lIns="0" tIns="0" rIns="0" bIns="0" rtlCol="0" anchor="ctr"/>
          <a:lstStyle/>
          <a:p>
            <a:pPr algn="ctr" indent="0" marL="0">
              <a:buNone/>
            </a:pPr>
            <a:r>
              <a:rPr lang="en-US" sz="1800"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7"/>
          <p:cNvSpPr txBox="1"/>
          <p:nvPr/>
        </p:nvSpPr>
        <p:spPr>
          <a:xfrm>
            <a:off x="1463040" y="1600200"/>
            <a:ext cx="3200400" cy="804672"/>
          </a:xfrm>
          <a:prstGeom prst="rect">
            <a:avLst/>
          </a:prstGeom>
          <a:noFill/>
          <a:ln/>
        </p:spPr>
        <p:txBody>
          <a:bodyPr wrap="square" lIns="0" tIns="0" rIns="0" bIns="0" rtlCol="0" anchor="ctr"/>
          <a:lstStyle/>
          <a:p>
            <a:pPr indent="0" marL="0">
              <a:buNone/>
            </a:pPr>
            <a:r>
              <a:rPr lang="en-US" sz="1600" dirty="0">
                <a:solidFill>
                  <a:srgbClr val="141413"/>
                </a:solidFill>
                <a:latin typeface="Cambria" pitchFamily="34" charset="0"/>
                <a:ea typeface="Cambria" pitchFamily="34" charset="-122"/>
                <a:cs typeface="Cambria" pitchFamily="34" charset="-120"/>
              </a:rPr>
              <a:t>Root cause first</a:t>
            </a:r>
            <a:endParaRPr lang="en-US" sz="1600" dirty="0"/>
          </a:p>
        </p:txBody>
      </p:sp>
      <p:sp>
        <p:nvSpPr>
          <p:cNvPr id="10" name="Text 8"/>
          <p:cNvSpPr txBox="1"/>
          <p:nvPr/>
        </p:nvSpPr>
        <p:spPr>
          <a:xfrm>
            <a:off x="4754880" y="1600200"/>
            <a:ext cx="3840480" cy="804672"/>
          </a:xfrm>
          <a:prstGeom prst="rect">
            <a:avLst/>
          </a:prstGeom>
          <a:noFill/>
          <a:ln/>
        </p:spPr>
        <p:txBody>
          <a:bodyPr wrap="square" lIns="0" tIns="0" rIns="0" bIns="0" rtlCol="0" anchor="ctr"/>
          <a:lstStyle/>
          <a:p>
            <a:pPr indent="0" marL="0">
              <a:buNone/>
            </a:pPr>
            <a:r>
              <a:rPr lang="en-US" sz="1300" dirty="0">
                <a:solidFill>
                  <a:srgbClr val="5E5D59"/>
                </a:solidFill>
                <a:latin typeface="Calibri" pitchFamily="34" charset="0"/>
                <a:ea typeface="Calibri" pitchFamily="34" charset="-122"/>
                <a:cs typeface="Calibri" pitchFamily="34" charset="-120"/>
              </a:rPr>
              <a:t>Name what is actually broken before reading the options.</a:t>
            </a:r>
            <a:endParaRPr lang="en-US" sz="1300" dirty="0"/>
          </a:p>
        </p:txBody>
      </p:sp>
      <p:sp>
        <p:nvSpPr>
          <p:cNvPr id="11" name="Text 9"/>
          <p:cNvSpPr txBox="1"/>
          <p:nvPr/>
        </p:nvSpPr>
        <p:spPr>
          <a:xfrm>
            <a:off x="8778240" y="1600200"/>
            <a:ext cx="2743200" cy="804672"/>
          </a:xfrm>
          <a:prstGeom prst="rect">
            <a:avLst/>
          </a:prstGeom>
          <a:noFill/>
          <a:ln/>
        </p:spPr>
        <p:txBody>
          <a:bodyPr wrap="square" lIns="0" tIns="0" rIns="0" bIns="0" rtlCol="0" anchor="ctr"/>
          <a:lstStyle/>
          <a:p>
            <a:pPr indent="0" marL="0">
              <a:buNone/>
            </a:pPr>
            <a:r>
              <a:rPr lang="en-US" sz="1200" b="1" dirty="0">
                <a:solidFill>
                  <a:srgbClr val="B85C3E"/>
                </a:solidFill>
                <a:latin typeface="Calibri" pitchFamily="34" charset="0"/>
                <a:ea typeface="Calibri" pitchFamily="34" charset="-122"/>
                <a:cs typeface="Calibri" pitchFamily="34" charset="-120"/>
              </a:rPr>
              <a:t>Trap: </a:t>
            </a:r>
            <a:pPr indent="0" marL="0">
              <a:buNone/>
            </a:pPr>
            <a:r>
              <a:rPr lang="en-US" sz="1200" dirty="0">
                <a:solidFill>
                  <a:srgbClr val="5E5D59"/>
                </a:solidFill>
                <a:latin typeface="Calibri" pitchFamily="34" charset="0"/>
                <a:ea typeface="Calibri" pitchFamily="34" charset="-122"/>
                <a:cs typeface="Calibri" pitchFamily="34" charset="-120"/>
              </a:rPr>
              <a:t>Options that treat a symptom.</a:t>
            </a:r>
            <a:endParaRPr lang="en-US" sz="1200" dirty="0"/>
          </a:p>
        </p:txBody>
      </p:sp>
      <p:sp>
        <p:nvSpPr>
          <p:cNvPr id="12" name="Shape 10"/>
          <p:cNvSpPr/>
          <p:nvPr/>
        </p:nvSpPr>
        <p:spPr>
          <a:xfrm>
            <a:off x="548640" y="2505456"/>
            <a:ext cx="11091672" cy="804672"/>
          </a:xfrm>
          <a:prstGeom prst="roundRect">
            <a:avLst>
              <a:gd name="adj" fmla="val 13636"/>
            </a:avLst>
          </a:prstGeom>
          <a:solidFill>
            <a:srgbClr val="FFFFFF"/>
          </a:solidFill>
          <a:ln w="9525">
            <a:solidFill>
              <a:srgbClr val="E8E6DC"/>
            </a:solidFill>
            <a:prstDash val="solid"/>
          </a:ln>
        </p:spPr>
      </p:sp>
      <p:sp>
        <p:nvSpPr>
          <p:cNvPr id="13" name="Shape 11"/>
          <p:cNvSpPr/>
          <p:nvPr/>
        </p:nvSpPr>
        <p:spPr>
          <a:xfrm>
            <a:off x="731520" y="2660904"/>
            <a:ext cx="493776" cy="493776"/>
          </a:xfrm>
          <a:prstGeom prst="ellipse">
            <a:avLst/>
          </a:prstGeom>
          <a:solidFill>
            <a:srgbClr val="D97757"/>
          </a:solidFill>
          <a:ln w="12700">
            <a:solidFill>
              <a:srgbClr val="D97757"/>
            </a:solidFill>
            <a:prstDash val="solid"/>
          </a:ln>
        </p:spPr>
      </p:sp>
      <p:sp>
        <p:nvSpPr>
          <p:cNvPr id="14" name="Text 12"/>
          <p:cNvSpPr txBox="1"/>
          <p:nvPr/>
        </p:nvSpPr>
        <p:spPr>
          <a:xfrm>
            <a:off x="731520" y="2660904"/>
            <a:ext cx="493776" cy="493776"/>
          </a:xfrm>
          <a:prstGeom prst="rect">
            <a:avLst/>
          </a:prstGeom>
          <a:noFill/>
          <a:ln/>
        </p:spPr>
        <p:txBody>
          <a:bodyPr wrap="square" lIns="0" tIns="0" rIns="0" bIns="0" rtlCol="0" anchor="ctr"/>
          <a:lstStyle/>
          <a:p>
            <a:pPr algn="ctr" indent="0" marL="0">
              <a:buNone/>
            </a:pPr>
            <a:r>
              <a:rPr lang="en-US" sz="1800" dirty="0">
                <a:solidFill>
                  <a:srgbClr val="FFFFFF"/>
                </a:solidFill>
                <a:latin typeface="Cambria" pitchFamily="34" charset="0"/>
                <a:ea typeface="Cambria" pitchFamily="34" charset="-122"/>
                <a:cs typeface="Cambria" pitchFamily="34" charset="-120"/>
              </a:rPr>
              <a:t>2</a:t>
            </a:r>
            <a:endParaRPr lang="en-US" sz="1800" dirty="0"/>
          </a:p>
        </p:txBody>
      </p:sp>
      <p:sp>
        <p:nvSpPr>
          <p:cNvPr id="15" name="Text 13"/>
          <p:cNvSpPr txBox="1"/>
          <p:nvPr/>
        </p:nvSpPr>
        <p:spPr>
          <a:xfrm>
            <a:off x="1463040" y="2505456"/>
            <a:ext cx="3200400" cy="804672"/>
          </a:xfrm>
          <a:prstGeom prst="rect">
            <a:avLst/>
          </a:prstGeom>
          <a:noFill/>
          <a:ln/>
        </p:spPr>
        <p:txBody>
          <a:bodyPr wrap="square" lIns="0" tIns="0" rIns="0" bIns="0" rtlCol="0" anchor="ctr"/>
          <a:lstStyle/>
          <a:p>
            <a:pPr indent="0" marL="0">
              <a:buNone/>
            </a:pPr>
            <a:r>
              <a:rPr lang="en-US" sz="1600" dirty="0">
                <a:solidFill>
                  <a:srgbClr val="141413"/>
                </a:solidFill>
                <a:latin typeface="Cambria" pitchFamily="34" charset="0"/>
                <a:ea typeface="Cambria" pitchFamily="34" charset="-122"/>
                <a:cs typeface="Cambria" pitchFamily="34" charset="-120"/>
              </a:rPr>
              <a:t>Proportionate first step</a:t>
            </a:r>
            <a:endParaRPr lang="en-US" sz="1600" dirty="0"/>
          </a:p>
        </p:txBody>
      </p:sp>
      <p:sp>
        <p:nvSpPr>
          <p:cNvPr id="16" name="Text 14"/>
          <p:cNvSpPr txBox="1"/>
          <p:nvPr/>
        </p:nvSpPr>
        <p:spPr>
          <a:xfrm>
            <a:off x="4754880" y="2505456"/>
            <a:ext cx="3840480" cy="804672"/>
          </a:xfrm>
          <a:prstGeom prst="rect">
            <a:avLst/>
          </a:prstGeom>
          <a:noFill/>
          <a:ln/>
        </p:spPr>
        <p:txBody>
          <a:bodyPr wrap="square" lIns="0" tIns="0" rIns="0" bIns="0" rtlCol="0" anchor="ctr"/>
          <a:lstStyle/>
          <a:p>
            <a:pPr indent="0" marL="0">
              <a:buNone/>
            </a:pPr>
            <a:r>
              <a:rPr lang="en-US" sz="1300" dirty="0">
                <a:solidFill>
                  <a:srgbClr val="5E5D59"/>
                </a:solidFill>
                <a:latin typeface="Calibri" pitchFamily="34" charset="0"/>
                <a:ea typeface="Calibri" pitchFamily="34" charset="-122"/>
                <a:cs typeface="Calibri" pitchFamily="34" charset="-120"/>
              </a:rPr>
              <a:t>Choose the smallest change that addresses the cause.</a:t>
            </a:r>
            <a:endParaRPr lang="en-US" sz="1300" dirty="0"/>
          </a:p>
        </p:txBody>
      </p:sp>
      <p:sp>
        <p:nvSpPr>
          <p:cNvPr id="17" name="Text 15"/>
          <p:cNvSpPr txBox="1"/>
          <p:nvPr/>
        </p:nvSpPr>
        <p:spPr>
          <a:xfrm>
            <a:off x="8778240" y="2505456"/>
            <a:ext cx="2743200" cy="804672"/>
          </a:xfrm>
          <a:prstGeom prst="rect">
            <a:avLst/>
          </a:prstGeom>
          <a:noFill/>
          <a:ln/>
        </p:spPr>
        <p:txBody>
          <a:bodyPr wrap="square" lIns="0" tIns="0" rIns="0" bIns="0" rtlCol="0" anchor="ctr"/>
          <a:lstStyle/>
          <a:p>
            <a:pPr indent="0" marL="0">
              <a:buNone/>
            </a:pPr>
            <a:r>
              <a:rPr lang="en-US" sz="1200" b="1" dirty="0">
                <a:solidFill>
                  <a:srgbClr val="B85C3E"/>
                </a:solidFill>
                <a:latin typeface="Calibri" pitchFamily="34" charset="0"/>
                <a:ea typeface="Calibri" pitchFamily="34" charset="-122"/>
                <a:cs typeface="Calibri" pitchFamily="34" charset="-120"/>
              </a:rPr>
              <a:t>Trap: </a:t>
            </a:r>
            <a:pPr indent="0" marL="0">
              <a:buNone/>
            </a:pPr>
            <a:r>
              <a:rPr lang="en-US" sz="1200" dirty="0">
                <a:solidFill>
                  <a:srgbClr val="5E5D59"/>
                </a:solidFill>
                <a:latin typeface="Calibri" pitchFamily="34" charset="0"/>
                <a:ea typeface="Calibri" pitchFamily="34" charset="-122"/>
                <a:cs typeface="Calibri" pitchFamily="34" charset="-120"/>
              </a:rPr>
              <a:t>Rebuilds when a fix would do.</a:t>
            </a:r>
            <a:endParaRPr lang="en-US" sz="1200" dirty="0"/>
          </a:p>
        </p:txBody>
      </p:sp>
      <p:sp>
        <p:nvSpPr>
          <p:cNvPr id="18" name="Shape 16"/>
          <p:cNvSpPr/>
          <p:nvPr/>
        </p:nvSpPr>
        <p:spPr>
          <a:xfrm>
            <a:off x="548640" y="3410712"/>
            <a:ext cx="11091672" cy="804672"/>
          </a:xfrm>
          <a:prstGeom prst="roundRect">
            <a:avLst>
              <a:gd name="adj" fmla="val 13636"/>
            </a:avLst>
          </a:prstGeom>
          <a:solidFill>
            <a:srgbClr val="FFFFFF"/>
          </a:solidFill>
          <a:ln w="9525">
            <a:solidFill>
              <a:srgbClr val="E8E6DC"/>
            </a:solidFill>
            <a:prstDash val="solid"/>
          </a:ln>
        </p:spPr>
      </p:sp>
      <p:sp>
        <p:nvSpPr>
          <p:cNvPr id="19" name="Shape 17"/>
          <p:cNvSpPr/>
          <p:nvPr/>
        </p:nvSpPr>
        <p:spPr>
          <a:xfrm>
            <a:off x="731520" y="3566160"/>
            <a:ext cx="493776" cy="493776"/>
          </a:xfrm>
          <a:prstGeom prst="ellipse">
            <a:avLst/>
          </a:prstGeom>
          <a:solidFill>
            <a:srgbClr val="D97757"/>
          </a:solidFill>
          <a:ln w="12700">
            <a:solidFill>
              <a:srgbClr val="D97757"/>
            </a:solidFill>
            <a:prstDash val="solid"/>
          </a:ln>
        </p:spPr>
      </p:sp>
      <p:sp>
        <p:nvSpPr>
          <p:cNvPr id="20" name="Text 18"/>
          <p:cNvSpPr txBox="1"/>
          <p:nvPr/>
        </p:nvSpPr>
        <p:spPr>
          <a:xfrm>
            <a:off x="731520" y="3566160"/>
            <a:ext cx="493776" cy="493776"/>
          </a:xfrm>
          <a:prstGeom prst="rect">
            <a:avLst/>
          </a:prstGeom>
          <a:noFill/>
          <a:ln/>
        </p:spPr>
        <p:txBody>
          <a:bodyPr wrap="square" lIns="0" tIns="0" rIns="0" bIns="0" rtlCol="0" anchor="ctr"/>
          <a:lstStyle/>
          <a:p>
            <a:pPr algn="ctr" indent="0" marL="0">
              <a:buNone/>
            </a:pPr>
            <a:r>
              <a:rPr lang="en-US" sz="1800" dirty="0">
                <a:solidFill>
                  <a:srgbClr val="FFFFFF"/>
                </a:solidFill>
                <a:latin typeface="Cambria" pitchFamily="34" charset="0"/>
                <a:ea typeface="Cambria" pitchFamily="34" charset="-122"/>
                <a:cs typeface="Cambria" pitchFamily="34" charset="-120"/>
              </a:rPr>
              <a:t>3</a:t>
            </a:r>
            <a:endParaRPr lang="en-US" sz="1800" dirty="0"/>
          </a:p>
        </p:txBody>
      </p:sp>
      <p:sp>
        <p:nvSpPr>
          <p:cNvPr id="21" name="Text 19"/>
          <p:cNvSpPr txBox="1"/>
          <p:nvPr/>
        </p:nvSpPr>
        <p:spPr>
          <a:xfrm>
            <a:off x="1463040" y="3410712"/>
            <a:ext cx="3200400" cy="804672"/>
          </a:xfrm>
          <a:prstGeom prst="rect">
            <a:avLst/>
          </a:prstGeom>
          <a:noFill/>
          <a:ln/>
        </p:spPr>
        <p:txBody>
          <a:bodyPr wrap="square" lIns="0" tIns="0" rIns="0" bIns="0" rtlCol="0" anchor="ctr"/>
          <a:lstStyle/>
          <a:p>
            <a:pPr indent="0" marL="0">
              <a:buNone/>
            </a:pPr>
            <a:r>
              <a:rPr lang="en-US" sz="1600" dirty="0">
                <a:solidFill>
                  <a:srgbClr val="141413"/>
                </a:solidFill>
                <a:latin typeface="Cambria" pitchFamily="34" charset="0"/>
                <a:ea typeface="Cambria" pitchFamily="34" charset="-122"/>
                <a:cs typeface="Cambria" pitchFamily="34" charset="-120"/>
              </a:rPr>
              <a:t>Reject over-engineering</a:t>
            </a:r>
            <a:endParaRPr lang="en-US" sz="1600" dirty="0"/>
          </a:p>
        </p:txBody>
      </p:sp>
      <p:sp>
        <p:nvSpPr>
          <p:cNvPr id="22" name="Text 20"/>
          <p:cNvSpPr txBox="1"/>
          <p:nvPr/>
        </p:nvSpPr>
        <p:spPr>
          <a:xfrm>
            <a:off x="4754880" y="3410712"/>
            <a:ext cx="3840480" cy="804672"/>
          </a:xfrm>
          <a:prstGeom prst="rect">
            <a:avLst/>
          </a:prstGeom>
          <a:noFill/>
          <a:ln/>
        </p:spPr>
        <p:txBody>
          <a:bodyPr wrap="square" lIns="0" tIns="0" rIns="0" bIns="0" rtlCol="0" anchor="ctr"/>
          <a:lstStyle/>
          <a:p>
            <a:pPr indent="0" marL="0">
              <a:buNone/>
            </a:pPr>
            <a:r>
              <a:rPr lang="en-US" sz="1300" dirty="0">
                <a:solidFill>
                  <a:srgbClr val="5E5D59"/>
                </a:solidFill>
                <a:latin typeface="Calibri" pitchFamily="34" charset="0"/>
                <a:ea typeface="Calibri" pitchFamily="34" charset="-122"/>
                <a:cs typeface="Calibri" pitchFamily="34" charset="-120"/>
              </a:rPr>
              <a:t>Extra services, classifiers and routing layers need a real reason.</a:t>
            </a:r>
            <a:endParaRPr lang="en-US" sz="1300" dirty="0"/>
          </a:p>
        </p:txBody>
      </p:sp>
      <p:sp>
        <p:nvSpPr>
          <p:cNvPr id="23" name="Text 21"/>
          <p:cNvSpPr txBox="1"/>
          <p:nvPr/>
        </p:nvSpPr>
        <p:spPr>
          <a:xfrm>
            <a:off x="8778240" y="3410712"/>
            <a:ext cx="2743200" cy="804672"/>
          </a:xfrm>
          <a:prstGeom prst="rect">
            <a:avLst/>
          </a:prstGeom>
          <a:noFill/>
          <a:ln/>
        </p:spPr>
        <p:txBody>
          <a:bodyPr wrap="square" lIns="0" tIns="0" rIns="0" bIns="0" rtlCol="0" anchor="ctr"/>
          <a:lstStyle/>
          <a:p>
            <a:pPr indent="0" marL="0">
              <a:buNone/>
            </a:pPr>
            <a:r>
              <a:rPr lang="en-US" sz="1200" b="1" dirty="0">
                <a:solidFill>
                  <a:srgbClr val="B85C3E"/>
                </a:solidFill>
                <a:latin typeface="Calibri" pitchFamily="34" charset="0"/>
                <a:ea typeface="Calibri" pitchFamily="34" charset="-122"/>
                <a:cs typeface="Calibri" pitchFamily="34" charset="-120"/>
              </a:rPr>
              <a:t>Trap: </a:t>
            </a:r>
            <a:pPr indent="0" marL="0">
              <a:buNone/>
            </a:pPr>
            <a:r>
              <a:rPr lang="en-US" sz="1200" dirty="0">
                <a:solidFill>
                  <a:srgbClr val="5E5D59"/>
                </a:solidFill>
                <a:latin typeface="Calibri" pitchFamily="34" charset="0"/>
                <a:ea typeface="Calibri" pitchFamily="34" charset="-122"/>
                <a:cs typeface="Calibri" pitchFamily="34" charset="-120"/>
              </a:rPr>
              <a:t>New infrastructure for a simple gap.</a:t>
            </a:r>
            <a:endParaRPr lang="en-US" sz="1200" dirty="0"/>
          </a:p>
        </p:txBody>
      </p:sp>
      <p:sp>
        <p:nvSpPr>
          <p:cNvPr id="24" name="Shape 22"/>
          <p:cNvSpPr/>
          <p:nvPr/>
        </p:nvSpPr>
        <p:spPr>
          <a:xfrm>
            <a:off x="548640" y="4315968"/>
            <a:ext cx="11091672" cy="804672"/>
          </a:xfrm>
          <a:prstGeom prst="roundRect">
            <a:avLst>
              <a:gd name="adj" fmla="val 13636"/>
            </a:avLst>
          </a:prstGeom>
          <a:solidFill>
            <a:srgbClr val="FFFFFF"/>
          </a:solidFill>
          <a:ln w="9525">
            <a:solidFill>
              <a:srgbClr val="E8E6DC"/>
            </a:solidFill>
            <a:prstDash val="solid"/>
          </a:ln>
        </p:spPr>
      </p:sp>
      <p:sp>
        <p:nvSpPr>
          <p:cNvPr id="25" name="Shape 23"/>
          <p:cNvSpPr/>
          <p:nvPr/>
        </p:nvSpPr>
        <p:spPr>
          <a:xfrm>
            <a:off x="731520" y="4471416"/>
            <a:ext cx="493776" cy="493776"/>
          </a:xfrm>
          <a:prstGeom prst="ellipse">
            <a:avLst/>
          </a:prstGeom>
          <a:solidFill>
            <a:srgbClr val="D97757"/>
          </a:solidFill>
          <a:ln w="12700">
            <a:solidFill>
              <a:srgbClr val="D97757"/>
            </a:solidFill>
            <a:prstDash val="solid"/>
          </a:ln>
        </p:spPr>
      </p:sp>
      <p:sp>
        <p:nvSpPr>
          <p:cNvPr id="26" name="Text 24"/>
          <p:cNvSpPr txBox="1"/>
          <p:nvPr/>
        </p:nvSpPr>
        <p:spPr>
          <a:xfrm>
            <a:off x="731520" y="4471416"/>
            <a:ext cx="493776" cy="493776"/>
          </a:xfrm>
          <a:prstGeom prst="rect">
            <a:avLst/>
          </a:prstGeom>
          <a:noFill/>
          <a:ln/>
        </p:spPr>
        <p:txBody>
          <a:bodyPr wrap="square" lIns="0" tIns="0" rIns="0" bIns="0" rtlCol="0" anchor="ctr"/>
          <a:lstStyle/>
          <a:p>
            <a:pPr algn="ctr" indent="0" marL="0">
              <a:buNone/>
            </a:pPr>
            <a:r>
              <a:rPr lang="en-US" sz="1800" dirty="0">
                <a:solidFill>
                  <a:srgbClr val="FFFFFF"/>
                </a:solidFill>
                <a:latin typeface="Cambria" pitchFamily="34" charset="0"/>
                <a:ea typeface="Cambria" pitchFamily="34" charset="-122"/>
                <a:cs typeface="Cambria" pitchFamily="34" charset="-120"/>
              </a:rPr>
              <a:t>4</a:t>
            </a:r>
            <a:endParaRPr lang="en-US" sz="1800" dirty="0"/>
          </a:p>
        </p:txBody>
      </p:sp>
      <p:sp>
        <p:nvSpPr>
          <p:cNvPr id="27" name="Text 25"/>
          <p:cNvSpPr txBox="1"/>
          <p:nvPr/>
        </p:nvSpPr>
        <p:spPr>
          <a:xfrm>
            <a:off x="1463040" y="4315968"/>
            <a:ext cx="3200400" cy="804672"/>
          </a:xfrm>
          <a:prstGeom prst="rect">
            <a:avLst/>
          </a:prstGeom>
          <a:noFill/>
          <a:ln/>
        </p:spPr>
        <p:txBody>
          <a:bodyPr wrap="square" lIns="0" tIns="0" rIns="0" bIns="0" rtlCol="0" anchor="ctr"/>
          <a:lstStyle/>
          <a:p>
            <a:pPr indent="0" marL="0">
              <a:buNone/>
            </a:pPr>
            <a:r>
              <a:rPr lang="en-US" sz="1600" dirty="0">
                <a:solidFill>
                  <a:srgbClr val="141413"/>
                </a:solidFill>
                <a:latin typeface="Cambria" pitchFamily="34" charset="0"/>
                <a:ea typeface="Cambria" pitchFamily="34" charset="-122"/>
                <a:cs typeface="Cambria" pitchFamily="34" charset="-120"/>
              </a:rPr>
              <a:t>Reject features that do not exist</a:t>
            </a:r>
            <a:endParaRPr lang="en-US" sz="1600" dirty="0"/>
          </a:p>
        </p:txBody>
      </p:sp>
      <p:sp>
        <p:nvSpPr>
          <p:cNvPr id="28" name="Text 26"/>
          <p:cNvSpPr txBox="1"/>
          <p:nvPr/>
        </p:nvSpPr>
        <p:spPr>
          <a:xfrm>
            <a:off x="4754880" y="4315968"/>
            <a:ext cx="3840480" cy="804672"/>
          </a:xfrm>
          <a:prstGeom prst="rect">
            <a:avLst/>
          </a:prstGeom>
          <a:noFill/>
          <a:ln/>
        </p:spPr>
        <p:txBody>
          <a:bodyPr wrap="square" lIns="0" tIns="0" rIns="0" bIns="0" rtlCol="0" anchor="ctr"/>
          <a:lstStyle/>
          <a:p>
            <a:pPr indent="0" marL="0">
              <a:buNone/>
            </a:pPr>
            <a:r>
              <a:rPr lang="en-US" sz="1300" dirty="0">
                <a:solidFill>
                  <a:srgbClr val="5E5D59"/>
                </a:solidFill>
                <a:latin typeface="Calibri" pitchFamily="34" charset="0"/>
                <a:ea typeface="Calibri" pitchFamily="34" charset="-122"/>
                <a:cs typeface="Calibri" pitchFamily="34" charset="-120"/>
              </a:rPr>
              <a:t>Check every flag, setting or API against the docs.</a:t>
            </a:r>
            <a:endParaRPr lang="en-US" sz="1300" dirty="0"/>
          </a:p>
        </p:txBody>
      </p:sp>
      <p:sp>
        <p:nvSpPr>
          <p:cNvPr id="29" name="Text 27"/>
          <p:cNvSpPr txBox="1"/>
          <p:nvPr/>
        </p:nvSpPr>
        <p:spPr>
          <a:xfrm>
            <a:off x="8778240" y="4315968"/>
            <a:ext cx="2743200" cy="804672"/>
          </a:xfrm>
          <a:prstGeom prst="rect">
            <a:avLst/>
          </a:prstGeom>
          <a:noFill/>
          <a:ln/>
        </p:spPr>
        <p:txBody>
          <a:bodyPr wrap="square" lIns="0" tIns="0" rIns="0" bIns="0" rtlCol="0" anchor="ctr"/>
          <a:lstStyle/>
          <a:p>
            <a:pPr indent="0" marL="0">
              <a:buNone/>
            </a:pPr>
            <a:r>
              <a:rPr lang="en-US" sz="1200" b="1" dirty="0">
                <a:solidFill>
                  <a:srgbClr val="B85C3E"/>
                </a:solidFill>
                <a:latin typeface="Calibri" pitchFamily="34" charset="0"/>
                <a:ea typeface="Calibri" pitchFamily="34" charset="-122"/>
                <a:cs typeface="Calibri" pitchFamily="34" charset="-120"/>
              </a:rPr>
              <a:t>Trap: </a:t>
            </a:r>
            <a:pPr indent="0" marL="0">
              <a:buNone/>
            </a:pPr>
            <a:r>
              <a:rPr lang="en-US" sz="1200" dirty="0">
                <a:solidFill>
                  <a:srgbClr val="5E5D59"/>
                </a:solidFill>
                <a:latin typeface="Calibri" pitchFamily="34" charset="0"/>
                <a:ea typeface="Calibri" pitchFamily="34" charset="-122"/>
                <a:cs typeface="Calibri" pitchFamily="34" charset="-120"/>
              </a:rPr>
              <a:t>CLAUDE_HEADLESS, --batch.</a:t>
            </a:r>
            <a:endParaRPr lang="en-US" sz="1200" dirty="0"/>
          </a:p>
        </p:txBody>
      </p:sp>
      <p:sp>
        <p:nvSpPr>
          <p:cNvPr id="30" name="Shape 28"/>
          <p:cNvSpPr/>
          <p:nvPr/>
        </p:nvSpPr>
        <p:spPr>
          <a:xfrm>
            <a:off x="548640" y="5221224"/>
            <a:ext cx="11091672" cy="804672"/>
          </a:xfrm>
          <a:prstGeom prst="roundRect">
            <a:avLst>
              <a:gd name="adj" fmla="val 13636"/>
            </a:avLst>
          </a:prstGeom>
          <a:solidFill>
            <a:srgbClr val="FFFFFF"/>
          </a:solidFill>
          <a:ln w="9525">
            <a:solidFill>
              <a:srgbClr val="E8E6DC"/>
            </a:solidFill>
            <a:prstDash val="solid"/>
          </a:ln>
        </p:spPr>
      </p:sp>
      <p:sp>
        <p:nvSpPr>
          <p:cNvPr id="31" name="Shape 29"/>
          <p:cNvSpPr/>
          <p:nvPr/>
        </p:nvSpPr>
        <p:spPr>
          <a:xfrm>
            <a:off x="731520" y="5376672"/>
            <a:ext cx="493776" cy="493776"/>
          </a:xfrm>
          <a:prstGeom prst="ellipse">
            <a:avLst/>
          </a:prstGeom>
          <a:solidFill>
            <a:srgbClr val="D97757"/>
          </a:solidFill>
          <a:ln w="12700">
            <a:solidFill>
              <a:srgbClr val="D97757"/>
            </a:solidFill>
            <a:prstDash val="solid"/>
          </a:ln>
        </p:spPr>
      </p:sp>
      <p:sp>
        <p:nvSpPr>
          <p:cNvPr id="32" name="Text 30"/>
          <p:cNvSpPr txBox="1"/>
          <p:nvPr/>
        </p:nvSpPr>
        <p:spPr>
          <a:xfrm>
            <a:off x="731520" y="5376672"/>
            <a:ext cx="493776" cy="493776"/>
          </a:xfrm>
          <a:prstGeom prst="rect">
            <a:avLst/>
          </a:prstGeom>
          <a:noFill/>
          <a:ln/>
        </p:spPr>
        <p:txBody>
          <a:bodyPr wrap="square" lIns="0" tIns="0" rIns="0" bIns="0" rtlCol="0" anchor="ctr"/>
          <a:lstStyle/>
          <a:p>
            <a:pPr algn="ctr" indent="0" marL="0">
              <a:buNone/>
            </a:pPr>
            <a:r>
              <a:rPr lang="en-US" sz="1800" dirty="0">
                <a:solidFill>
                  <a:srgbClr val="FFFFFF"/>
                </a:solidFill>
                <a:latin typeface="Cambria" pitchFamily="34" charset="0"/>
                <a:ea typeface="Cambria" pitchFamily="34" charset="-122"/>
                <a:cs typeface="Cambria" pitchFamily="34" charset="-120"/>
              </a:rPr>
              <a:t>5</a:t>
            </a:r>
            <a:endParaRPr lang="en-US" sz="1800" dirty="0"/>
          </a:p>
        </p:txBody>
      </p:sp>
      <p:sp>
        <p:nvSpPr>
          <p:cNvPr id="33" name="Text 31"/>
          <p:cNvSpPr txBox="1"/>
          <p:nvPr/>
        </p:nvSpPr>
        <p:spPr>
          <a:xfrm>
            <a:off x="1463040" y="5221224"/>
            <a:ext cx="3200400" cy="804672"/>
          </a:xfrm>
          <a:prstGeom prst="rect">
            <a:avLst/>
          </a:prstGeom>
          <a:noFill/>
          <a:ln/>
        </p:spPr>
        <p:txBody>
          <a:bodyPr wrap="square" lIns="0" tIns="0" rIns="0" bIns="0" rtlCol="0" anchor="ctr"/>
          <a:lstStyle/>
          <a:p>
            <a:pPr indent="0" marL="0">
              <a:buNone/>
            </a:pPr>
            <a:r>
              <a:rPr lang="en-US" sz="1600" dirty="0">
                <a:solidFill>
                  <a:srgbClr val="141413"/>
                </a:solidFill>
                <a:latin typeface="Cambria" pitchFamily="34" charset="0"/>
                <a:ea typeface="Cambria" pitchFamily="34" charset="-122"/>
                <a:cs typeface="Cambria" pitchFamily="34" charset="-120"/>
              </a:rPr>
              <a:t>Deterministic when stakes are high</a:t>
            </a:r>
            <a:endParaRPr lang="en-US" sz="1600" dirty="0"/>
          </a:p>
        </p:txBody>
      </p:sp>
      <p:sp>
        <p:nvSpPr>
          <p:cNvPr id="34" name="Text 32"/>
          <p:cNvSpPr txBox="1"/>
          <p:nvPr/>
        </p:nvSpPr>
        <p:spPr>
          <a:xfrm>
            <a:off x="4754880" y="5221224"/>
            <a:ext cx="3840480" cy="804672"/>
          </a:xfrm>
          <a:prstGeom prst="rect">
            <a:avLst/>
          </a:prstGeom>
          <a:noFill/>
          <a:ln/>
        </p:spPr>
        <p:txBody>
          <a:bodyPr wrap="square" lIns="0" tIns="0" rIns="0" bIns="0" rtlCol="0" anchor="ctr"/>
          <a:lstStyle/>
          <a:p>
            <a:pPr indent="0" marL="0">
              <a:buNone/>
            </a:pPr>
            <a:r>
              <a:rPr lang="en-US" sz="1300" dirty="0">
                <a:solidFill>
                  <a:srgbClr val="5E5D59"/>
                </a:solidFill>
                <a:latin typeface="Calibri" pitchFamily="34" charset="0"/>
                <a:ea typeface="Calibri" pitchFamily="34" charset="-122"/>
                <a:cs typeface="Calibri" pitchFamily="34" charset="-120"/>
              </a:rPr>
              <a:t>Money, identity and compliance need enforcement in code, not hopeful prompts.</a:t>
            </a:r>
            <a:endParaRPr lang="en-US" sz="1300" dirty="0"/>
          </a:p>
        </p:txBody>
      </p:sp>
      <p:sp>
        <p:nvSpPr>
          <p:cNvPr id="35" name="Text 33"/>
          <p:cNvSpPr txBox="1"/>
          <p:nvPr/>
        </p:nvSpPr>
        <p:spPr>
          <a:xfrm>
            <a:off x="8778240" y="5221224"/>
            <a:ext cx="2743200" cy="804672"/>
          </a:xfrm>
          <a:prstGeom prst="rect">
            <a:avLst/>
          </a:prstGeom>
          <a:noFill/>
          <a:ln/>
        </p:spPr>
        <p:txBody>
          <a:bodyPr wrap="square" lIns="0" tIns="0" rIns="0" bIns="0" rtlCol="0" anchor="ctr"/>
          <a:lstStyle/>
          <a:p>
            <a:pPr indent="0" marL="0">
              <a:buNone/>
            </a:pPr>
            <a:r>
              <a:rPr lang="en-US" sz="1200" b="1" dirty="0">
                <a:solidFill>
                  <a:srgbClr val="B85C3E"/>
                </a:solidFill>
                <a:latin typeface="Calibri" pitchFamily="34" charset="0"/>
                <a:ea typeface="Calibri" pitchFamily="34" charset="-122"/>
                <a:cs typeface="Calibri" pitchFamily="34" charset="-120"/>
              </a:rPr>
              <a:t>Trap: </a:t>
            </a:r>
            <a:pPr indent="0" marL="0">
              <a:buNone/>
            </a:pPr>
            <a:r>
              <a:rPr lang="en-US" sz="1200" dirty="0">
                <a:solidFill>
                  <a:srgbClr val="5E5D59"/>
                </a:solidFill>
                <a:latin typeface="Calibri" pitchFamily="34" charset="0"/>
                <a:ea typeface="Calibri" pitchFamily="34" charset="-122"/>
                <a:cs typeface="Calibri" pitchFamily="34" charset="-120"/>
              </a:rPr>
              <a:t>"Add a stronger instruction."</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548640" y="365760"/>
            <a:ext cx="8686800" cy="274320"/>
          </a:xfrm>
          <a:prstGeom prst="rect">
            <a:avLst/>
          </a:prstGeom>
          <a:noFill/>
          <a:ln/>
        </p:spPr>
        <p:txBody>
          <a:bodyPr wrap="square" lIns="0" tIns="0" rIns="0" bIns="0"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SCENARIO 1  ·  CUSTOMER SUPPORT RESOLUTION AGENT</a:t>
            </a:r>
            <a:endParaRPr lang="en-US" sz="1200" dirty="0"/>
          </a:p>
        </p:txBody>
      </p:sp>
      <p:sp>
        <p:nvSpPr>
          <p:cNvPr id="3" name="Text 1"/>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200" dirty="0">
                <a:solidFill>
                  <a:srgbClr val="141413"/>
                </a:solidFill>
                <a:latin typeface="Cambria" pitchFamily="34" charset="0"/>
                <a:ea typeface="Cambria" pitchFamily="34" charset="-122"/>
                <a:cs typeface="Cambria" pitchFamily="34" charset="-120"/>
              </a:rPr>
              <a:t>Sample question 2</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87867F"/>
                </a:solidFill>
                <a:latin typeface="Calibri" pitchFamily="34" charset="0"/>
                <a:ea typeface="Calibri" pitchFamily="34" charset="-122"/>
                <a:cs typeface="Calibri" pitchFamily="34" charset="-120"/>
              </a:rPr>
              <a:t>CCAR-F Skills Curriculum  ·  Session 1  ·  20</a:t>
            </a:r>
            <a:endParaRPr lang="en-US" sz="1000" dirty="0"/>
          </a:p>
        </p:txBody>
      </p:sp>
      <p:sp>
        <p:nvSpPr>
          <p:cNvPr id="5" name="Text 3"/>
          <p:cNvSpPr txBox="1"/>
          <p:nvPr/>
        </p:nvSpPr>
        <p:spPr>
          <a:xfrm>
            <a:off x="8869680" y="365760"/>
            <a:ext cx="2770632" cy="274320"/>
          </a:xfrm>
          <a:prstGeom prst="rect">
            <a:avLst/>
          </a:prstGeom>
          <a:noFill/>
          <a:ln/>
        </p:spPr>
        <p:txBody>
          <a:bodyPr wrap="square" lIns="0" tIns="0" rIns="0" bIns="0" rtlCol="0" anchor="ctr"/>
          <a:lstStyle/>
          <a:p>
            <a:pPr algn="r" indent="0" marL="0">
              <a:buNone/>
            </a:pPr>
            <a:r>
              <a:rPr lang="en-US" sz="1100" dirty="0">
                <a:solidFill>
                  <a:srgbClr val="87867F"/>
                </a:solidFill>
                <a:latin typeface="Calibri" pitchFamily="34" charset="0"/>
                <a:ea typeface="Calibri" pitchFamily="34" charset="-122"/>
                <a:cs typeface="Calibri" pitchFamily="34" charset="-120"/>
              </a:rPr>
              <a:t>40–42 min</a:t>
            </a:r>
            <a:endParaRPr lang="en-US" sz="1100" dirty="0"/>
          </a:p>
        </p:txBody>
      </p:sp>
      <p:sp>
        <p:nvSpPr>
          <p:cNvPr id="6" name="Shape 4"/>
          <p:cNvSpPr/>
          <p:nvPr/>
        </p:nvSpPr>
        <p:spPr>
          <a:xfrm>
            <a:off x="548640" y="1600200"/>
            <a:ext cx="11091672" cy="1051560"/>
          </a:xfrm>
          <a:prstGeom prst="roundRect">
            <a:avLst>
              <a:gd name="adj" fmla="val 10435"/>
            </a:avLst>
          </a:prstGeom>
          <a:solidFill>
            <a:srgbClr val="F0EEE6"/>
          </a:solidFill>
          <a:ln w="9525">
            <a:solidFill>
              <a:srgbClr val="E8E6DC"/>
            </a:solidFill>
            <a:prstDash val="solid"/>
          </a:ln>
        </p:spPr>
      </p:sp>
      <p:sp>
        <p:nvSpPr>
          <p:cNvPr id="7" name="Text 5"/>
          <p:cNvSpPr txBox="1"/>
          <p:nvPr/>
        </p:nvSpPr>
        <p:spPr>
          <a:xfrm>
            <a:off x="777240" y="1600200"/>
            <a:ext cx="10607040" cy="1051560"/>
          </a:xfrm>
          <a:prstGeom prst="rect">
            <a:avLst/>
          </a:prstGeom>
          <a:noFill/>
          <a:ln/>
        </p:spPr>
        <p:txBody>
          <a:bodyPr wrap="square" lIns="0" tIns="0" rIns="0" bIns="0" rtlCol="0" anchor="ctr"/>
          <a:lstStyle/>
          <a:p>
            <a:pPr indent="0" marL="0">
              <a:buNone/>
            </a:pPr>
            <a:r>
              <a:rPr lang="en-US" sz="1500" dirty="0">
                <a:solidFill>
                  <a:srgbClr val="141413"/>
                </a:solidFill>
                <a:latin typeface="Calibri" pitchFamily="34" charset="0"/>
                <a:ea typeface="Calibri" pitchFamily="34" charset="-122"/>
                <a:cs typeface="Calibri" pitchFamily="34" charset="-120"/>
              </a:rPr>
              <a:t>Production logs show the agent frequently calls get_customer when users ask about orders (for example "check my order #12345") instead of calling lookup_order. What is the most effective first step?</a:t>
            </a:r>
            <a:endParaRPr lang="en-US" sz="1500" dirty="0"/>
          </a:p>
        </p:txBody>
      </p:sp>
      <p:sp>
        <p:nvSpPr>
          <p:cNvPr id="8" name="Shape 6"/>
          <p:cNvSpPr/>
          <p:nvPr/>
        </p:nvSpPr>
        <p:spPr>
          <a:xfrm>
            <a:off x="548640" y="2834640"/>
            <a:ext cx="5468112" cy="1143000"/>
          </a:xfrm>
          <a:prstGeom prst="roundRect">
            <a:avLst>
              <a:gd name="adj" fmla="val 9600"/>
            </a:avLst>
          </a:prstGeom>
          <a:solidFill>
            <a:srgbClr val="FFFFFF"/>
          </a:solidFill>
          <a:ln w="9525">
            <a:solidFill>
              <a:srgbClr val="E8E6DC"/>
            </a:solidFill>
            <a:prstDash val="solid"/>
          </a:ln>
        </p:spPr>
      </p:sp>
      <p:sp>
        <p:nvSpPr>
          <p:cNvPr id="9" name="Shape 7"/>
          <p:cNvSpPr/>
          <p:nvPr/>
        </p:nvSpPr>
        <p:spPr>
          <a:xfrm>
            <a:off x="731520" y="3182112"/>
            <a:ext cx="457200" cy="457200"/>
          </a:xfrm>
          <a:prstGeom prst="ellipse">
            <a:avLst/>
          </a:prstGeom>
          <a:solidFill>
            <a:srgbClr val="E8E6DC"/>
          </a:solidFill>
          <a:ln w="12700">
            <a:solidFill>
              <a:srgbClr val="E8E6DC"/>
            </a:solidFill>
            <a:prstDash val="solid"/>
          </a:ln>
        </p:spPr>
      </p:sp>
      <p:sp>
        <p:nvSpPr>
          <p:cNvPr id="10" name="Text 8"/>
          <p:cNvSpPr txBox="1"/>
          <p:nvPr/>
        </p:nvSpPr>
        <p:spPr>
          <a:xfrm>
            <a:off x="731520" y="3182112"/>
            <a:ext cx="457200" cy="457200"/>
          </a:xfrm>
          <a:prstGeom prst="rect">
            <a:avLst/>
          </a:prstGeom>
          <a:noFill/>
          <a:ln/>
        </p:spPr>
        <p:txBody>
          <a:bodyPr wrap="square" lIns="0" tIns="0" rIns="0" bIns="0" rtlCol="0" anchor="ctr"/>
          <a:lstStyle/>
          <a:p>
            <a:pPr algn="ctr" indent="0" marL="0">
              <a:buNone/>
            </a:pPr>
            <a:r>
              <a:rPr lang="en-US" sz="1600" b="1" dirty="0">
                <a:solidFill>
                  <a:srgbClr val="141413"/>
                </a:solidFill>
                <a:latin typeface="Cambria" pitchFamily="34" charset="0"/>
                <a:ea typeface="Cambria" pitchFamily="34" charset="-122"/>
                <a:cs typeface="Cambria" pitchFamily="34" charset="-120"/>
              </a:rPr>
              <a:t>A</a:t>
            </a:r>
            <a:endParaRPr lang="en-US" sz="1600" dirty="0"/>
          </a:p>
        </p:txBody>
      </p:sp>
      <p:sp>
        <p:nvSpPr>
          <p:cNvPr id="11" name="Text 9"/>
          <p:cNvSpPr txBox="1"/>
          <p:nvPr/>
        </p:nvSpPr>
        <p:spPr>
          <a:xfrm>
            <a:off x="1371600" y="2834640"/>
            <a:ext cx="4480560" cy="1143000"/>
          </a:xfrm>
          <a:prstGeom prst="rect">
            <a:avLst/>
          </a:prstGeom>
          <a:noFill/>
          <a:ln/>
        </p:spPr>
        <p:txBody>
          <a:bodyPr wrap="square" lIns="0" tIns="0" rIns="0" bIns="0" rtlCol="0" anchor="ctr"/>
          <a:lstStyle/>
          <a:p>
            <a:pPr indent="0" marL="0">
              <a:buNone/>
            </a:pPr>
            <a:r>
              <a:rPr lang="en-US" sz="1350" dirty="0">
                <a:solidFill>
                  <a:srgbClr val="141413"/>
                </a:solidFill>
                <a:latin typeface="Calibri" pitchFamily="34" charset="0"/>
                <a:ea typeface="Calibri" pitchFamily="34" charset="-122"/>
                <a:cs typeface="Calibri" pitchFamily="34" charset="-120"/>
              </a:rPr>
              <a:t>Add 5 to 8 few-shot examples to the system prompt showing order queries routed to lookup_order.</a:t>
            </a:r>
            <a:endParaRPr lang="en-US" sz="1350" dirty="0"/>
          </a:p>
        </p:txBody>
      </p:sp>
      <p:sp>
        <p:nvSpPr>
          <p:cNvPr id="12" name="Shape 10"/>
          <p:cNvSpPr/>
          <p:nvPr/>
        </p:nvSpPr>
        <p:spPr>
          <a:xfrm>
            <a:off x="6172200" y="2834640"/>
            <a:ext cx="5468112" cy="1143000"/>
          </a:xfrm>
          <a:prstGeom prst="roundRect">
            <a:avLst>
              <a:gd name="adj" fmla="val 9600"/>
            </a:avLst>
          </a:prstGeom>
          <a:solidFill>
            <a:srgbClr val="FFFFFF"/>
          </a:solidFill>
          <a:ln w="9525">
            <a:solidFill>
              <a:srgbClr val="E8E6DC"/>
            </a:solidFill>
            <a:prstDash val="solid"/>
          </a:ln>
        </p:spPr>
      </p:sp>
      <p:sp>
        <p:nvSpPr>
          <p:cNvPr id="13" name="Shape 11"/>
          <p:cNvSpPr/>
          <p:nvPr/>
        </p:nvSpPr>
        <p:spPr>
          <a:xfrm>
            <a:off x="6355080" y="3182112"/>
            <a:ext cx="457200" cy="457200"/>
          </a:xfrm>
          <a:prstGeom prst="ellipse">
            <a:avLst/>
          </a:prstGeom>
          <a:solidFill>
            <a:srgbClr val="E8E6DC"/>
          </a:solidFill>
          <a:ln w="12700">
            <a:solidFill>
              <a:srgbClr val="E8E6DC"/>
            </a:solidFill>
            <a:prstDash val="solid"/>
          </a:ln>
        </p:spPr>
      </p:sp>
      <p:sp>
        <p:nvSpPr>
          <p:cNvPr id="14" name="Text 12"/>
          <p:cNvSpPr txBox="1"/>
          <p:nvPr/>
        </p:nvSpPr>
        <p:spPr>
          <a:xfrm>
            <a:off x="6355080" y="3182112"/>
            <a:ext cx="457200" cy="457200"/>
          </a:xfrm>
          <a:prstGeom prst="rect">
            <a:avLst/>
          </a:prstGeom>
          <a:noFill/>
          <a:ln/>
        </p:spPr>
        <p:txBody>
          <a:bodyPr wrap="square" lIns="0" tIns="0" rIns="0" bIns="0" rtlCol="0" anchor="ctr"/>
          <a:lstStyle/>
          <a:p>
            <a:pPr algn="ctr" indent="0" marL="0">
              <a:buNone/>
            </a:pPr>
            <a:r>
              <a:rPr lang="en-US" sz="1600" b="1" dirty="0">
                <a:solidFill>
                  <a:srgbClr val="141413"/>
                </a:solidFill>
                <a:latin typeface="Cambria" pitchFamily="34" charset="0"/>
                <a:ea typeface="Cambria" pitchFamily="34" charset="-122"/>
                <a:cs typeface="Cambria" pitchFamily="34" charset="-120"/>
              </a:rPr>
              <a:t>B</a:t>
            </a:r>
            <a:endParaRPr lang="en-US" sz="1600" dirty="0"/>
          </a:p>
        </p:txBody>
      </p:sp>
      <p:sp>
        <p:nvSpPr>
          <p:cNvPr id="15" name="Text 13"/>
          <p:cNvSpPr txBox="1"/>
          <p:nvPr/>
        </p:nvSpPr>
        <p:spPr>
          <a:xfrm>
            <a:off x="6995160" y="2834640"/>
            <a:ext cx="4480560" cy="1143000"/>
          </a:xfrm>
          <a:prstGeom prst="rect">
            <a:avLst/>
          </a:prstGeom>
          <a:noFill/>
          <a:ln/>
        </p:spPr>
        <p:txBody>
          <a:bodyPr wrap="square" lIns="0" tIns="0" rIns="0" bIns="0" rtlCol="0" anchor="ctr"/>
          <a:lstStyle/>
          <a:p>
            <a:pPr indent="0" marL="0">
              <a:buNone/>
            </a:pPr>
            <a:r>
              <a:rPr lang="en-US" sz="1350" dirty="0">
                <a:solidFill>
                  <a:srgbClr val="141413"/>
                </a:solidFill>
                <a:latin typeface="Calibri" pitchFamily="34" charset="0"/>
                <a:ea typeface="Calibri" pitchFamily="34" charset="-122"/>
                <a:cs typeface="Calibri" pitchFamily="34" charset="-120"/>
              </a:rPr>
              <a:t>Expand the tool descriptions to include input formats, example queries, edge cases and boundaries between the tools.</a:t>
            </a:r>
            <a:endParaRPr lang="en-US" sz="1350" dirty="0"/>
          </a:p>
        </p:txBody>
      </p:sp>
      <p:sp>
        <p:nvSpPr>
          <p:cNvPr id="16" name="Shape 14"/>
          <p:cNvSpPr/>
          <p:nvPr/>
        </p:nvSpPr>
        <p:spPr>
          <a:xfrm>
            <a:off x="548640" y="4114800"/>
            <a:ext cx="5468112" cy="1143000"/>
          </a:xfrm>
          <a:prstGeom prst="roundRect">
            <a:avLst>
              <a:gd name="adj" fmla="val 9600"/>
            </a:avLst>
          </a:prstGeom>
          <a:solidFill>
            <a:srgbClr val="FFFFFF"/>
          </a:solidFill>
          <a:ln w="9525">
            <a:solidFill>
              <a:srgbClr val="E8E6DC"/>
            </a:solidFill>
            <a:prstDash val="solid"/>
          </a:ln>
        </p:spPr>
      </p:sp>
      <p:sp>
        <p:nvSpPr>
          <p:cNvPr id="17" name="Shape 15"/>
          <p:cNvSpPr/>
          <p:nvPr/>
        </p:nvSpPr>
        <p:spPr>
          <a:xfrm>
            <a:off x="731520" y="4462272"/>
            <a:ext cx="457200" cy="457200"/>
          </a:xfrm>
          <a:prstGeom prst="ellipse">
            <a:avLst/>
          </a:prstGeom>
          <a:solidFill>
            <a:srgbClr val="E8E6DC"/>
          </a:solidFill>
          <a:ln w="12700">
            <a:solidFill>
              <a:srgbClr val="E8E6DC"/>
            </a:solidFill>
            <a:prstDash val="solid"/>
          </a:ln>
        </p:spPr>
      </p:sp>
      <p:sp>
        <p:nvSpPr>
          <p:cNvPr id="18" name="Text 16"/>
          <p:cNvSpPr txBox="1"/>
          <p:nvPr/>
        </p:nvSpPr>
        <p:spPr>
          <a:xfrm>
            <a:off x="731520" y="4462272"/>
            <a:ext cx="457200" cy="457200"/>
          </a:xfrm>
          <a:prstGeom prst="rect">
            <a:avLst/>
          </a:prstGeom>
          <a:noFill/>
          <a:ln/>
        </p:spPr>
        <p:txBody>
          <a:bodyPr wrap="square" lIns="0" tIns="0" rIns="0" bIns="0" rtlCol="0" anchor="ctr"/>
          <a:lstStyle/>
          <a:p>
            <a:pPr algn="ctr" indent="0" marL="0">
              <a:buNone/>
            </a:pPr>
            <a:r>
              <a:rPr lang="en-US" sz="1600" b="1" dirty="0">
                <a:solidFill>
                  <a:srgbClr val="141413"/>
                </a:solidFill>
                <a:latin typeface="Cambria" pitchFamily="34" charset="0"/>
                <a:ea typeface="Cambria" pitchFamily="34" charset="-122"/>
                <a:cs typeface="Cambria" pitchFamily="34" charset="-120"/>
              </a:rPr>
              <a:t>C</a:t>
            </a:r>
            <a:endParaRPr lang="en-US" sz="1600" dirty="0"/>
          </a:p>
        </p:txBody>
      </p:sp>
      <p:sp>
        <p:nvSpPr>
          <p:cNvPr id="19" name="Text 17"/>
          <p:cNvSpPr txBox="1"/>
          <p:nvPr/>
        </p:nvSpPr>
        <p:spPr>
          <a:xfrm>
            <a:off x="1371600" y="4114800"/>
            <a:ext cx="4480560" cy="1143000"/>
          </a:xfrm>
          <a:prstGeom prst="rect">
            <a:avLst/>
          </a:prstGeom>
          <a:noFill/>
          <a:ln/>
        </p:spPr>
        <p:txBody>
          <a:bodyPr wrap="square" lIns="0" tIns="0" rIns="0" bIns="0" rtlCol="0" anchor="ctr"/>
          <a:lstStyle/>
          <a:p>
            <a:pPr indent="0" marL="0">
              <a:buNone/>
            </a:pPr>
            <a:r>
              <a:rPr lang="en-US" sz="1350" dirty="0">
                <a:solidFill>
                  <a:srgbClr val="141413"/>
                </a:solidFill>
                <a:latin typeface="Calibri" pitchFamily="34" charset="0"/>
                <a:ea typeface="Calibri" pitchFamily="34" charset="-122"/>
                <a:cs typeface="Calibri" pitchFamily="34" charset="-120"/>
              </a:rPr>
              <a:t>Implement a routing layer that parses the input and pre-selects the tool based on keywords.</a:t>
            </a:r>
            <a:endParaRPr lang="en-US" sz="1350" dirty="0"/>
          </a:p>
        </p:txBody>
      </p:sp>
      <p:sp>
        <p:nvSpPr>
          <p:cNvPr id="20" name="Shape 18"/>
          <p:cNvSpPr/>
          <p:nvPr/>
        </p:nvSpPr>
        <p:spPr>
          <a:xfrm>
            <a:off x="6172200" y="4114800"/>
            <a:ext cx="5468112" cy="1143000"/>
          </a:xfrm>
          <a:prstGeom prst="roundRect">
            <a:avLst>
              <a:gd name="adj" fmla="val 9600"/>
            </a:avLst>
          </a:prstGeom>
          <a:solidFill>
            <a:srgbClr val="FFFFFF"/>
          </a:solidFill>
          <a:ln w="9525">
            <a:solidFill>
              <a:srgbClr val="E8E6DC"/>
            </a:solidFill>
            <a:prstDash val="solid"/>
          </a:ln>
        </p:spPr>
      </p:sp>
      <p:sp>
        <p:nvSpPr>
          <p:cNvPr id="21" name="Shape 19"/>
          <p:cNvSpPr/>
          <p:nvPr/>
        </p:nvSpPr>
        <p:spPr>
          <a:xfrm>
            <a:off x="6355080" y="4462272"/>
            <a:ext cx="457200" cy="457200"/>
          </a:xfrm>
          <a:prstGeom prst="ellipse">
            <a:avLst/>
          </a:prstGeom>
          <a:solidFill>
            <a:srgbClr val="E8E6DC"/>
          </a:solidFill>
          <a:ln w="12700">
            <a:solidFill>
              <a:srgbClr val="E8E6DC"/>
            </a:solidFill>
            <a:prstDash val="solid"/>
          </a:ln>
        </p:spPr>
      </p:sp>
      <p:sp>
        <p:nvSpPr>
          <p:cNvPr id="22" name="Text 20"/>
          <p:cNvSpPr txBox="1"/>
          <p:nvPr/>
        </p:nvSpPr>
        <p:spPr>
          <a:xfrm>
            <a:off x="6355080" y="4462272"/>
            <a:ext cx="457200" cy="457200"/>
          </a:xfrm>
          <a:prstGeom prst="rect">
            <a:avLst/>
          </a:prstGeom>
          <a:noFill/>
          <a:ln/>
        </p:spPr>
        <p:txBody>
          <a:bodyPr wrap="square" lIns="0" tIns="0" rIns="0" bIns="0" rtlCol="0" anchor="ctr"/>
          <a:lstStyle/>
          <a:p>
            <a:pPr algn="ctr" indent="0" marL="0">
              <a:buNone/>
            </a:pPr>
            <a:r>
              <a:rPr lang="en-US" sz="1600" b="1" dirty="0">
                <a:solidFill>
                  <a:srgbClr val="141413"/>
                </a:solidFill>
                <a:latin typeface="Cambria" pitchFamily="34" charset="0"/>
                <a:ea typeface="Cambria" pitchFamily="34" charset="-122"/>
                <a:cs typeface="Cambria" pitchFamily="34" charset="-120"/>
              </a:rPr>
              <a:t>D</a:t>
            </a:r>
            <a:endParaRPr lang="en-US" sz="1600" dirty="0"/>
          </a:p>
        </p:txBody>
      </p:sp>
      <p:sp>
        <p:nvSpPr>
          <p:cNvPr id="23" name="Text 21"/>
          <p:cNvSpPr txBox="1"/>
          <p:nvPr/>
        </p:nvSpPr>
        <p:spPr>
          <a:xfrm>
            <a:off x="6995160" y="4114800"/>
            <a:ext cx="4480560" cy="1143000"/>
          </a:xfrm>
          <a:prstGeom prst="rect">
            <a:avLst/>
          </a:prstGeom>
          <a:noFill/>
          <a:ln/>
        </p:spPr>
        <p:txBody>
          <a:bodyPr wrap="square" lIns="0" tIns="0" rIns="0" bIns="0" rtlCol="0" anchor="ctr"/>
          <a:lstStyle/>
          <a:p>
            <a:pPr indent="0" marL="0">
              <a:buNone/>
            </a:pPr>
            <a:r>
              <a:rPr lang="en-US" sz="1350" dirty="0">
                <a:solidFill>
                  <a:srgbClr val="141413"/>
                </a:solidFill>
                <a:latin typeface="Calibri" pitchFamily="34" charset="0"/>
                <a:ea typeface="Calibri" pitchFamily="34" charset="-122"/>
                <a:cs typeface="Calibri" pitchFamily="34" charset="-120"/>
              </a:rPr>
              <a:t>Consolidate both tools into a single lookup_entity tool.</a:t>
            </a:r>
            <a:endParaRPr lang="en-US" sz="1350" dirty="0"/>
          </a:p>
        </p:txBody>
      </p:sp>
      <p:sp>
        <p:nvSpPr>
          <p:cNvPr id="24" name="Text 22"/>
          <p:cNvSpPr txBox="1"/>
          <p:nvPr/>
        </p:nvSpPr>
        <p:spPr>
          <a:xfrm>
            <a:off x="548640" y="5532120"/>
            <a:ext cx="11091672" cy="640080"/>
          </a:xfrm>
          <a:prstGeom prst="rect">
            <a:avLst/>
          </a:prstGeom>
          <a:noFill/>
          <a:ln/>
        </p:spPr>
        <p:txBody>
          <a:bodyPr wrap="square" lIns="0" tIns="0" rIns="0" bIns="0" rtlCol="0" anchor="ctr"/>
          <a:lstStyle/>
          <a:p>
            <a:pPr indent="0" marL="0">
              <a:buNone/>
            </a:pPr>
            <a:r>
              <a:rPr lang="en-US" sz="1400" i="1" dirty="0">
                <a:solidFill>
                  <a:srgbClr val="B85C3E"/>
                </a:solidFill>
                <a:latin typeface="Calibri" pitchFamily="34" charset="0"/>
                <a:ea typeface="Calibri" pitchFamily="34" charset="-122"/>
                <a:cs typeface="Calibri" pitchFamily="34" charset="-120"/>
              </a:rPr>
              <a:t>Two minutes. Pick one, then say why you reject each of the other three.</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548640" y="365760"/>
            <a:ext cx="8686800" cy="274320"/>
          </a:xfrm>
          <a:prstGeom prst="rect">
            <a:avLst/>
          </a:prstGeom>
          <a:noFill/>
          <a:ln/>
        </p:spPr>
        <p:txBody>
          <a:bodyPr wrap="square" lIns="0" tIns="0" rIns="0" bIns="0"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SCENARIO 1  ·  CUSTOMER SUPPORT RESOLUTION AGENT</a:t>
            </a:r>
            <a:endParaRPr lang="en-US" sz="1200" dirty="0"/>
          </a:p>
        </p:txBody>
      </p:sp>
      <p:sp>
        <p:nvSpPr>
          <p:cNvPr id="3" name="Text 1"/>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200" dirty="0">
                <a:solidFill>
                  <a:srgbClr val="141413"/>
                </a:solidFill>
                <a:latin typeface="Cambria" pitchFamily="34" charset="0"/>
                <a:ea typeface="Cambria" pitchFamily="34" charset="-122"/>
                <a:cs typeface="Cambria" pitchFamily="34" charset="-120"/>
              </a:rPr>
              <a:t>Q2 analysis: fix the descriptions first</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87867F"/>
                </a:solidFill>
                <a:latin typeface="Calibri" pitchFamily="34" charset="0"/>
                <a:ea typeface="Calibri" pitchFamily="34" charset="-122"/>
                <a:cs typeface="Calibri" pitchFamily="34" charset="-120"/>
              </a:rPr>
              <a:t>CCAR-F Skills Curriculum  ·  Session 1  ·  21</a:t>
            </a:r>
            <a:endParaRPr lang="en-US" sz="1000" dirty="0"/>
          </a:p>
        </p:txBody>
      </p:sp>
      <p:sp>
        <p:nvSpPr>
          <p:cNvPr id="5" name="Text 3"/>
          <p:cNvSpPr txBox="1"/>
          <p:nvPr/>
        </p:nvSpPr>
        <p:spPr>
          <a:xfrm>
            <a:off x="8869680" y="365760"/>
            <a:ext cx="2770632" cy="274320"/>
          </a:xfrm>
          <a:prstGeom prst="rect">
            <a:avLst/>
          </a:prstGeom>
          <a:noFill/>
          <a:ln/>
        </p:spPr>
        <p:txBody>
          <a:bodyPr wrap="square" lIns="0" tIns="0" rIns="0" bIns="0" rtlCol="0" anchor="ctr"/>
          <a:lstStyle/>
          <a:p>
            <a:pPr algn="r" indent="0" marL="0">
              <a:buNone/>
            </a:pPr>
            <a:r>
              <a:rPr lang="en-US" sz="1100" dirty="0">
                <a:solidFill>
                  <a:srgbClr val="87867F"/>
                </a:solidFill>
                <a:latin typeface="Calibri" pitchFamily="34" charset="0"/>
                <a:ea typeface="Calibri" pitchFamily="34" charset="-122"/>
                <a:cs typeface="Calibri" pitchFamily="34" charset="-120"/>
              </a:rPr>
              <a:t>42–46 min</a:t>
            </a:r>
            <a:endParaRPr lang="en-US" sz="1100" dirty="0"/>
          </a:p>
        </p:txBody>
      </p:sp>
      <p:sp>
        <p:nvSpPr>
          <p:cNvPr id="6" name="Shape 4"/>
          <p:cNvSpPr/>
          <p:nvPr/>
        </p:nvSpPr>
        <p:spPr>
          <a:xfrm>
            <a:off x="548640" y="1600200"/>
            <a:ext cx="7680960" cy="822960"/>
          </a:xfrm>
          <a:prstGeom prst="roundRect">
            <a:avLst>
              <a:gd name="adj" fmla="val 13333"/>
            </a:avLst>
          </a:prstGeom>
          <a:solidFill>
            <a:srgbClr val="FFFFFF"/>
          </a:solidFill>
          <a:ln w="9525">
            <a:solidFill>
              <a:srgbClr val="E8E6DC"/>
            </a:solidFill>
            <a:prstDash val="solid"/>
          </a:ln>
        </p:spPr>
      </p:sp>
      <p:sp>
        <p:nvSpPr>
          <p:cNvPr id="7" name="Shape 5"/>
          <p:cNvSpPr/>
          <p:nvPr/>
        </p:nvSpPr>
        <p:spPr>
          <a:xfrm>
            <a:off x="731520" y="1783080"/>
            <a:ext cx="457200" cy="457200"/>
          </a:xfrm>
          <a:prstGeom prst="ellipse">
            <a:avLst/>
          </a:prstGeom>
          <a:solidFill>
            <a:srgbClr val="E8E6DC"/>
          </a:solidFill>
          <a:ln w="12700">
            <a:solidFill>
              <a:srgbClr val="E8E6DC"/>
            </a:solidFill>
            <a:prstDash val="solid"/>
          </a:ln>
        </p:spPr>
      </p:sp>
      <p:sp>
        <p:nvSpPr>
          <p:cNvPr id="8" name="Text 6"/>
          <p:cNvSpPr txBox="1"/>
          <p:nvPr/>
        </p:nvSpPr>
        <p:spPr>
          <a:xfrm>
            <a:off x="731520" y="1783080"/>
            <a:ext cx="457200" cy="457200"/>
          </a:xfrm>
          <a:prstGeom prst="rect">
            <a:avLst/>
          </a:prstGeom>
          <a:noFill/>
          <a:ln/>
        </p:spPr>
        <p:txBody>
          <a:bodyPr wrap="square" lIns="0" tIns="0" rIns="0" bIns="0" rtlCol="0" anchor="ctr"/>
          <a:lstStyle/>
          <a:p>
            <a:pPr algn="ctr" indent="0" marL="0">
              <a:buNone/>
            </a:pPr>
            <a:r>
              <a:rPr lang="en-US" sz="1600" b="1" dirty="0">
                <a:solidFill>
                  <a:srgbClr val="141413"/>
                </a:solidFill>
                <a:latin typeface="Cambria" pitchFamily="34" charset="0"/>
                <a:ea typeface="Cambria" pitchFamily="34" charset="-122"/>
                <a:cs typeface="Cambria" pitchFamily="34" charset="-120"/>
              </a:rPr>
              <a:t>A</a:t>
            </a:r>
            <a:endParaRPr lang="en-US" sz="1600" dirty="0"/>
          </a:p>
        </p:txBody>
      </p:sp>
      <p:sp>
        <p:nvSpPr>
          <p:cNvPr id="9" name="Text 7"/>
          <p:cNvSpPr txBox="1"/>
          <p:nvPr/>
        </p:nvSpPr>
        <p:spPr>
          <a:xfrm>
            <a:off x="1371600" y="1600200"/>
            <a:ext cx="2103120" cy="822960"/>
          </a:xfrm>
          <a:prstGeom prst="rect">
            <a:avLst/>
          </a:prstGeom>
          <a:noFill/>
          <a:ln/>
        </p:spPr>
        <p:txBody>
          <a:bodyPr wrap="square" lIns="0" tIns="0" rIns="0" bIns="0" rtlCol="0" anchor="ctr"/>
          <a:lstStyle/>
          <a:p>
            <a:pPr indent="0" marL="0">
              <a:buNone/>
            </a:pPr>
            <a:r>
              <a:rPr lang="en-US" sz="1400" dirty="0">
                <a:solidFill>
                  <a:srgbClr val="141413"/>
                </a:solidFill>
                <a:latin typeface="Cambria" pitchFamily="34" charset="0"/>
                <a:ea typeface="Cambria" pitchFamily="34" charset="-122"/>
                <a:cs typeface="Cambria" pitchFamily="34" charset="-120"/>
              </a:rPr>
              <a:t>Few-shot examples</a:t>
            </a:r>
            <a:endParaRPr lang="en-US" sz="1400" dirty="0"/>
          </a:p>
        </p:txBody>
      </p:sp>
      <p:sp>
        <p:nvSpPr>
          <p:cNvPr id="10" name="Text 8"/>
          <p:cNvSpPr txBox="1"/>
          <p:nvPr/>
        </p:nvSpPr>
        <p:spPr>
          <a:xfrm>
            <a:off x="3474720" y="1600200"/>
            <a:ext cx="4617720" cy="822960"/>
          </a:xfrm>
          <a:prstGeom prst="rect">
            <a:avLst/>
          </a:prstGeom>
          <a:noFill/>
          <a:ln/>
        </p:spPr>
        <p:txBody>
          <a:bodyPr wrap="square" lIns="0" tIns="0" rIns="0" bIns="0" rtlCol="0" anchor="ctr"/>
          <a:lstStyle/>
          <a:p>
            <a:pPr indent="0" marL="0">
              <a:buNone/>
            </a:pPr>
            <a:r>
              <a:rPr lang="en-US" sz="1200" dirty="0">
                <a:solidFill>
                  <a:srgbClr val="5E5D59"/>
                </a:solidFill>
                <a:latin typeface="Calibri" pitchFamily="34" charset="0"/>
                <a:ea typeface="Calibri" pitchFamily="34" charset="-122"/>
                <a:cs typeface="Calibri" pitchFamily="34" charset="-120"/>
              </a:rPr>
              <a:t>Adds prompt weight and tuning without giving the model the missing information: how the two tools differ.</a:t>
            </a:r>
            <a:endParaRPr lang="en-US" sz="1200" dirty="0"/>
          </a:p>
        </p:txBody>
      </p:sp>
      <p:sp>
        <p:nvSpPr>
          <p:cNvPr id="11" name="Shape 9"/>
          <p:cNvSpPr/>
          <p:nvPr/>
        </p:nvSpPr>
        <p:spPr>
          <a:xfrm>
            <a:off x="548640" y="2532888"/>
            <a:ext cx="7680960" cy="822960"/>
          </a:xfrm>
          <a:prstGeom prst="roundRect">
            <a:avLst>
              <a:gd name="adj" fmla="val 13333"/>
            </a:avLst>
          </a:prstGeom>
          <a:solidFill>
            <a:srgbClr val="E6ECDD"/>
          </a:solidFill>
          <a:ln w="9525">
            <a:solidFill>
              <a:srgbClr val="788C5D"/>
            </a:solidFill>
            <a:prstDash val="solid"/>
          </a:ln>
        </p:spPr>
      </p:sp>
      <p:sp>
        <p:nvSpPr>
          <p:cNvPr id="12" name="Shape 10"/>
          <p:cNvSpPr/>
          <p:nvPr/>
        </p:nvSpPr>
        <p:spPr>
          <a:xfrm>
            <a:off x="731520" y="2715768"/>
            <a:ext cx="457200" cy="457200"/>
          </a:xfrm>
          <a:prstGeom prst="ellipse">
            <a:avLst/>
          </a:prstGeom>
          <a:solidFill>
            <a:srgbClr val="788C5D"/>
          </a:solidFill>
          <a:ln w="12700">
            <a:solidFill>
              <a:srgbClr val="788C5D"/>
            </a:solidFill>
            <a:prstDash val="solid"/>
          </a:ln>
        </p:spPr>
      </p:sp>
      <p:sp>
        <p:nvSpPr>
          <p:cNvPr id="13" name="Text 11"/>
          <p:cNvSpPr txBox="1"/>
          <p:nvPr/>
        </p:nvSpPr>
        <p:spPr>
          <a:xfrm>
            <a:off x="731520" y="27157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B</a:t>
            </a:r>
            <a:endParaRPr lang="en-US" sz="1600" dirty="0"/>
          </a:p>
        </p:txBody>
      </p:sp>
      <p:sp>
        <p:nvSpPr>
          <p:cNvPr id="14" name="Text 12"/>
          <p:cNvSpPr txBox="1"/>
          <p:nvPr/>
        </p:nvSpPr>
        <p:spPr>
          <a:xfrm>
            <a:off x="1371600" y="2532888"/>
            <a:ext cx="2103120" cy="822960"/>
          </a:xfrm>
          <a:prstGeom prst="rect">
            <a:avLst/>
          </a:prstGeom>
          <a:noFill/>
          <a:ln/>
        </p:spPr>
        <p:txBody>
          <a:bodyPr wrap="square" lIns="0" tIns="0" rIns="0" bIns="0" rtlCol="0" anchor="ctr"/>
          <a:lstStyle/>
          <a:p>
            <a:pPr indent="0" marL="0">
              <a:buNone/>
            </a:pPr>
            <a:r>
              <a:rPr lang="en-US" sz="1400" dirty="0">
                <a:solidFill>
                  <a:srgbClr val="141413"/>
                </a:solidFill>
                <a:latin typeface="Cambria" pitchFamily="34" charset="0"/>
                <a:ea typeface="Cambria" pitchFamily="34" charset="-122"/>
                <a:cs typeface="Cambria" pitchFamily="34" charset="-120"/>
              </a:rPr>
              <a:t>Expand tool descriptions</a:t>
            </a:r>
            <a:endParaRPr lang="en-US" sz="1400" dirty="0"/>
          </a:p>
        </p:txBody>
      </p:sp>
      <p:sp>
        <p:nvSpPr>
          <p:cNvPr id="15" name="Text 13"/>
          <p:cNvSpPr txBox="1"/>
          <p:nvPr/>
        </p:nvSpPr>
        <p:spPr>
          <a:xfrm>
            <a:off x="3474720" y="2532888"/>
            <a:ext cx="4617720" cy="822960"/>
          </a:xfrm>
          <a:prstGeom prst="rect">
            <a:avLst/>
          </a:prstGeom>
          <a:noFill/>
          <a:ln/>
        </p:spPr>
        <p:txBody>
          <a:bodyPr wrap="square" lIns="0" tIns="0" rIns="0" bIns="0" rtlCol="0" anchor="ctr"/>
          <a:lstStyle/>
          <a:p>
            <a:pPr indent="0" marL="0">
              <a:buNone/>
            </a:pPr>
            <a:r>
              <a:rPr lang="en-US" sz="1200" dirty="0">
                <a:solidFill>
                  <a:srgbClr val="5E5D59"/>
                </a:solidFill>
                <a:latin typeface="Calibri" pitchFamily="34" charset="0"/>
                <a:ea typeface="Calibri" pitchFamily="34" charset="-122"/>
                <a:cs typeface="Calibri" pitchFamily="34" charset="-120"/>
              </a:rPr>
              <a:t>Correct. Descriptions are the primary mechanism for tool selection. Minimal descriptions leave similar tools indistinguishable.</a:t>
            </a:r>
            <a:endParaRPr lang="en-US" sz="1200" dirty="0"/>
          </a:p>
        </p:txBody>
      </p:sp>
      <p:sp>
        <p:nvSpPr>
          <p:cNvPr id="16" name="Shape 14"/>
          <p:cNvSpPr/>
          <p:nvPr/>
        </p:nvSpPr>
        <p:spPr>
          <a:xfrm>
            <a:off x="548640" y="3465576"/>
            <a:ext cx="7680960" cy="822960"/>
          </a:xfrm>
          <a:prstGeom prst="roundRect">
            <a:avLst>
              <a:gd name="adj" fmla="val 13333"/>
            </a:avLst>
          </a:prstGeom>
          <a:solidFill>
            <a:srgbClr val="FFFFFF"/>
          </a:solidFill>
          <a:ln w="9525">
            <a:solidFill>
              <a:srgbClr val="E8E6DC"/>
            </a:solidFill>
            <a:prstDash val="solid"/>
          </a:ln>
        </p:spPr>
      </p:sp>
      <p:sp>
        <p:nvSpPr>
          <p:cNvPr id="17" name="Shape 15"/>
          <p:cNvSpPr/>
          <p:nvPr/>
        </p:nvSpPr>
        <p:spPr>
          <a:xfrm>
            <a:off x="731520" y="3648456"/>
            <a:ext cx="457200" cy="457200"/>
          </a:xfrm>
          <a:prstGeom prst="ellipse">
            <a:avLst/>
          </a:prstGeom>
          <a:solidFill>
            <a:srgbClr val="E8E6DC"/>
          </a:solidFill>
          <a:ln w="12700">
            <a:solidFill>
              <a:srgbClr val="E8E6DC"/>
            </a:solidFill>
            <a:prstDash val="solid"/>
          </a:ln>
        </p:spPr>
      </p:sp>
      <p:sp>
        <p:nvSpPr>
          <p:cNvPr id="18" name="Text 16"/>
          <p:cNvSpPr txBox="1"/>
          <p:nvPr/>
        </p:nvSpPr>
        <p:spPr>
          <a:xfrm>
            <a:off x="731520" y="3648456"/>
            <a:ext cx="457200" cy="457200"/>
          </a:xfrm>
          <a:prstGeom prst="rect">
            <a:avLst/>
          </a:prstGeom>
          <a:noFill/>
          <a:ln/>
        </p:spPr>
        <p:txBody>
          <a:bodyPr wrap="square" lIns="0" tIns="0" rIns="0" bIns="0" rtlCol="0" anchor="ctr"/>
          <a:lstStyle/>
          <a:p>
            <a:pPr algn="ctr" indent="0" marL="0">
              <a:buNone/>
            </a:pPr>
            <a:r>
              <a:rPr lang="en-US" sz="1600" b="1" dirty="0">
                <a:solidFill>
                  <a:srgbClr val="141413"/>
                </a:solidFill>
                <a:latin typeface="Cambria" pitchFamily="34" charset="0"/>
                <a:ea typeface="Cambria" pitchFamily="34" charset="-122"/>
                <a:cs typeface="Cambria" pitchFamily="34" charset="-120"/>
              </a:rPr>
              <a:t>C</a:t>
            </a:r>
            <a:endParaRPr lang="en-US" sz="1600" dirty="0"/>
          </a:p>
        </p:txBody>
      </p:sp>
      <p:sp>
        <p:nvSpPr>
          <p:cNvPr id="19" name="Text 17"/>
          <p:cNvSpPr txBox="1"/>
          <p:nvPr/>
        </p:nvSpPr>
        <p:spPr>
          <a:xfrm>
            <a:off x="1371600" y="3465576"/>
            <a:ext cx="2103120" cy="822960"/>
          </a:xfrm>
          <a:prstGeom prst="rect">
            <a:avLst/>
          </a:prstGeom>
          <a:noFill/>
          <a:ln/>
        </p:spPr>
        <p:txBody>
          <a:bodyPr wrap="square" lIns="0" tIns="0" rIns="0" bIns="0" rtlCol="0" anchor="ctr"/>
          <a:lstStyle/>
          <a:p>
            <a:pPr indent="0" marL="0">
              <a:buNone/>
            </a:pPr>
            <a:r>
              <a:rPr lang="en-US" sz="1400" dirty="0">
                <a:solidFill>
                  <a:srgbClr val="141413"/>
                </a:solidFill>
                <a:latin typeface="Cambria" pitchFamily="34" charset="0"/>
                <a:ea typeface="Cambria" pitchFamily="34" charset="-122"/>
                <a:cs typeface="Cambria" pitchFamily="34" charset="-120"/>
              </a:rPr>
              <a:t>Keyword routing layer</a:t>
            </a:r>
            <a:endParaRPr lang="en-US" sz="1400" dirty="0"/>
          </a:p>
        </p:txBody>
      </p:sp>
      <p:sp>
        <p:nvSpPr>
          <p:cNvPr id="20" name="Text 18"/>
          <p:cNvSpPr txBox="1"/>
          <p:nvPr/>
        </p:nvSpPr>
        <p:spPr>
          <a:xfrm>
            <a:off x="3474720" y="3465576"/>
            <a:ext cx="4617720" cy="822960"/>
          </a:xfrm>
          <a:prstGeom prst="rect">
            <a:avLst/>
          </a:prstGeom>
          <a:noFill/>
          <a:ln/>
        </p:spPr>
        <p:txBody>
          <a:bodyPr wrap="square" lIns="0" tIns="0" rIns="0" bIns="0" rtlCol="0" anchor="ctr"/>
          <a:lstStyle/>
          <a:p>
            <a:pPr indent="0" marL="0">
              <a:buNone/>
            </a:pPr>
            <a:r>
              <a:rPr lang="en-US" sz="1200" dirty="0">
                <a:solidFill>
                  <a:srgbClr val="5E5D59"/>
                </a:solidFill>
                <a:latin typeface="Calibri" pitchFamily="34" charset="0"/>
                <a:ea typeface="Calibri" pitchFamily="34" charset="-122"/>
                <a:cs typeface="Calibri" pitchFamily="34" charset="-120"/>
              </a:rPr>
              <a:t>Over-engineered. Bypasses the model's language understanding and is brittle for phrasing you did not predict.</a:t>
            </a:r>
            <a:endParaRPr lang="en-US" sz="1200" dirty="0"/>
          </a:p>
        </p:txBody>
      </p:sp>
      <p:sp>
        <p:nvSpPr>
          <p:cNvPr id="21" name="Shape 19"/>
          <p:cNvSpPr/>
          <p:nvPr/>
        </p:nvSpPr>
        <p:spPr>
          <a:xfrm>
            <a:off x="548640" y="4398264"/>
            <a:ext cx="7680960" cy="822960"/>
          </a:xfrm>
          <a:prstGeom prst="roundRect">
            <a:avLst>
              <a:gd name="adj" fmla="val 13333"/>
            </a:avLst>
          </a:prstGeom>
          <a:solidFill>
            <a:srgbClr val="FFFFFF"/>
          </a:solidFill>
          <a:ln w="9525">
            <a:solidFill>
              <a:srgbClr val="E8E6DC"/>
            </a:solidFill>
            <a:prstDash val="solid"/>
          </a:ln>
        </p:spPr>
      </p:sp>
      <p:sp>
        <p:nvSpPr>
          <p:cNvPr id="22" name="Shape 20"/>
          <p:cNvSpPr/>
          <p:nvPr/>
        </p:nvSpPr>
        <p:spPr>
          <a:xfrm>
            <a:off x="731520" y="4581144"/>
            <a:ext cx="457200" cy="457200"/>
          </a:xfrm>
          <a:prstGeom prst="ellipse">
            <a:avLst/>
          </a:prstGeom>
          <a:solidFill>
            <a:srgbClr val="E8E6DC"/>
          </a:solidFill>
          <a:ln w="12700">
            <a:solidFill>
              <a:srgbClr val="E8E6DC"/>
            </a:solidFill>
            <a:prstDash val="solid"/>
          </a:ln>
        </p:spPr>
      </p:sp>
      <p:sp>
        <p:nvSpPr>
          <p:cNvPr id="23" name="Text 21"/>
          <p:cNvSpPr txBox="1"/>
          <p:nvPr/>
        </p:nvSpPr>
        <p:spPr>
          <a:xfrm>
            <a:off x="731520" y="4581144"/>
            <a:ext cx="457200" cy="457200"/>
          </a:xfrm>
          <a:prstGeom prst="rect">
            <a:avLst/>
          </a:prstGeom>
          <a:noFill/>
          <a:ln/>
        </p:spPr>
        <p:txBody>
          <a:bodyPr wrap="square" lIns="0" tIns="0" rIns="0" bIns="0" rtlCol="0" anchor="ctr"/>
          <a:lstStyle/>
          <a:p>
            <a:pPr algn="ctr" indent="0" marL="0">
              <a:buNone/>
            </a:pPr>
            <a:r>
              <a:rPr lang="en-US" sz="1600" b="1" dirty="0">
                <a:solidFill>
                  <a:srgbClr val="141413"/>
                </a:solidFill>
                <a:latin typeface="Cambria" pitchFamily="34" charset="0"/>
                <a:ea typeface="Cambria" pitchFamily="34" charset="-122"/>
                <a:cs typeface="Cambria" pitchFamily="34" charset="-120"/>
              </a:rPr>
              <a:t>D</a:t>
            </a:r>
            <a:endParaRPr lang="en-US" sz="1600" dirty="0"/>
          </a:p>
        </p:txBody>
      </p:sp>
      <p:sp>
        <p:nvSpPr>
          <p:cNvPr id="24" name="Text 22"/>
          <p:cNvSpPr txBox="1"/>
          <p:nvPr/>
        </p:nvSpPr>
        <p:spPr>
          <a:xfrm>
            <a:off x="1371600" y="4398264"/>
            <a:ext cx="2103120" cy="822960"/>
          </a:xfrm>
          <a:prstGeom prst="rect">
            <a:avLst/>
          </a:prstGeom>
          <a:noFill/>
          <a:ln/>
        </p:spPr>
        <p:txBody>
          <a:bodyPr wrap="square" lIns="0" tIns="0" rIns="0" bIns="0" rtlCol="0" anchor="ctr"/>
          <a:lstStyle/>
          <a:p>
            <a:pPr indent="0" marL="0">
              <a:buNone/>
            </a:pPr>
            <a:r>
              <a:rPr lang="en-US" sz="1400" dirty="0">
                <a:solidFill>
                  <a:srgbClr val="141413"/>
                </a:solidFill>
                <a:latin typeface="Cambria" pitchFamily="34" charset="0"/>
                <a:ea typeface="Cambria" pitchFamily="34" charset="-122"/>
                <a:cs typeface="Cambria" pitchFamily="34" charset="-120"/>
              </a:rPr>
              <a:t>Consolidate into one tool</a:t>
            </a:r>
            <a:endParaRPr lang="en-US" sz="1400" dirty="0"/>
          </a:p>
        </p:txBody>
      </p:sp>
      <p:sp>
        <p:nvSpPr>
          <p:cNvPr id="25" name="Text 23"/>
          <p:cNvSpPr txBox="1"/>
          <p:nvPr/>
        </p:nvSpPr>
        <p:spPr>
          <a:xfrm>
            <a:off x="3474720" y="4398264"/>
            <a:ext cx="4617720" cy="822960"/>
          </a:xfrm>
          <a:prstGeom prst="rect">
            <a:avLst/>
          </a:prstGeom>
          <a:noFill/>
          <a:ln/>
        </p:spPr>
        <p:txBody>
          <a:bodyPr wrap="square" lIns="0" tIns="0" rIns="0" bIns="0" rtlCol="0" anchor="ctr"/>
          <a:lstStyle/>
          <a:p>
            <a:pPr indent="0" marL="0">
              <a:buNone/>
            </a:pPr>
            <a:r>
              <a:rPr lang="en-US" sz="1200" dirty="0">
                <a:solidFill>
                  <a:srgbClr val="5E5D59"/>
                </a:solidFill>
                <a:latin typeface="Calibri" pitchFamily="34" charset="0"/>
                <a:ea typeface="Calibri" pitchFamily="34" charset="-122"/>
                <a:cs typeface="Calibri" pitchFamily="34" charset="-120"/>
              </a:rPr>
              <a:t>Disproportionate. Restructures the system to fix what is a description problem.</a:t>
            </a:r>
            <a:endParaRPr lang="en-US" sz="1200" dirty="0"/>
          </a:p>
        </p:txBody>
      </p:sp>
      <p:sp>
        <p:nvSpPr>
          <p:cNvPr id="26" name="Shape 24"/>
          <p:cNvSpPr/>
          <p:nvPr/>
        </p:nvSpPr>
        <p:spPr>
          <a:xfrm>
            <a:off x="8503920" y="1600200"/>
            <a:ext cx="3136392" cy="3639312"/>
          </a:xfrm>
          <a:prstGeom prst="roundRect">
            <a:avLst>
              <a:gd name="adj" fmla="val 3499"/>
            </a:avLst>
          </a:prstGeom>
          <a:solidFill>
            <a:srgbClr val="F6E4DB"/>
          </a:solidFill>
          <a:ln w="9525">
            <a:solidFill>
              <a:srgbClr val="F6E4DB"/>
            </a:solidFill>
            <a:prstDash val="solid"/>
          </a:ln>
        </p:spPr>
      </p:sp>
      <p:sp>
        <p:nvSpPr>
          <p:cNvPr id="27" name="Text 25"/>
          <p:cNvSpPr txBox="1"/>
          <p:nvPr/>
        </p:nvSpPr>
        <p:spPr>
          <a:xfrm>
            <a:off x="8732520" y="1737360"/>
            <a:ext cx="2743200" cy="320040"/>
          </a:xfrm>
          <a:prstGeom prst="rect">
            <a:avLst/>
          </a:prstGeom>
          <a:noFill/>
          <a:ln/>
        </p:spPr>
        <p:txBody>
          <a:bodyPr wrap="square" lIns="0" tIns="0" rIns="0" bIns="0" rtlCol="0" anchor="ctr"/>
          <a:lstStyle/>
          <a:p>
            <a:pPr indent="0" marL="0">
              <a:buNone/>
            </a:pPr>
            <a:r>
              <a:rPr lang="en-US" sz="1600" dirty="0">
                <a:solidFill>
                  <a:srgbClr val="B85C3E"/>
                </a:solidFill>
                <a:latin typeface="Cambria" pitchFamily="34" charset="0"/>
                <a:ea typeface="Cambria" pitchFamily="34" charset="-122"/>
                <a:cs typeface="Cambria" pitchFamily="34" charset="-120"/>
              </a:rPr>
              <a:t>Method applied</a:t>
            </a:r>
            <a:endParaRPr lang="en-US" sz="1600" dirty="0"/>
          </a:p>
        </p:txBody>
      </p:sp>
      <p:sp>
        <p:nvSpPr>
          <p:cNvPr id="28" name="Text 26"/>
          <p:cNvSpPr txBox="1"/>
          <p:nvPr/>
        </p:nvSpPr>
        <p:spPr>
          <a:xfrm>
            <a:off x="8732520" y="2148840"/>
            <a:ext cx="2743200" cy="29260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41413"/>
                </a:solidFill>
                <a:latin typeface="Calibri" pitchFamily="34" charset="0"/>
                <a:ea typeface="Calibri" pitchFamily="34" charset="-122"/>
                <a:cs typeface="Calibri" pitchFamily="34" charset="-120"/>
              </a:rPr>
              <a:t>Root cause: descriptions too thin to tell tools apart.</a:t>
            </a:r>
            <a:endParaRPr lang="en-US" sz="1300" dirty="0"/>
          </a:p>
          <a:p>
            <a:pPr marL="177800" indent="-177800">
              <a:spcAft>
                <a:spcPts val="600"/>
              </a:spcAft>
              <a:buSzPct val="100000"/>
              <a:buChar char="•"/>
            </a:pPr>
            <a:r>
              <a:rPr lang="en-US" sz="1300" dirty="0">
                <a:solidFill>
                  <a:srgbClr val="141413"/>
                </a:solidFill>
                <a:latin typeface="Calibri" pitchFamily="34" charset="0"/>
                <a:ea typeface="Calibri" pitchFamily="34" charset="-122"/>
                <a:cs typeface="Calibri" pitchFamily="34" charset="-120"/>
              </a:rPr>
              <a:t>Proportionate: edit text, no new components.</a:t>
            </a:r>
            <a:endParaRPr lang="en-US" sz="1300" dirty="0"/>
          </a:p>
          <a:p>
            <a:pPr marL="177800" indent="-177800">
              <a:spcAft>
                <a:spcPts val="600"/>
              </a:spcAft>
              <a:buSzPct val="100000"/>
              <a:buChar char="•"/>
            </a:pPr>
            <a:r>
              <a:rPr lang="en-US" sz="1300" dirty="0">
                <a:solidFill>
                  <a:srgbClr val="141413"/>
                </a:solidFill>
                <a:latin typeface="Calibri" pitchFamily="34" charset="0"/>
                <a:ea typeface="Calibri" pitchFamily="34" charset="-122"/>
                <a:cs typeface="Calibri" pitchFamily="34" charset="-120"/>
              </a:rPr>
              <a:t>Over-engineering: options C and D.</a:t>
            </a:r>
            <a:endParaRPr lang="en-US" sz="1300" dirty="0"/>
          </a:p>
        </p:txBody>
      </p:sp>
      <p:sp>
        <p:nvSpPr>
          <p:cNvPr id="29" name="Shape 27"/>
          <p:cNvSpPr/>
          <p:nvPr/>
        </p:nvSpPr>
        <p:spPr>
          <a:xfrm>
            <a:off x="548640" y="5440680"/>
            <a:ext cx="11091672" cy="777240"/>
          </a:xfrm>
          <a:prstGeom prst="roundRect">
            <a:avLst>
              <a:gd name="adj" fmla="val 14118"/>
            </a:avLst>
          </a:prstGeom>
          <a:solidFill>
            <a:srgbClr val="FFFFFF"/>
          </a:solidFill>
          <a:ln w="9525">
            <a:solidFill>
              <a:srgbClr val="E8E6DC"/>
            </a:solidFill>
            <a:prstDash val="solid"/>
          </a:ln>
        </p:spPr>
      </p:sp>
      <p:sp>
        <p:nvSpPr>
          <p:cNvPr id="30" name="Text 28"/>
          <p:cNvSpPr txBox="1"/>
          <p:nvPr/>
        </p:nvSpPr>
        <p:spPr>
          <a:xfrm>
            <a:off x="822960" y="5440680"/>
            <a:ext cx="10515600" cy="777240"/>
          </a:xfrm>
          <a:prstGeom prst="rect">
            <a:avLst/>
          </a:prstGeom>
          <a:noFill/>
          <a:ln/>
        </p:spPr>
        <p:txBody>
          <a:bodyPr wrap="square" lIns="0" tIns="0" rIns="0" bIns="0" rtlCol="0" anchor="ctr"/>
          <a:lstStyle/>
          <a:p>
            <a:pPr indent="0" marL="0">
              <a:buNone/>
            </a:pPr>
            <a:r>
              <a:rPr lang="en-US" sz="1400" dirty="0">
                <a:solidFill>
                  <a:srgbClr val="141413"/>
                </a:solidFill>
                <a:latin typeface="Calibri" pitchFamily="34" charset="0"/>
                <a:ea typeface="Calibri" pitchFamily="34" charset="-122"/>
                <a:cs typeface="Calibri" pitchFamily="34" charset="-120"/>
              </a:rPr>
              <a:t>Revisited in Session 3 (task statement 2.1): rewriting get_customer and lookup_order descriptions yourself.</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548640" y="365760"/>
            <a:ext cx="8686800" cy="274320"/>
          </a:xfrm>
          <a:prstGeom prst="rect">
            <a:avLst/>
          </a:prstGeom>
          <a:noFill/>
          <a:ln/>
        </p:spPr>
        <p:txBody>
          <a:bodyPr wrap="square" lIns="0" tIns="0" rIns="0" bIns="0"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SCENARIO 1  ·  CUSTOMER SUPPORT RESOLUTION AGENT</a:t>
            </a:r>
            <a:endParaRPr lang="en-US" sz="1200" dirty="0"/>
          </a:p>
        </p:txBody>
      </p:sp>
      <p:sp>
        <p:nvSpPr>
          <p:cNvPr id="3" name="Text 1"/>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200" dirty="0">
                <a:solidFill>
                  <a:srgbClr val="141413"/>
                </a:solidFill>
                <a:latin typeface="Cambria" pitchFamily="34" charset="0"/>
                <a:ea typeface="Cambria" pitchFamily="34" charset="-122"/>
                <a:cs typeface="Cambria" pitchFamily="34" charset="-120"/>
              </a:rPr>
              <a:t>Sample question 3</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87867F"/>
                </a:solidFill>
                <a:latin typeface="Calibri" pitchFamily="34" charset="0"/>
                <a:ea typeface="Calibri" pitchFamily="34" charset="-122"/>
                <a:cs typeface="Calibri" pitchFamily="34" charset="-120"/>
              </a:rPr>
              <a:t>CCAR-F Skills Curriculum  ·  Session 1  ·  22</a:t>
            </a:r>
            <a:endParaRPr lang="en-US" sz="1000" dirty="0"/>
          </a:p>
        </p:txBody>
      </p:sp>
      <p:sp>
        <p:nvSpPr>
          <p:cNvPr id="5" name="Text 3"/>
          <p:cNvSpPr txBox="1"/>
          <p:nvPr/>
        </p:nvSpPr>
        <p:spPr>
          <a:xfrm>
            <a:off x="8869680" y="365760"/>
            <a:ext cx="2770632" cy="274320"/>
          </a:xfrm>
          <a:prstGeom prst="rect">
            <a:avLst/>
          </a:prstGeom>
          <a:noFill/>
          <a:ln/>
        </p:spPr>
        <p:txBody>
          <a:bodyPr wrap="square" lIns="0" tIns="0" rIns="0" bIns="0" rtlCol="0" anchor="ctr"/>
          <a:lstStyle/>
          <a:p>
            <a:pPr algn="r" indent="0" marL="0">
              <a:buNone/>
            </a:pPr>
            <a:r>
              <a:rPr lang="en-US" sz="1100" dirty="0">
                <a:solidFill>
                  <a:srgbClr val="87867F"/>
                </a:solidFill>
                <a:latin typeface="Calibri" pitchFamily="34" charset="0"/>
                <a:ea typeface="Calibri" pitchFamily="34" charset="-122"/>
                <a:cs typeface="Calibri" pitchFamily="34" charset="-120"/>
              </a:rPr>
              <a:t>46–48 min</a:t>
            </a:r>
            <a:endParaRPr lang="en-US" sz="1100" dirty="0"/>
          </a:p>
        </p:txBody>
      </p:sp>
      <p:sp>
        <p:nvSpPr>
          <p:cNvPr id="6" name="Shape 4"/>
          <p:cNvSpPr/>
          <p:nvPr/>
        </p:nvSpPr>
        <p:spPr>
          <a:xfrm>
            <a:off x="548640" y="1600200"/>
            <a:ext cx="11091672" cy="1051560"/>
          </a:xfrm>
          <a:prstGeom prst="roundRect">
            <a:avLst>
              <a:gd name="adj" fmla="val 10435"/>
            </a:avLst>
          </a:prstGeom>
          <a:solidFill>
            <a:srgbClr val="F0EEE6"/>
          </a:solidFill>
          <a:ln w="9525">
            <a:solidFill>
              <a:srgbClr val="E8E6DC"/>
            </a:solidFill>
            <a:prstDash val="solid"/>
          </a:ln>
        </p:spPr>
      </p:sp>
      <p:sp>
        <p:nvSpPr>
          <p:cNvPr id="7" name="Text 5"/>
          <p:cNvSpPr txBox="1"/>
          <p:nvPr/>
        </p:nvSpPr>
        <p:spPr>
          <a:xfrm>
            <a:off x="777240" y="1600200"/>
            <a:ext cx="10607040" cy="1051560"/>
          </a:xfrm>
          <a:prstGeom prst="rect">
            <a:avLst/>
          </a:prstGeom>
          <a:noFill/>
          <a:ln/>
        </p:spPr>
        <p:txBody>
          <a:bodyPr wrap="square" lIns="0" tIns="0" rIns="0" bIns="0" rtlCol="0" anchor="ctr"/>
          <a:lstStyle/>
          <a:p>
            <a:pPr indent="0" marL="0">
              <a:buNone/>
            </a:pPr>
            <a:r>
              <a:rPr lang="en-US" sz="1500" dirty="0">
                <a:solidFill>
                  <a:srgbClr val="141413"/>
                </a:solidFill>
                <a:latin typeface="Calibri" pitchFamily="34" charset="0"/>
                <a:ea typeface="Calibri" pitchFamily="34" charset="-122"/>
                <a:cs typeface="Calibri" pitchFamily="34" charset="-120"/>
              </a:rPr>
              <a:t>The agent achieves 55% first-contact resolution against an 80% target. It escalates straightforward cases while trying to handle complex situations that require policy exceptions. What is the most effective improvement?</a:t>
            </a:r>
            <a:endParaRPr lang="en-US" sz="1500" dirty="0"/>
          </a:p>
        </p:txBody>
      </p:sp>
      <p:sp>
        <p:nvSpPr>
          <p:cNvPr id="8" name="Shape 6"/>
          <p:cNvSpPr/>
          <p:nvPr/>
        </p:nvSpPr>
        <p:spPr>
          <a:xfrm>
            <a:off x="548640" y="2834640"/>
            <a:ext cx="5468112" cy="1143000"/>
          </a:xfrm>
          <a:prstGeom prst="roundRect">
            <a:avLst>
              <a:gd name="adj" fmla="val 9600"/>
            </a:avLst>
          </a:prstGeom>
          <a:solidFill>
            <a:srgbClr val="FFFFFF"/>
          </a:solidFill>
          <a:ln w="9525">
            <a:solidFill>
              <a:srgbClr val="E8E6DC"/>
            </a:solidFill>
            <a:prstDash val="solid"/>
          </a:ln>
        </p:spPr>
      </p:sp>
      <p:sp>
        <p:nvSpPr>
          <p:cNvPr id="9" name="Shape 7"/>
          <p:cNvSpPr/>
          <p:nvPr/>
        </p:nvSpPr>
        <p:spPr>
          <a:xfrm>
            <a:off x="731520" y="3182112"/>
            <a:ext cx="457200" cy="457200"/>
          </a:xfrm>
          <a:prstGeom prst="ellipse">
            <a:avLst/>
          </a:prstGeom>
          <a:solidFill>
            <a:srgbClr val="E8E6DC"/>
          </a:solidFill>
          <a:ln w="12700">
            <a:solidFill>
              <a:srgbClr val="E8E6DC"/>
            </a:solidFill>
            <a:prstDash val="solid"/>
          </a:ln>
        </p:spPr>
      </p:sp>
      <p:sp>
        <p:nvSpPr>
          <p:cNvPr id="10" name="Text 8"/>
          <p:cNvSpPr txBox="1"/>
          <p:nvPr/>
        </p:nvSpPr>
        <p:spPr>
          <a:xfrm>
            <a:off x="731520" y="3182112"/>
            <a:ext cx="457200" cy="457200"/>
          </a:xfrm>
          <a:prstGeom prst="rect">
            <a:avLst/>
          </a:prstGeom>
          <a:noFill/>
          <a:ln/>
        </p:spPr>
        <p:txBody>
          <a:bodyPr wrap="square" lIns="0" tIns="0" rIns="0" bIns="0" rtlCol="0" anchor="ctr"/>
          <a:lstStyle/>
          <a:p>
            <a:pPr algn="ctr" indent="0" marL="0">
              <a:buNone/>
            </a:pPr>
            <a:r>
              <a:rPr lang="en-US" sz="1600" b="1" dirty="0">
                <a:solidFill>
                  <a:srgbClr val="141413"/>
                </a:solidFill>
                <a:latin typeface="Cambria" pitchFamily="34" charset="0"/>
                <a:ea typeface="Cambria" pitchFamily="34" charset="-122"/>
                <a:cs typeface="Cambria" pitchFamily="34" charset="-120"/>
              </a:rPr>
              <a:t>A</a:t>
            </a:r>
            <a:endParaRPr lang="en-US" sz="1600" dirty="0"/>
          </a:p>
        </p:txBody>
      </p:sp>
      <p:sp>
        <p:nvSpPr>
          <p:cNvPr id="11" name="Text 9"/>
          <p:cNvSpPr txBox="1"/>
          <p:nvPr/>
        </p:nvSpPr>
        <p:spPr>
          <a:xfrm>
            <a:off x="1371600" y="2834640"/>
            <a:ext cx="4480560" cy="1143000"/>
          </a:xfrm>
          <a:prstGeom prst="rect">
            <a:avLst/>
          </a:prstGeom>
          <a:noFill/>
          <a:ln/>
        </p:spPr>
        <p:txBody>
          <a:bodyPr wrap="square" lIns="0" tIns="0" rIns="0" bIns="0" rtlCol="0" anchor="ctr"/>
          <a:lstStyle/>
          <a:p>
            <a:pPr indent="0" marL="0">
              <a:buNone/>
            </a:pPr>
            <a:r>
              <a:rPr lang="en-US" sz="1350" dirty="0">
                <a:solidFill>
                  <a:srgbClr val="141413"/>
                </a:solidFill>
                <a:latin typeface="Calibri" pitchFamily="34" charset="0"/>
                <a:ea typeface="Calibri" pitchFamily="34" charset="-122"/>
                <a:cs typeface="Calibri" pitchFamily="34" charset="-120"/>
              </a:rPr>
              <a:t>Add explicit escalation criteria with few-shot examples showing when to escalate and when to resolve.</a:t>
            </a:r>
            <a:endParaRPr lang="en-US" sz="1350" dirty="0"/>
          </a:p>
        </p:txBody>
      </p:sp>
      <p:sp>
        <p:nvSpPr>
          <p:cNvPr id="12" name="Shape 10"/>
          <p:cNvSpPr/>
          <p:nvPr/>
        </p:nvSpPr>
        <p:spPr>
          <a:xfrm>
            <a:off x="6172200" y="2834640"/>
            <a:ext cx="5468112" cy="1143000"/>
          </a:xfrm>
          <a:prstGeom prst="roundRect">
            <a:avLst>
              <a:gd name="adj" fmla="val 9600"/>
            </a:avLst>
          </a:prstGeom>
          <a:solidFill>
            <a:srgbClr val="FFFFFF"/>
          </a:solidFill>
          <a:ln w="9525">
            <a:solidFill>
              <a:srgbClr val="E8E6DC"/>
            </a:solidFill>
            <a:prstDash val="solid"/>
          </a:ln>
        </p:spPr>
      </p:sp>
      <p:sp>
        <p:nvSpPr>
          <p:cNvPr id="13" name="Shape 11"/>
          <p:cNvSpPr/>
          <p:nvPr/>
        </p:nvSpPr>
        <p:spPr>
          <a:xfrm>
            <a:off x="6355080" y="3182112"/>
            <a:ext cx="457200" cy="457200"/>
          </a:xfrm>
          <a:prstGeom prst="ellipse">
            <a:avLst/>
          </a:prstGeom>
          <a:solidFill>
            <a:srgbClr val="E8E6DC"/>
          </a:solidFill>
          <a:ln w="12700">
            <a:solidFill>
              <a:srgbClr val="E8E6DC"/>
            </a:solidFill>
            <a:prstDash val="solid"/>
          </a:ln>
        </p:spPr>
      </p:sp>
      <p:sp>
        <p:nvSpPr>
          <p:cNvPr id="14" name="Text 12"/>
          <p:cNvSpPr txBox="1"/>
          <p:nvPr/>
        </p:nvSpPr>
        <p:spPr>
          <a:xfrm>
            <a:off x="6355080" y="3182112"/>
            <a:ext cx="457200" cy="457200"/>
          </a:xfrm>
          <a:prstGeom prst="rect">
            <a:avLst/>
          </a:prstGeom>
          <a:noFill/>
          <a:ln/>
        </p:spPr>
        <p:txBody>
          <a:bodyPr wrap="square" lIns="0" tIns="0" rIns="0" bIns="0" rtlCol="0" anchor="ctr"/>
          <a:lstStyle/>
          <a:p>
            <a:pPr algn="ctr" indent="0" marL="0">
              <a:buNone/>
            </a:pPr>
            <a:r>
              <a:rPr lang="en-US" sz="1600" b="1" dirty="0">
                <a:solidFill>
                  <a:srgbClr val="141413"/>
                </a:solidFill>
                <a:latin typeface="Cambria" pitchFamily="34" charset="0"/>
                <a:ea typeface="Cambria" pitchFamily="34" charset="-122"/>
                <a:cs typeface="Cambria" pitchFamily="34" charset="-120"/>
              </a:rPr>
              <a:t>B</a:t>
            </a:r>
            <a:endParaRPr lang="en-US" sz="1600" dirty="0"/>
          </a:p>
        </p:txBody>
      </p:sp>
      <p:sp>
        <p:nvSpPr>
          <p:cNvPr id="15" name="Text 13"/>
          <p:cNvSpPr txBox="1"/>
          <p:nvPr/>
        </p:nvSpPr>
        <p:spPr>
          <a:xfrm>
            <a:off x="6995160" y="2834640"/>
            <a:ext cx="4480560" cy="1143000"/>
          </a:xfrm>
          <a:prstGeom prst="rect">
            <a:avLst/>
          </a:prstGeom>
          <a:noFill/>
          <a:ln/>
        </p:spPr>
        <p:txBody>
          <a:bodyPr wrap="square" lIns="0" tIns="0" rIns="0" bIns="0" rtlCol="0" anchor="ctr"/>
          <a:lstStyle/>
          <a:p>
            <a:pPr indent="0" marL="0">
              <a:buNone/>
            </a:pPr>
            <a:r>
              <a:rPr lang="en-US" sz="1350" dirty="0">
                <a:solidFill>
                  <a:srgbClr val="141413"/>
                </a:solidFill>
                <a:latin typeface="Calibri" pitchFamily="34" charset="0"/>
                <a:ea typeface="Calibri" pitchFamily="34" charset="-122"/>
                <a:cs typeface="Calibri" pitchFamily="34" charset="-120"/>
              </a:rPr>
              <a:t>Have the agent self-report a confidence score from 1 to 10 and route automatically below a threshold.</a:t>
            </a:r>
            <a:endParaRPr lang="en-US" sz="1350" dirty="0"/>
          </a:p>
        </p:txBody>
      </p:sp>
      <p:sp>
        <p:nvSpPr>
          <p:cNvPr id="16" name="Shape 14"/>
          <p:cNvSpPr/>
          <p:nvPr/>
        </p:nvSpPr>
        <p:spPr>
          <a:xfrm>
            <a:off x="548640" y="4114800"/>
            <a:ext cx="5468112" cy="1143000"/>
          </a:xfrm>
          <a:prstGeom prst="roundRect">
            <a:avLst>
              <a:gd name="adj" fmla="val 9600"/>
            </a:avLst>
          </a:prstGeom>
          <a:solidFill>
            <a:srgbClr val="FFFFFF"/>
          </a:solidFill>
          <a:ln w="9525">
            <a:solidFill>
              <a:srgbClr val="E8E6DC"/>
            </a:solidFill>
            <a:prstDash val="solid"/>
          </a:ln>
        </p:spPr>
      </p:sp>
      <p:sp>
        <p:nvSpPr>
          <p:cNvPr id="17" name="Shape 15"/>
          <p:cNvSpPr/>
          <p:nvPr/>
        </p:nvSpPr>
        <p:spPr>
          <a:xfrm>
            <a:off x="731520" y="4462272"/>
            <a:ext cx="457200" cy="457200"/>
          </a:xfrm>
          <a:prstGeom prst="ellipse">
            <a:avLst/>
          </a:prstGeom>
          <a:solidFill>
            <a:srgbClr val="E8E6DC"/>
          </a:solidFill>
          <a:ln w="12700">
            <a:solidFill>
              <a:srgbClr val="E8E6DC"/>
            </a:solidFill>
            <a:prstDash val="solid"/>
          </a:ln>
        </p:spPr>
      </p:sp>
      <p:sp>
        <p:nvSpPr>
          <p:cNvPr id="18" name="Text 16"/>
          <p:cNvSpPr txBox="1"/>
          <p:nvPr/>
        </p:nvSpPr>
        <p:spPr>
          <a:xfrm>
            <a:off x="731520" y="4462272"/>
            <a:ext cx="457200" cy="457200"/>
          </a:xfrm>
          <a:prstGeom prst="rect">
            <a:avLst/>
          </a:prstGeom>
          <a:noFill/>
          <a:ln/>
        </p:spPr>
        <p:txBody>
          <a:bodyPr wrap="square" lIns="0" tIns="0" rIns="0" bIns="0" rtlCol="0" anchor="ctr"/>
          <a:lstStyle/>
          <a:p>
            <a:pPr algn="ctr" indent="0" marL="0">
              <a:buNone/>
            </a:pPr>
            <a:r>
              <a:rPr lang="en-US" sz="1600" b="1" dirty="0">
                <a:solidFill>
                  <a:srgbClr val="141413"/>
                </a:solidFill>
                <a:latin typeface="Cambria" pitchFamily="34" charset="0"/>
                <a:ea typeface="Cambria" pitchFamily="34" charset="-122"/>
                <a:cs typeface="Cambria" pitchFamily="34" charset="-120"/>
              </a:rPr>
              <a:t>C</a:t>
            </a:r>
            <a:endParaRPr lang="en-US" sz="1600" dirty="0"/>
          </a:p>
        </p:txBody>
      </p:sp>
      <p:sp>
        <p:nvSpPr>
          <p:cNvPr id="19" name="Text 17"/>
          <p:cNvSpPr txBox="1"/>
          <p:nvPr/>
        </p:nvSpPr>
        <p:spPr>
          <a:xfrm>
            <a:off x="1371600" y="4114800"/>
            <a:ext cx="4480560" cy="1143000"/>
          </a:xfrm>
          <a:prstGeom prst="rect">
            <a:avLst/>
          </a:prstGeom>
          <a:noFill/>
          <a:ln/>
        </p:spPr>
        <p:txBody>
          <a:bodyPr wrap="square" lIns="0" tIns="0" rIns="0" bIns="0" rtlCol="0" anchor="ctr"/>
          <a:lstStyle/>
          <a:p>
            <a:pPr indent="0" marL="0">
              <a:buNone/>
            </a:pPr>
            <a:r>
              <a:rPr lang="en-US" sz="1350" dirty="0">
                <a:solidFill>
                  <a:srgbClr val="141413"/>
                </a:solidFill>
                <a:latin typeface="Calibri" pitchFamily="34" charset="0"/>
                <a:ea typeface="Calibri" pitchFamily="34" charset="-122"/>
                <a:cs typeface="Calibri" pitchFamily="34" charset="-120"/>
              </a:rPr>
              <a:t>Deploy a separate classifier trained on historical tickets to predict which cases need escalation.</a:t>
            </a:r>
            <a:endParaRPr lang="en-US" sz="1350" dirty="0"/>
          </a:p>
        </p:txBody>
      </p:sp>
      <p:sp>
        <p:nvSpPr>
          <p:cNvPr id="20" name="Shape 18"/>
          <p:cNvSpPr/>
          <p:nvPr/>
        </p:nvSpPr>
        <p:spPr>
          <a:xfrm>
            <a:off x="6172200" y="4114800"/>
            <a:ext cx="5468112" cy="1143000"/>
          </a:xfrm>
          <a:prstGeom prst="roundRect">
            <a:avLst>
              <a:gd name="adj" fmla="val 9600"/>
            </a:avLst>
          </a:prstGeom>
          <a:solidFill>
            <a:srgbClr val="FFFFFF"/>
          </a:solidFill>
          <a:ln w="9525">
            <a:solidFill>
              <a:srgbClr val="E8E6DC"/>
            </a:solidFill>
            <a:prstDash val="solid"/>
          </a:ln>
        </p:spPr>
      </p:sp>
      <p:sp>
        <p:nvSpPr>
          <p:cNvPr id="21" name="Shape 19"/>
          <p:cNvSpPr/>
          <p:nvPr/>
        </p:nvSpPr>
        <p:spPr>
          <a:xfrm>
            <a:off x="6355080" y="4462272"/>
            <a:ext cx="457200" cy="457200"/>
          </a:xfrm>
          <a:prstGeom prst="ellipse">
            <a:avLst/>
          </a:prstGeom>
          <a:solidFill>
            <a:srgbClr val="E8E6DC"/>
          </a:solidFill>
          <a:ln w="12700">
            <a:solidFill>
              <a:srgbClr val="E8E6DC"/>
            </a:solidFill>
            <a:prstDash val="solid"/>
          </a:ln>
        </p:spPr>
      </p:sp>
      <p:sp>
        <p:nvSpPr>
          <p:cNvPr id="22" name="Text 20"/>
          <p:cNvSpPr txBox="1"/>
          <p:nvPr/>
        </p:nvSpPr>
        <p:spPr>
          <a:xfrm>
            <a:off x="6355080" y="4462272"/>
            <a:ext cx="457200" cy="457200"/>
          </a:xfrm>
          <a:prstGeom prst="rect">
            <a:avLst/>
          </a:prstGeom>
          <a:noFill/>
          <a:ln/>
        </p:spPr>
        <p:txBody>
          <a:bodyPr wrap="square" lIns="0" tIns="0" rIns="0" bIns="0" rtlCol="0" anchor="ctr"/>
          <a:lstStyle/>
          <a:p>
            <a:pPr algn="ctr" indent="0" marL="0">
              <a:buNone/>
            </a:pPr>
            <a:r>
              <a:rPr lang="en-US" sz="1600" b="1" dirty="0">
                <a:solidFill>
                  <a:srgbClr val="141413"/>
                </a:solidFill>
                <a:latin typeface="Cambria" pitchFamily="34" charset="0"/>
                <a:ea typeface="Cambria" pitchFamily="34" charset="-122"/>
                <a:cs typeface="Cambria" pitchFamily="34" charset="-120"/>
              </a:rPr>
              <a:t>D</a:t>
            </a:r>
            <a:endParaRPr lang="en-US" sz="1600" dirty="0"/>
          </a:p>
        </p:txBody>
      </p:sp>
      <p:sp>
        <p:nvSpPr>
          <p:cNvPr id="23" name="Text 21"/>
          <p:cNvSpPr txBox="1"/>
          <p:nvPr/>
        </p:nvSpPr>
        <p:spPr>
          <a:xfrm>
            <a:off x="6995160" y="4114800"/>
            <a:ext cx="4480560" cy="1143000"/>
          </a:xfrm>
          <a:prstGeom prst="rect">
            <a:avLst/>
          </a:prstGeom>
          <a:noFill/>
          <a:ln/>
        </p:spPr>
        <p:txBody>
          <a:bodyPr wrap="square" lIns="0" tIns="0" rIns="0" bIns="0" rtlCol="0" anchor="ctr"/>
          <a:lstStyle/>
          <a:p>
            <a:pPr indent="0" marL="0">
              <a:buNone/>
            </a:pPr>
            <a:r>
              <a:rPr lang="en-US" sz="1350" dirty="0">
                <a:solidFill>
                  <a:srgbClr val="141413"/>
                </a:solidFill>
                <a:latin typeface="Calibri" pitchFamily="34" charset="0"/>
                <a:ea typeface="Calibri" pitchFamily="34" charset="-122"/>
                <a:cs typeface="Calibri" pitchFamily="34" charset="-120"/>
              </a:rPr>
              <a:t>Implement sentiment analysis to detect frustration and escalate automatically.</a:t>
            </a:r>
            <a:endParaRPr lang="en-US" sz="1350" dirty="0"/>
          </a:p>
        </p:txBody>
      </p:sp>
      <p:sp>
        <p:nvSpPr>
          <p:cNvPr id="24" name="Text 22"/>
          <p:cNvSpPr txBox="1"/>
          <p:nvPr/>
        </p:nvSpPr>
        <p:spPr>
          <a:xfrm>
            <a:off x="548640" y="5532120"/>
            <a:ext cx="11091672" cy="640080"/>
          </a:xfrm>
          <a:prstGeom prst="rect">
            <a:avLst/>
          </a:prstGeom>
          <a:noFill/>
          <a:ln/>
        </p:spPr>
        <p:txBody>
          <a:bodyPr wrap="square" lIns="0" tIns="0" rIns="0" bIns="0" rtlCol="0" anchor="ctr"/>
          <a:lstStyle/>
          <a:p>
            <a:pPr indent="0" marL="0">
              <a:buNone/>
            </a:pPr>
            <a:r>
              <a:rPr lang="en-US" sz="1400" i="1" dirty="0">
                <a:solidFill>
                  <a:srgbClr val="B85C3E"/>
                </a:solidFill>
                <a:latin typeface="Calibri" pitchFamily="34" charset="0"/>
                <a:ea typeface="Calibri" pitchFamily="34" charset="-122"/>
                <a:cs typeface="Calibri" pitchFamily="34" charset="-120"/>
              </a:rPr>
              <a:t>Two minutes again. Which option matches the root cause, and which ones sound modern but skip it?</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548640" y="365760"/>
            <a:ext cx="8686800" cy="274320"/>
          </a:xfrm>
          <a:prstGeom prst="rect">
            <a:avLst/>
          </a:prstGeom>
          <a:noFill/>
          <a:ln/>
        </p:spPr>
        <p:txBody>
          <a:bodyPr wrap="square" lIns="0" tIns="0" rIns="0" bIns="0"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SCENARIO 1  ·  CUSTOMER SUPPORT RESOLUTION AGENT</a:t>
            </a:r>
            <a:endParaRPr lang="en-US" sz="1200" dirty="0"/>
          </a:p>
        </p:txBody>
      </p:sp>
      <p:sp>
        <p:nvSpPr>
          <p:cNvPr id="3" name="Text 1"/>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200" dirty="0">
                <a:solidFill>
                  <a:srgbClr val="141413"/>
                </a:solidFill>
                <a:latin typeface="Cambria" pitchFamily="34" charset="0"/>
                <a:ea typeface="Cambria" pitchFamily="34" charset="-122"/>
                <a:cs typeface="Cambria" pitchFamily="34" charset="-120"/>
              </a:rPr>
              <a:t>Q3 analysis: unclear decision boundaries</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87867F"/>
                </a:solidFill>
                <a:latin typeface="Calibri" pitchFamily="34" charset="0"/>
                <a:ea typeface="Calibri" pitchFamily="34" charset="-122"/>
                <a:cs typeface="Calibri" pitchFamily="34" charset="-120"/>
              </a:rPr>
              <a:t>CCAR-F Skills Curriculum  ·  Session 1  ·  23</a:t>
            </a:r>
            <a:endParaRPr lang="en-US" sz="1000" dirty="0"/>
          </a:p>
        </p:txBody>
      </p:sp>
      <p:sp>
        <p:nvSpPr>
          <p:cNvPr id="5" name="Text 3"/>
          <p:cNvSpPr txBox="1"/>
          <p:nvPr/>
        </p:nvSpPr>
        <p:spPr>
          <a:xfrm>
            <a:off x="8869680" y="365760"/>
            <a:ext cx="2770632" cy="274320"/>
          </a:xfrm>
          <a:prstGeom prst="rect">
            <a:avLst/>
          </a:prstGeom>
          <a:noFill/>
          <a:ln/>
        </p:spPr>
        <p:txBody>
          <a:bodyPr wrap="square" lIns="0" tIns="0" rIns="0" bIns="0" rtlCol="0" anchor="ctr"/>
          <a:lstStyle/>
          <a:p>
            <a:pPr algn="r" indent="0" marL="0">
              <a:buNone/>
            </a:pPr>
            <a:r>
              <a:rPr lang="en-US" sz="1100" dirty="0">
                <a:solidFill>
                  <a:srgbClr val="87867F"/>
                </a:solidFill>
                <a:latin typeface="Calibri" pitchFamily="34" charset="0"/>
                <a:ea typeface="Calibri" pitchFamily="34" charset="-122"/>
                <a:cs typeface="Calibri" pitchFamily="34" charset="-120"/>
              </a:rPr>
              <a:t>48–51 min</a:t>
            </a:r>
            <a:endParaRPr lang="en-US" sz="1100" dirty="0"/>
          </a:p>
        </p:txBody>
      </p:sp>
      <p:sp>
        <p:nvSpPr>
          <p:cNvPr id="6" name="Shape 4"/>
          <p:cNvSpPr/>
          <p:nvPr/>
        </p:nvSpPr>
        <p:spPr>
          <a:xfrm>
            <a:off x="548640" y="1600200"/>
            <a:ext cx="7680960" cy="822960"/>
          </a:xfrm>
          <a:prstGeom prst="roundRect">
            <a:avLst>
              <a:gd name="adj" fmla="val 13333"/>
            </a:avLst>
          </a:prstGeom>
          <a:solidFill>
            <a:srgbClr val="E6ECDD"/>
          </a:solidFill>
          <a:ln w="9525">
            <a:solidFill>
              <a:srgbClr val="788C5D"/>
            </a:solidFill>
            <a:prstDash val="solid"/>
          </a:ln>
        </p:spPr>
      </p:sp>
      <p:sp>
        <p:nvSpPr>
          <p:cNvPr id="7" name="Shape 5"/>
          <p:cNvSpPr/>
          <p:nvPr/>
        </p:nvSpPr>
        <p:spPr>
          <a:xfrm>
            <a:off x="731520" y="1783080"/>
            <a:ext cx="457200" cy="457200"/>
          </a:xfrm>
          <a:prstGeom prst="ellipse">
            <a:avLst/>
          </a:prstGeom>
          <a:solidFill>
            <a:srgbClr val="788C5D"/>
          </a:solidFill>
          <a:ln w="12700">
            <a:solidFill>
              <a:srgbClr val="788C5D"/>
            </a:solidFill>
            <a:prstDash val="solid"/>
          </a:ln>
        </p:spPr>
      </p:sp>
      <p:sp>
        <p:nvSpPr>
          <p:cNvPr id="8" name="Text 6"/>
          <p:cNvSpPr txBox="1"/>
          <p:nvPr/>
        </p:nvSpPr>
        <p:spPr>
          <a:xfrm>
            <a:off x="731520" y="1783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a:t>
            </a:r>
            <a:endParaRPr lang="en-US" sz="1600" dirty="0"/>
          </a:p>
        </p:txBody>
      </p:sp>
      <p:sp>
        <p:nvSpPr>
          <p:cNvPr id="9" name="Text 7"/>
          <p:cNvSpPr txBox="1"/>
          <p:nvPr/>
        </p:nvSpPr>
        <p:spPr>
          <a:xfrm>
            <a:off x="1371600" y="1600200"/>
            <a:ext cx="2103120" cy="822960"/>
          </a:xfrm>
          <a:prstGeom prst="rect">
            <a:avLst/>
          </a:prstGeom>
          <a:noFill/>
          <a:ln/>
        </p:spPr>
        <p:txBody>
          <a:bodyPr wrap="square" lIns="0" tIns="0" rIns="0" bIns="0" rtlCol="0" anchor="ctr"/>
          <a:lstStyle/>
          <a:p>
            <a:pPr indent="0" marL="0">
              <a:buNone/>
            </a:pPr>
            <a:r>
              <a:rPr lang="en-US" sz="1400" dirty="0">
                <a:solidFill>
                  <a:srgbClr val="141413"/>
                </a:solidFill>
                <a:latin typeface="Cambria" pitchFamily="34" charset="0"/>
                <a:ea typeface="Cambria" pitchFamily="34" charset="-122"/>
                <a:cs typeface="Cambria" pitchFamily="34" charset="-120"/>
              </a:rPr>
              <a:t>Explicit criteria + few-shot</a:t>
            </a:r>
            <a:endParaRPr lang="en-US" sz="1400" dirty="0"/>
          </a:p>
        </p:txBody>
      </p:sp>
      <p:sp>
        <p:nvSpPr>
          <p:cNvPr id="10" name="Text 8"/>
          <p:cNvSpPr txBox="1"/>
          <p:nvPr/>
        </p:nvSpPr>
        <p:spPr>
          <a:xfrm>
            <a:off x="3474720" y="1600200"/>
            <a:ext cx="4617720" cy="822960"/>
          </a:xfrm>
          <a:prstGeom prst="rect">
            <a:avLst/>
          </a:prstGeom>
          <a:noFill/>
          <a:ln/>
        </p:spPr>
        <p:txBody>
          <a:bodyPr wrap="square" lIns="0" tIns="0" rIns="0" bIns="0" rtlCol="0" anchor="ctr"/>
          <a:lstStyle/>
          <a:p>
            <a:pPr indent="0" marL="0">
              <a:buNone/>
            </a:pPr>
            <a:r>
              <a:rPr lang="en-US" sz="1200" dirty="0">
                <a:solidFill>
                  <a:srgbClr val="5E5D59"/>
                </a:solidFill>
                <a:latin typeface="Calibri" pitchFamily="34" charset="0"/>
                <a:ea typeface="Calibri" pitchFamily="34" charset="-122"/>
                <a:cs typeface="Calibri" pitchFamily="34" charset="-120"/>
              </a:rPr>
              <a:t>Correct. The root cause is unclear decision boundaries. Criteria and examples address it directly.</a:t>
            </a:r>
            <a:endParaRPr lang="en-US" sz="1200" dirty="0"/>
          </a:p>
        </p:txBody>
      </p:sp>
      <p:sp>
        <p:nvSpPr>
          <p:cNvPr id="11" name="Shape 9"/>
          <p:cNvSpPr/>
          <p:nvPr/>
        </p:nvSpPr>
        <p:spPr>
          <a:xfrm>
            <a:off x="548640" y="2532888"/>
            <a:ext cx="7680960" cy="822960"/>
          </a:xfrm>
          <a:prstGeom prst="roundRect">
            <a:avLst>
              <a:gd name="adj" fmla="val 13333"/>
            </a:avLst>
          </a:prstGeom>
          <a:solidFill>
            <a:srgbClr val="FFFFFF"/>
          </a:solidFill>
          <a:ln w="9525">
            <a:solidFill>
              <a:srgbClr val="E8E6DC"/>
            </a:solidFill>
            <a:prstDash val="solid"/>
          </a:ln>
        </p:spPr>
      </p:sp>
      <p:sp>
        <p:nvSpPr>
          <p:cNvPr id="12" name="Shape 10"/>
          <p:cNvSpPr/>
          <p:nvPr/>
        </p:nvSpPr>
        <p:spPr>
          <a:xfrm>
            <a:off x="731520" y="2715768"/>
            <a:ext cx="457200" cy="457200"/>
          </a:xfrm>
          <a:prstGeom prst="ellipse">
            <a:avLst/>
          </a:prstGeom>
          <a:solidFill>
            <a:srgbClr val="E8E6DC"/>
          </a:solidFill>
          <a:ln w="12700">
            <a:solidFill>
              <a:srgbClr val="E8E6DC"/>
            </a:solidFill>
            <a:prstDash val="solid"/>
          </a:ln>
        </p:spPr>
      </p:sp>
      <p:sp>
        <p:nvSpPr>
          <p:cNvPr id="13" name="Text 11"/>
          <p:cNvSpPr txBox="1"/>
          <p:nvPr/>
        </p:nvSpPr>
        <p:spPr>
          <a:xfrm>
            <a:off x="731520" y="2715768"/>
            <a:ext cx="457200" cy="457200"/>
          </a:xfrm>
          <a:prstGeom prst="rect">
            <a:avLst/>
          </a:prstGeom>
          <a:noFill/>
          <a:ln/>
        </p:spPr>
        <p:txBody>
          <a:bodyPr wrap="square" lIns="0" tIns="0" rIns="0" bIns="0" rtlCol="0" anchor="ctr"/>
          <a:lstStyle/>
          <a:p>
            <a:pPr algn="ctr" indent="0" marL="0">
              <a:buNone/>
            </a:pPr>
            <a:r>
              <a:rPr lang="en-US" sz="1600" b="1" dirty="0">
                <a:solidFill>
                  <a:srgbClr val="141413"/>
                </a:solidFill>
                <a:latin typeface="Cambria" pitchFamily="34" charset="0"/>
                <a:ea typeface="Cambria" pitchFamily="34" charset="-122"/>
                <a:cs typeface="Cambria" pitchFamily="34" charset="-120"/>
              </a:rPr>
              <a:t>B</a:t>
            </a:r>
            <a:endParaRPr lang="en-US" sz="1600" dirty="0"/>
          </a:p>
        </p:txBody>
      </p:sp>
      <p:sp>
        <p:nvSpPr>
          <p:cNvPr id="14" name="Text 12"/>
          <p:cNvSpPr txBox="1"/>
          <p:nvPr/>
        </p:nvSpPr>
        <p:spPr>
          <a:xfrm>
            <a:off x="1371600" y="2532888"/>
            <a:ext cx="2103120" cy="822960"/>
          </a:xfrm>
          <a:prstGeom prst="rect">
            <a:avLst/>
          </a:prstGeom>
          <a:noFill/>
          <a:ln/>
        </p:spPr>
        <p:txBody>
          <a:bodyPr wrap="square" lIns="0" tIns="0" rIns="0" bIns="0" rtlCol="0" anchor="ctr"/>
          <a:lstStyle/>
          <a:p>
            <a:pPr indent="0" marL="0">
              <a:buNone/>
            </a:pPr>
            <a:r>
              <a:rPr lang="en-US" sz="1400" dirty="0">
                <a:solidFill>
                  <a:srgbClr val="141413"/>
                </a:solidFill>
                <a:latin typeface="Cambria" pitchFamily="34" charset="0"/>
                <a:ea typeface="Cambria" pitchFamily="34" charset="-122"/>
                <a:cs typeface="Cambria" pitchFamily="34" charset="-120"/>
              </a:rPr>
              <a:t>Self-reported confidence</a:t>
            </a:r>
            <a:endParaRPr lang="en-US" sz="1400" dirty="0"/>
          </a:p>
        </p:txBody>
      </p:sp>
      <p:sp>
        <p:nvSpPr>
          <p:cNvPr id="15" name="Text 13"/>
          <p:cNvSpPr txBox="1"/>
          <p:nvPr/>
        </p:nvSpPr>
        <p:spPr>
          <a:xfrm>
            <a:off x="3474720" y="2532888"/>
            <a:ext cx="4617720" cy="822960"/>
          </a:xfrm>
          <a:prstGeom prst="rect">
            <a:avLst/>
          </a:prstGeom>
          <a:noFill/>
          <a:ln/>
        </p:spPr>
        <p:txBody>
          <a:bodyPr wrap="square" lIns="0" tIns="0" rIns="0" bIns="0" rtlCol="0" anchor="ctr"/>
          <a:lstStyle/>
          <a:p>
            <a:pPr indent="0" marL="0">
              <a:buNone/>
            </a:pPr>
            <a:r>
              <a:rPr lang="en-US" sz="1200" dirty="0">
                <a:solidFill>
                  <a:srgbClr val="5E5D59"/>
                </a:solidFill>
                <a:latin typeface="Calibri" pitchFamily="34" charset="0"/>
                <a:ea typeface="Calibri" pitchFamily="34" charset="-122"/>
                <a:cs typeface="Calibri" pitchFamily="34" charset="-120"/>
              </a:rPr>
              <a:t>The agent is already misjudging difficulty. A self-score inherits the same blind spot. Calibration comes in Session 15.</a:t>
            </a:r>
            <a:endParaRPr lang="en-US" sz="1200" dirty="0"/>
          </a:p>
        </p:txBody>
      </p:sp>
      <p:sp>
        <p:nvSpPr>
          <p:cNvPr id="16" name="Shape 14"/>
          <p:cNvSpPr/>
          <p:nvPr/>
        </p:nvSpPr>
        <p:spPr>
          <a:xfrm>
            <a:off x="548640" y="3465576"/>
            <a:ext cx="7680960" cy="822960"/>
          </a:xfrm>
          <a:prstGeom prst="roundRect">
            <a:avLst>
              <a:gd name="adj" fmla="val 13333"/>
            </a:avLst>
          </a:prstGeom>
          <a:solidFill>
            <a:srgbClr val="FFFFFF"/>
          </a:solidFill>
          <a:ln w="9525">
            <a:solidFill>
              <a:srgbClr val="E8E6DC"/>
            </a:solidFill>
            <a:prstDash val="solid"/>
          </a:ln>
        </p:spPr>
      </p:sp>
      <p:sp>
        <p:nvSpPr>
          <p:cNvPr id="17" name="Shape 15"/>
          <p:cNvSpPr/>
          <p:nvPr/>
        </p:nvSpPr>
        <p:spPr>
          <a:xfrm>
            <a:off x="731520" y="3648456"/>
            <a:ext cx="457200" cy="457200"/>
          </a:xfrm>
          <a:prstGeom prst="ellipse">
            <a:avLst/>
          </a:prstGeom>
          <a:solidFill>
            <a:srgbClr val="E8E6DC"/>
          </a:solidFill>
          <a:ln w="12700">
            <a:solidFill>
              <a:srgbClr val="E8E6DC"/>
            </a:solidFill>
            <a:prstDash val="solid"/>
          </a:ln>
        </p:spPr>
      </p:sp>
      <p:sp>
        <p:nvSpPr>
          <p:cNvPr id="18" name="Text 16"/>
          <p:cNvSpPr txBox="1"/>
          <p:nvPr/>
        </p:nvSpPr>
        <p:spPr>
          <a:xfrm>
            <a:off x="731520" y="3648456"/>
            <a:ext cx="457200" cy="457200"/>
          </a:xfrm>
          <a:prstGeom prst="rect">
            <a:avLst/>
          </a:prstGeom>
          <a:noFill/>
          <a:ln/>
        </p:spPr>
        <p:txBody>
          <a:bodyPr wrap="square" lIns="0" tIns="0" rIns="0" bIns="0" rtlCol="0" anchor="ctr"/>
          <a:lstStyle/>
          <a:p>
            <a:pPr algn="ctr" indent="0" marL="0">
              <a:buNone/>
            </a:pPr>
            <a:r>
              <a:rPr lang="en-US" sz="1600" b="1" dirty="0">
                <a:solidFill>
                  <a:srgbClr val="141413"/>
                </a:solidFill>
                <a:latin typeface="Cambria" pitchFamily="34" charset="0"/>
                <a:ea typeface="Cambria" pitchFamily="34" charset="-122"/>
                <a:cs typeface="Cambria" pitchFamily="34" charset="-120"/>
              </a:rPr>
              <a:t>C</a:t>
            </a:r>
            <a:endParaRPr lang="en-US" sz="1600" dirty="0"/>
          </a:p>
        </p:txBody>
      </p:sp>
      <p:sp>
        <p:nvSpPr>
          <p:cNvPr id="19" name="Text 17"/>
          <p:cNvSpPr txBox="1"/>
          <p:nvPr/>
        </p:nvSpPr>
        <p:spPr>
          <a:xfrm>
            <a:off x="1371600" y="3465576"/>
            <a:ext cx="2103120" cy="822960"/>
          </a:xfrm>
          <a:prstGeom prst="rect">
            <a:avLst/>
          </a:prstGeom>
          <a:noFill/>
          <a:ln/>
        </p:spPr>
        <p:txBody>
          <a:bodyPr wrap="square" lIns="0" tIns="0" rIns="0" bIns="0" rtlCol="0" anchor="ctr"/>
          <a:lstStyle/>
          <a:p>
            <a:pPr indent="0" marL="0">
              <a:buNone/>
            </a:pPr>
            <a:r>
              <a:rPr lang="en-US" sz="1400" dirty="0">
                <a:solidFill>
                  <a:srgbClr val="141413"/>
                </a:solidFill>
                <a:latin typeface="Cambria" pitchFamily="34" charset="0"/>
                <a:ea typeface="Cambria" pitchFamily="34" charset="-122"/>
                <a:cs typeface="Cambria" pitchFamily="34" charset="-120"/>
              </a:rPr>
              <a:t>Trained classifier</a:t>
            </a:r>
            <a:endParaRPr lang="en-US" sz="1400" dirty="0"/>
          </a:p>
        </p:txBody>
      </p:sp>
      <p:sp>
        <p:nvSpPr>
          <p:cNvPr id="20" name="Text 18"/>
          <p:cNvSpPr txBox="1"/>
          <p:nvPr/>
        </p:nvSpPr>
        <p:spPr>
          <a:xfrm>
            <a:off x="3474720" y="3465576"/>
            <a:ext cx="4617720" cy="822960"/>
          </a:xfrm>
          <a:prstGeom prst="rect">
            <a:avLst/>
          </a:prstGeom>
          <a:noFill/>
          <a:ln/>
        </p:spPr>
        <p:txBody>
          <a:bodyPr wrap="square" lIns="0" tIns="0" rIns="0" bIns="0" rtlCol="0" anchor="ctr"/>
          <a:lstStyle/>
          <a:p>
            <a:pPr indent="0" marL="0">
              <a:buNone/>
            </a:pPr>
            <a:r>
              <a:rPr lang="en-US" sz="1200" dirty="0">
                <a:solidFill>
                  <a:srgbClr val="5E5D59"/>
                </a:solidFill>
                <a:latin typeface="Calibri" pitchFamily="34" charset="0"/>
                <a:ea typeface="Calibri" pitchFamily="34" charset="-122"/>
                <a:cs typeface="Calibri" pitchFamily="34" charset="-120"/>
              </a:rPr>
              <a:t>Over-engineered: labeled data, training and hosting for a problem a prompt-level fix can address.</a:t>
            </a:r>
            <a:endParaRPr lang="en-US" sz="1200" dirty="0"/>
          </a:p>
        </p:txBody>
      </p:sp>
      <p:sp>
        <p:nvSpPr>
          <p:cNvPr id="21" name="Shape 19"/>
          <p:cNvSpPr/>
          <p:nvPr/>
        </p:nvSpPr>
        <p:spPr>
          <a:xfrm>
            <a:off x="548640" y="4398264"/>
            <a:ext cx="7680960" cy="822960"/>
          </a:xfrm>
          <a:prstGeom prst="roundRect">
            <a:avLst>
              <a:gd name="adj" fmla="val 13333"/>
            </a:avLst>
          </a:prstGeom>
          <a:solidFill>
            <a:srgbClr val="FFFFFF"/>
          </a:solidFill>
          <a:ln w="9525">
            <a:solidFill>
              <a:srgbClr val="E8E6DC"/>
            </a:solidFill>
            <a:prstDash val="solid"/>
          </a:ln>
        </p:spPr>
      </p:sp>
      <p:sp>
        <p:nvSpPr>
          <p:cNvPr id="22" name="Shape 20"/>
          <p:cNvSpPr/>
          <p:nvPr/>
        </p:nvSpPr>
        <p:spPr>
          <a:xfrm>
            <a:off x="731520" y="4581144"/>
            <a:ext cx="457200" cy="457200"/>
          </a:xfrm>
          <a:prstGeom prst="ellipse">
            <a:avLst/>
          </a:prstGeom>
          <a:solidFill>
            <a:srgbClr val="E8E6DC"/>
          </a:solidFill>
          <a:ln w="12700">
            <a:solidFill>
              <a:srgbClr val="E8E6DC"/>
            </a:solidFill>
            <a:prstDash val="solid"/>
          </a:ln>
        </p:spPr>
      </p:sp>
      <p:sp>
        <p:nvSpPr>
          <p:cNvPr id="23" name="Text 21"/>
          <p:cNvSpPr txBox="1"/>
          <p:nvPr/>
        </p:nvSpPr>
        <p:spPr>
          <a:xfrm>
            <a:off x="731520" y="4581144"/>
            <a:ext cx="457200" cy="457200"/>
          </a:xfrm>
          <a:prstGeom prst="rect">
            <a:avLst/>
          </a:prstGeom>
          <a:noFill/>
          <a:ln/>
        </p:spPr>
        <p:txBody>
          <a:bodyPr wrap="square" lIns="0" tIns="0" rIns="0" bIns="0" rtlCol="0" anchor="ctr"/>
          <a:lstStyle/>
          <a:p>
            <a:pPr algn="ctr" indent="0" marL="0">
              <a:buNone/>
            </a:pPr>
            <a:r>
              <a:rPr lang="en-US" sz="1600" b="1" dirty="0">
                <a:solidFill>
                  <a:srgbClr val="141413"/>
                </a:solidFill>
                <a:latin typeface="Cambria" pitchFamily="34" charset="0"/>
                <a:ea typeface="Cambria" pitchFamily="34" charset="-122"/>
                <a:cs typeface="Cambria" pitchFamily="34" charset="-120"/>
              </a:rPr>
              <a:t>D</a:t>
            </a:r>
            <a:endParaRPr lang="en-US" sz="1600" dirty="0"/>
          </a:p>
        </p:txBody>
      </p:sp>
      <p:sp>
        <p:nvSpPr>
          <p:cNvPr id="24" name="Text 22"/>
          <p:cNvSpPr txBox="1"/>
          <p:nvPr/>
        </p:nvSpPr>
        <p:spPr>
          <a:xfrm>
            <a:off x="1371600" y="4398264"/>
            <a:ext cx="2103120" cy="822960"/>
          </a:xfrm>
          <a:prstGeom prst="rect">
            <a:avLst/>
          </a:prstGeom>
          <a:noFill/>
          <a:ln/>
        </p:spPr>
        <p:txBody>
          <a:bodyPr wrap="square" lIns="0" tIns="0" rIns="0" bIns="0" rtlCol="0" anchor="ctr"/>
          <a:lstStyle/>
          <a:p>
            <a:pPr indent="0" marL="0">
              <a:buNone/>
            </a:pPr>
            <a:r>
              <a:rPr lang="en-US" sz="1400" dirty="0">
                <a:solidFill>
                  <a:srgbClr val="141413"/>
                </a:solidFill>
                <a:latin typeface="Cambria" pitchFamily="34" charset="0"/>
                <a:ea typeface="Cambria" pitchFamily="34" charset="-122"/>
                <a:cs typeface="Cambria" pitchFamily="34" charset="-120"/>
              </a:rPr>
              <a:t>Sentiment analysis</a:t>
            </a:r>
            <a:endParaRPr lang="en-US" sz="1400" dirty="0"/>
          </a:p>
        </p:txBody>
      </p:sp>
      <p:sp>
        <p:nvSpPr>
          <p:cNvPr id="25" name="Text 23"/>
          <p:cNvSpPr txBox="1"/>
          <p:nvPr/>
        </p:nvSpPr>
        <p:spPr>
          <a:xfrm>
            <a:off x="3474720" y="4398264"/>
            <a:ext cx="4617720" cy="822960"/>
          </a:xfrm>
          <a:prstGeom prst="rect">
            <a:avLst/>
          </a:prstGeom>
          <a:noFill/>
          <a:ln/>
        </p:spPr>
        <p:txBody>
          <a:bodyPr wrap="square" lIns="0" tIns="0" rIns="0" bIns="0" rtlCol="0" anchor="ctr"/>
          <a:lstStyle/>
          <a:p>
            <a:pPr indent="0" marL="0">
              <a:buNone/>
            </a:pPr>
            <a:r>
              <a:rPr lang="en-US" sz="1200" dirty="0">
                <a:solidFill>
                  <a:srgbClr val="5E5D59"/>
                </a:solidFill>
                <a:latin typeface="Calibri" pitchFamily="34" charset="0"/>
                <a:ea typeface="Calibri" pitchFamily="34" charset="-122"/>
                <a:cs typeface="Calibri" pitchFamily="34" charset="-120"/>
              </a:rPr>
              <a:t>Frustration is not complexity. A calm customer can need a policy exception. Revisited in Session 6.</a:t>
            </a:r>
            <a:endParaRPr lang="en-US" sz="1200" dirty="0"/>
          </a:p>
        </p:txBody>
      </p:sp>
      <p:sp>
        <p:nvSpPr>
          <p:cNvPr id="26" name="Shape 24"/>
          <p:cNvSpPr/>
          <p:nvPr/>
        </p:nvSpPr>
        <p:spPr>
          <a:xfrm>
            <a:off x="8503920" y="1600200"/>
            <a:ext cx="3136392" cy="3639312"/>
          </a:xfrm>
          <a:prstGeom prst="roundRect">
            <a:avLst>
              <a:gd name="adj" fmla="val 3499"/>
            </a:avLst>
          </a:prstGeom>
          <a:solidFill>
            <a:srgbClr val="F6E4DB"/>
          </a:solidFill>
          <a:ln w="9525">
            <a:solidFill>
              <a:srgbClr val="F6E4DB"/>
            </a:solidFill>
            <a:prstDash val="solid"/>
          </a:ln>
        </p:spPr>
      </p:sp>
      <p:sp>
        <p:nvSpPr>
          <p:cNvPr id="27" name="Text 25"/>
          <p:cNvSpPr txBox="1"/>
          <p:nvPr/>
        </p:nvSpPr>
        <p:spPr>
          <a:xfrm>
            <a:off x="8732520" y="1737360"/>
            <a:ext cx="2743200" cy="320040"/>
          </a:xfrm>
          <a:prstGeom prst="rect">
            <a:avLst/>
          </a:prstGeom>
          <a:noFill/>
          <a:ln/>
        </p:spPr>
        <p:txBody>
          <a:bodyPr wrap="square" lIns="0" tIns="0" rIns="0" bIns="0" rtlCol="0" anchor="ctr"/>
          <a:lstStyle/>
          <a:p>
            <a:pPr indent="0" marL="0">
              <a:buNone/>
            </a:pPr>
            <a:r>
              <a:rPr lang="en-US" sz="1600" dirty="0">
                <a:solidFill>
                  <a:srgbClr val="B85C3E"/>
                </a:solidFill>
                <a:latin typeface="Cambria" pitchFamily="34" charset="0"/>
                <a:ea typeface="Cambria" pitchFamily="34" charset="-122"/>
                <a:cs typeface="Cambria" pitchFamily="34" charset="-120"/>
              </a:rPr>
              <a:t>Method applied</a:t>
            </a:r>
            <a:endParaRPr lang="en-US" sz="1600" dirty="0"/>
          </a:p>
        </p:txBody>
      </p:sp>
      <p:sp>
        <p:nvSpPr>
          <p:cNvPr id="28" name="Text 26"/>
          <p:cNvSpPr txBox="1"/>
          <p:nvPr/>
        </p:nvSpPr>
        <p:spPr>
          <a:xfrm>
            <a:off x="8732520" y="2148840"/>
            <a:ext cx="2743200" cy="29260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41413"/>
                </a:solidFill>
                <a:latin typeface="Calibri" pitchFamily="34" charset="0"/>
                <a:ea typeface="Calibri" pitchFamily="34" charset="-122"/>
                <a:cs typeface="Calibri" pitchFamily="34" charset="-120"/>
              </a:rPr>
              <a:t>Root cause: the agent has no clear rule for when to escalate.</a:t>
            </a:r>
            <a:endParaRPr lang="en-US" sz="1300" dirty="0"/>
          </a:p>
          <a:p>
            <a:pPr marL="177800" indent="-177800">
              <a:spcAft>
                <a:spcPts val="600"/>
              </a:spcAft>
              <a:buSzPct val="100000"/>
              <a:buChar char="•"/>
            </a:pPr>
            <a:r>
              <a:rPr lang="en-US" sz="1300" dirty="0">
                <a:solidFill>
                  <a:srgbClr val="141413"/>
                </a:solidFill>
                <a:latin typeface="Calibri" pitchFamily="34" charset="0"/>
                <a:ea typeface="Calibri" pitchFamily="34" charset="-122"/>
                <a:cs typeface="Calibri" pitchFamily="34" charset="-120"/>
              </a:rPr>
              <a:t>Proportionate: add criteria and examples.</a:t>
            </a:r>
            <a:endParaRPr lang="en-US" sz="1300" dirty="0"/>
          </a:p>
          <a:p>
            <a:pPr marL="177800" indent="-177800">
              <a:spcAft>
                <a:spcPts val="600"/>
              </a:spcAft>
              <a:buSzPct val="100000"/>
              <a:buChar char="•"/>
            </a:pPr>
            <a:r>
              <a:rPr lang="en-US" sz="1300" dirty="0">
                <a:solidFill>
                  <a:srgbClr val="141413"/>
                </a:solidFill>
                <a:latin typeface="Calibri" pitchFamily="34" charset="0"/>
                <a:ea typeface="Calibri" pitchFamily="34" charset="-122"/>
                <a:cs typeface="Calibri" pitchFamily="34" charset="-120"/>
              </a:rPr>
              <a:t>Over-engineering: option C. Weak proxies: B and D.</a:t>
            </a:r>
            <a:endParaRPr lang="en-US" sz="1300" dirty="0"/>
          </a:p>
        </p:txBody>
      </p:sp>
      <p:sp>
        <p:nvSpPr>
          <p:cNvPr id="29" name="Shape 27"/>
          <p:cNvSpPr/>
          <p:nvPr/>
        </p:nvSpPr>
        <p:spPr>
          <a:xfrm>
            <a:off x="548640" y="5440680"/>
            <a:ext cx="11091672" cy="777240"/>
          </a:xfrm>
          <a:prstGeom prst="roundRect">
            <a:avLst>
              <a:gd name="adj" fmla="val 14118"/>
            </a:avLst>
          </a:prstGeom>
          <a:solidFill>
            <a:srgbClr val="FFFFFF"/>
          </a:solidFill>
          <a:ln w="9525">
            <a:solidFill>
              <a:srgbClr val="E8E6DC"/>
            </a:solidFill>
            <a:prstDash val="solid"/>
          </a:ln>
        </p:spPr>
      </p:sp>
      <p:sp>
        <p:nvSpPr>
          <p:cNvPr id="30" name="Text 28"/>
          <p:cNvSpPr txBox="1"/>
          <p:nvPr/>
        </p:nvSpPr>
        <p:spPr>
          <a:xfrm>
            <a:off x="822960" y="5440680"/>
            <a:ext cx="10515600" cy="777240"/>
          </a:xfrm>
          <a:prstGeom prst="rect">
            <a:avLst/>
          </a:prstGeom>
          <a:noFill/>
          <a:ln/>
        </p:spPr>
        <p:txBody>
          <a:bodyPr wrap="square" lIns="0" tIns="0" rIns="0" bIns="0" rtlCol="0" anchor="ctr"/>
          <a:lstStyle/>
          <a:p>
            <a:pPr indent="0" marL="0">
              <a:buNone/>
            </a:pPr>
            <a:r>
              <a:rPr lang="en-US" sz="1400" dirty="0">
                <a:solidFill>
                  <a:srgbClr val="141413"/>
                </a:solidFill>
                <a:latin typeface="Calibri" pitchFamily="34" charset="0"/>
                <a:ea typeface="Calibri" pitchFamily="34" charset="-122"/>
                <a:cs typeface="Calibri" pitchFamily="34" charset="-120"/>
              </a:rPr>
              <a:t>Revisited in Session 6 (task statement 5.2): escalation triggers, and why sentiment and self-reported confidence are not among them.</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548640" y="365760"/>
            <a:ext cx="8686800" cy="274320"/>
          </a:xfrm>
          <a:prstGeom prst="rect">
            <a:avLst/>
          </a:prstGeom>
          <a:noFill/>
          <a:ln/>
        </p:spPr>
        <p:txBody>
          <a:bodyPr wrap="square" lIns="0" tIns="0" rIns="0" bIns="0"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EXAM REASONING</a:t>
            </a:r>
            <a:endParaRPr lang="en-US" sz="1200" dirty="0"/>
          </a:p>
        </p:txBody>
      </p:sp>
      <p:sp>
        <p:nvSpPr>
          <p:cNvPr id="3" name="Text 1"/>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200" dirty="0">
                <a:solidFill>
                  <a:srgbClr val="141413"/>
                </a:solidFill>
                <a:latin typeface="Cambria" pitchFamily="34" charset="0"/>
                <a:ea typeface="Cambria" pitchFamily="34" charset="-122"/>
                <a:cs typeface="Cambria" pitchFamily="34" charset="-120"/>
              </a:rPr>
              <a:t>Principles you will reuse in all 16 sessions</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87867F"/>
                </a:solidFill>
                <a:latin typeface="Calibri" pitchFamily="34" charset="0"/>
                <a:ea typeface="Calibri" pitchFamily="34" charset="-122"/>
                <a:cs typeface="Calibri" pitchFamily="34" charset="-120"/>
              </a:rPr>
              <a:t>CCAR-F Skills Curriculum  ·  Session 1  ·  24</a:t>
            </a:r>
            <a:endParaRPr lang="en-US" sz="1000" dirty="0"/>
          </a:p>
        </p:txBody>
      </p:sp>
      <p:sp>
        <p:nvSpPr>
          <p:cNvPr id="5" name="Text 3"/>
          <p:cNvSpPr txBox="1"/>
          <p:nvPr/>
        </p:nvSpPr>
        <p:spPr>
          <a:xfrm>
            <a:off x="8869680" y="365760"/>
            <a:ext cx="2770632" cy="274320"/>
          </a:xfrm>
          <a:prstGeom prst="rect">
            <a:avLst/>
          </a:prstGeom>
          <a:noFill/>
          <a:ln/>
        </p:spPr>
        <p:txBody>
          <a:bodyPr wrap="square" lIns="0" tIns="0" rIns="0" bIns="0" rtlCol="0" anchor="ctr"/>
          <a:lstStyle/>
          <a:p>
            <a:pPr algn="r" indent="0" marL="0">
              <a:buNone/>
            </a:pPr>
            <a:r>
              <a:rPr lang="en-US" sz="1100" dirty="0">
                <a:solidFill>
                  <a:srgbClr val="87867F"/>
                </a:solidFill>
                <a:latin typeface="Calibri" pitchFamily="34" charset="0"/>
                <a:ea typeface="Calibri" pitchFamily="34" charset="-122"/>
                <a:cs typeface="Calibri" pitchFamily="34" charset="-120"/>
              </a:rPr>
              <a:t>51–52 min</a:t>
            </a:r>
            <a:endParaRPr lang="en-US" sz="1100" dirty="0"/>
          </a:p>
        </p:txBody>
      </p:sp>
      <p:sp>
        <p:nvSpPr>
          <p:cNvPr id="6" name="Text 4"/>
          <p:cNvSpPr txBox="1"/>
          <p:nvPr/>
        </p:nvSpPr>
        <p:spPr>
          <a:xfrm>
            <a:off x="548640" y="1600200"/>
            <a:ext cx="3749040" cy="320040"/>
          </a:xfrm>
          <a:prstGeom prst="rect">
            <a:avLst/>
          </a:prstGeom>
          <a:noFill/>
          <a:ln/>
        </p:spPr>
        <p:txBody>
          <a:bodyPr wrap="square" lIns="0" tIns="0" rIns="0" bIns="0" rtlCol="0" anchor="ctr"/>
          <a:lstStyle/>
          <a:p>
            <a:pPr indent="0" marL="0">
              <a:buNone/>
            </a:pPr>
            <a:r>
              <a:rPr lang="en-US" sz="1200" b="1" dirty="0">
                <a:solidFill>
                  <a:srgbClr val="87867F"/>
                </a:solidFill>
                <a:latin typeface="Calibri" pitchFamily="34" charset="0"/>
                <a:ea typeface="Calibri" pitchFamily="34" charset="-122"/>
                <a:cs typeface="Calibri" pitchFamily="34" charset="-120"/>
              </a:rPr>
              <a:t>Principle</a:t>
            </a:r>
            <a:endParaRPr lang="en-US" sz="1200" dirty="0"/>
          </a:p>
        </p:txBody>
      </p:sp>
      <p:sp>
        <p:nvSpPr>
          <p:cNvPr id="7" name="Text 5"/>
          <p:cNvSpPr txBox="1"/>
          <p:nvPr/>
        </p:nvSpPr>
        <p:spPr>
          <a:xfrm>
            <a:off x="4480560" y="1600200"/>
            <a:ext cx="4572000" cy="320040"/>
          </a:xfrm>
          <a:prstGeom prst="rect">
            <a:avLst/>
          </a:prstGeom>
          <a:noFill/>
          <a:ln/>
        </p:spPr>
        <p:txBody>
          <a:bodyPr wrap="square" lIns="0" tIns="0" rIns="0" bIns="0" rtlCol="0" anchor="ctr"/>
          <a:lstStyle/>
          <a:p>
            <a:pPr indent="0" marL="0">
              <a:buNone/>
            </a:pPr>
            <a:r>
              <a:rPr lang="en-US" sz="1200" b="1" dirty="0">
                <a:solidFill>
                  <a:srgbClr val="87867F"/>
                </a:solidFill>
                <a:latin typeface="Calibri" pitchFamily="34" charset="0"/>
                <a:ea typeface="Calibri" pitchFamily="34" charset="-122"/>
                <a:cs typeface="Calibri" pitchFamily="34" charset="-120"/>
              </a:rPr>
              <a:t>Where you saw it today</a:t>
            </a:r>
            <a:endParaRPr lang="en-US" sz="1200" dirty="0"/>
          </a:p>
        </p:txBody>
      </p:sp>
      <p:sp>
        <p:nvSpPr>
          <p:cNvPr id="8" name="Text 6"/>
          <p:cNvSpPr txBox="1"/>
          <p:nvPr/>
        </p:nvSpPr>
        <p:spPr>
          <a:xfrm>
            <a:off x="9144000" y="1600200"/>
            <a:ext cx="2496312" cy="320040"/>
          </a:xfrm>
          <a:prstGeom prst="rect">
            <a:avLst/>
          </a:prstGeom>
          <a:noFill/>
          <a:ln/>
        </p:spPr>
        <p:txBody>
          <a:bodyPr wrap="square" lIns="0" tIns="0" rIns="0" bIns="0" rtlCol="0" anchor="ctr"/>
          <a:lstStyle/>
          <a:p>
            <a:pPr indent="0" marL="0">
              <a:buNone/>
            </a:pPr>
            <a:r>
              <a:rPr lang="en-US" sz="1200" b="1" dirty="0">
                <a:solidFill>
                  <a:srgbClr val="87867F"/>
                </a:solidFill>
                <a:latin typeface="Calibri" pitchFamily="34" charset="0"/>
                <a:ea typeface="Calibri" pitchFamily="34" charset="-122"/>
                <a:cs typeface="Calibri" pitchFamily="34" charset="-120"/>
              </a:rPr>
              <a:t>Returns in</a:t>
            </a:r>
            <a:endParaRPr lang="en-US" sz="1200" dirty="0"/>
          </a:p>
        </p:txBody>
      </p:sp>
      <p:sp>
        <p:nvSpPr>
          <p:cNvPr id="9" name="Shape 7"/>
          <p:cNvSpPr/>
          <p:nvPr/>
        </p:nvSpPr>
        <p:spPr>
          <a:xfrm>
            <a:off x="548640" y="1965960"/>
            <a:ext cx="11091672" cy="694944"/>
          </a:xfrm>
          <a:prstGeom prst="roundRect">
            <a:avLst>
              <a:gd name="adj" fmla="val 15789"/>
            </a:avLst>
          </a:prstGeom>
          <a:solidFill>
            <a:srgbClr val="FFFFFF"/>
          </a:solidFill>
          <a:ln w="9525">
            <a:solidFill>
              <a:srgbClr val="E8E6DC"/>
            </a:solidFill>
            <a:prstDash val="solid"/>
          </a:ln>
        </p:spPr>
      </p:sp>
      <p:sp>
        <p:nvSpPr>
          <p:cNvPr id="10" name="Text 8"/>
          <p:cNvSpPr txBox="1"/>
          <p:nvPr/>
        </p:nvSpPr>
        <p:spPr>
          <a:xfrm>
            <a:off x="777240" y="1965960"/>
            <a:ext cx="3611880" cy="694944"/>
          </a:xfrm>
          <a:prstGeom prst="rect">
            <a:avLst/>
          </a:prstGeom>
          <a:noFill/>
          <a:ln/>
        </p:spPr>
        <p:txBody>
          <a:bodyPr wrap="square" lIns="0" tIns="0" rIns="0" bIns="0" rtlCol="0" anchor="ctr"/>
          <a:lstStyle/>
          <a:p>
            <a:pPr indent="0" marL="0">
              <a:buNone/>
            </a:pPr>
            <a:r>
              <a:rPr lang="en-US" sz="1450" dirty="0">
                <a:solidFill>
                  <a:srgbClr val="141413"/>
                </a:solidFill>
                <a:latin typeface="Cambria" pitchFamily="34" charset="0"/>
                <a:ea typeface="Cambria" pitchFamily="34" charset="-122"/>
                <a:cs typeface="Cambria" pitchFamily="34" charset="-120"/>
              </a:rPr>
              <a:t>Root cause first</a:t>
            </a:r>
            <a:endParaRPr lang="en-US" sz="1450" dirty="0"/>
          </a:p>
        </p:txBody>
      </p:sp>
      <p:sp>
        <p:nvSpPr>
          <p:cNvPr id="11" name="Text 9"/>
          <p:cNvSpPr txBox="1"/>
          <p:nvPr/>
        </p:nvSpPr>
        <p:spPr>
          <a:xfrm>
            <a:off x="4480560" y="1965960"/>
            <a:ext cx="4480560" cy="694944"/>
          </a:xfrm>
          <a:prstGeom prst="rect">
            <a:avLst/>
          </a:prstGeom>
          <a:noFill/>
          <a:ln/>
        </p:spPr>
        <p:txBody>
          <a:bodyPr wrap="square" lIns="0" tIns="0" rIns="0" bIns="0" rtlCol="0" anchor="ctr"/>
          <a:lstStyle/>
          <a:p>
            <a:pPr indent="0" marL="0">
              <a:buNone/>
            </a:pPr>
            <a:r>
              <a:rPr lang="en-US" sz="1300" dirty="0">
                <a:solidFill>
                  <a:srgbClr val="5E5D59"/>
                </a:solidFill>
                <a:latin typeface="Calibri" pitchFamily="34" charset="0"/>
                <a:ea typeface="Calibri" pitchFamily="34" charset="-122"/>
                <a:cs typeface="Calibri" pitchFamily="34" charset="-120"/>
              </a:rPr>
              <a:t>Q2: thin descriptions. Q3: unclear criteria.</a:t>
            </a:r>
            <a:endParaRPr lang="en-US" sz="1300" dirty="0"/>
          </a:p>
        </p:txBody>
      </p:sp>
      <p:sp>
        <p:nvSpPr>
          <p:cNvPr id="12" name="Text 10"/>
          <p:cNvSpPr txBox="1"/>
          <p:nvPr/>
        </p:nvSpPr>
        <p:spPr>
          <a:xfrm>
            <a:off x="9144000" y="1965960"/>
            <a:ext cx="2377440" cy="694944"/>
          </a:xfrm>
          <a:prstGeom prst="rect">
            <a:avLst/>
          </a:prstGeom>
          <a:noFill/>
          <a:ln/>
        </p:spPr>
        <p:txBody>
          <a:bodyPr wrap="square" lIns="0" tIns="0" rIns="0" bIns="0" rtlCol="0" anchor="ctr"/>
          <a:lstStyle/>
          <a:p>
            <a:pPr indent="0" marL="0">
              <a:buNone/>
            </a:pPr>
            <a:r>
              <a:rPr lang="en-US" sz="1300" b="1" dirty="0">
                <a:solidFill>
                  <a:srgbClr val="B85C3E"/>
                </a:solidFill>
                <a:latin typeface="Calibri" pitchFamily="34" charset="0"/>
                <a:ea typeface="Calibri" pitchFamily="34" charset="-122"/>
                <a:cs typeface="Calibri" pitchFamily="34" charset="-120"/>
              </a:rPr>
              <a:t>Sessions 3, 6</a:t>
            </a:r>
            <a:endParaRPr lang="en-US" sz="1300" dirty="0"/>
          </a:p>
        </p:txBody>
      </p:sp>
      <p:sp>
        <p:nvSpPr>
          <p:cNvPr id="13" name="Shape 11"/>
          <p:cNvSpPr/>
          <p:nvPr/>
        </p:nvSpPr>
        <p:spPr>
          <a:xfrm>
            <a:off x="548640" y="2752344"/>
            <a:ext cx="11091672" cy="694944"/>
          </a:xfrm>
          <a:prstGeom prst="roundRect">
            <a:avLst>
              <a:gd name="adj" fmla="val 15789"/>
            </a:avLst>
          </a:prstGeom>
          <a:solidFill>
            <a:srgbClr val="FFFFFF"/>
          </a:solidFill>
          <a:ln w="9525">
            <a:solidFill>
              <a:srgbClr val="E8E6DC"/>
            </a:solidFill>
            <a:prstDash val="solid"/>
          </a:ln>
        </p:spPr>
      </p:sp>
      <p:sp>
        <p:nvSpPr>
          <p:cNvPr id="14" name="Text 12"/>
          <p:cNvSpPr txBox="1"/>
          <p:nvPr/>
        </p:nvSpPr>
        <p:spPr>
          <a:xfrm>
            <a:off x="777240" y="2752344"/>
            <a:ext cx="3611880" cy="694944"/>
          </a:xfrm>
          <a:prstGeom prst="rect">
            <a:avLst/>
          </a:prstGeom>
          <a:noFill/>
          <a:ln/>
        </p:spPr>
        <p:txBody>
          <a:bodyPr wrap="square" lIns="0" tIns="0" rIns="0" bIns="0" rtlCol="0" anchor="ctr"/>
          <a:lstStyle/>
          <a:p>
            <a:pPr indent="0" marL="0">
              <a:buNone/>
            </a:pPr>
            <a:r>
              <a:rPr lang="en-US" sz="1450" dirty="0">
                <a:solidFill>
                  <a:srgbClr val="141413"/>
                </a:solidFill>
                <a:latin typeface="Cambria" pitchFamily="34" charset="0"/>
                <a:ea typeface="Cambria" pitchFamily="34" charset="-122"/>
                <a:cs typeface="Cambria" pitchFamily="34" charset="-120"/>
              </a:rPr>
              <a:t>Proportionate first step</a:t>
            </a:r>
            <a:endParaRPr lang="en-US" sz="1450" dirty="0"/>
          </a:p>
        </p:txBody>
      </p:sp>
      <p:sp>
        <p:nvSpPr>
          <p:cNvPr id="15" name="Text 13"/>
          <p:cNvSpPr txBox="1"/>
          <p:nvPr/>
        </p:nvSpPr>
        <p:spPr>
          <a:xfrm>
            <a:off x="4480560" y="2752344"/>
            <a:ext cx="4480560" cy="694944"/>
          </a:xfrm>
          <a:prstGeom prst="rect">
            <a:avLst/>
          </a:prstGeom>
          <a:noFill/>
          <a:ln/>
        </p:spPr>
        <p:txBody>
          <a:bodyPr wrap="square" lIns="0" tIns="0" rIns="0" bIns="0" rtlCol="0" anchor="ctr"/>
          <a:lstStyle/>
          <a:p>
            <a:pPr indent="0" marL="0">
              <a:buNone/>
            </a:pPr>
            <a:r>
              <a:rPr lang="en-US" sz="1300" dirty="0">
                <a:solidFill>
                  <a:srgbClr val="5E5D59"/>
                </a:solidFill>
                <a:latin typeface="Calibri" pitchFamily="34" charset="0"/>
                <a:ea typeface="Calibri" pitchFamily="34" charset="-122"/>
                <a:cs typeface="Calibri" pitchFamily="34" charset="-120"/>
              </a:rPr>
              <a:t>Q2 and Q3: edit text before building.</a:t>
            </a:r>
            <a:endParaRPr lang="en-US" sz="1300" dirty="0"/>
          </a:p>
        </p:txBody>
      </p:sp>
      <p:sp>
        <p:nvSpPr>
          <p:cNvPr id="16" name="Text 14"/>
          <p:cNvSpPr txBox="1"/>
          <p:nvPr/>
        </p:nvSpPr>
        <p:spPr>
          <a:xfrm>
            <a:off x="9144000" y="2752344"/>
            <a:ext cx="2377440" cy="694944"/>
          </a:xfrm>
          <a:prstGeom prst="rect">
            <a:avLst/>
          </a:prstGeom>
          <a:noFill/>
          <a:ln/>
        </p:spPr>
        <p:txBody>
          <a:bodyPr wrap="square" lIns="0" tIns="0" rIns="0" bIns="0" rtlCol="0" anchor="ctr"/>
          <a:lstStyle/>
          <a:p>
            <a:pPr indent="0" marL="0">
              <a:buNone/>
            </a:pPr>
            <a:r>
              <a:rPr lang="en-US" sz="1300" b="1" dirty="0">
                <a:solidFill>
                  <a:srgbClr val="B85C3E"/>
                </a:solidFill>
                <a:latin typeface="Calibri" pitchFamily="34" charset="0"/>
                <a:ea typeface="Calibri" pitchFamily="34" charset="-122"/>
                <a:cs typeface="Calibri" pitchFamily="34" charset="-120"/>
              </a:rPr>
              <a:t>Every session</a:t>
            </a:r>
            <a:endParaRPr lang="en-US" sz="1300" dirty="0"/>
          </a:p>
        </p:txBody>
      </p:sp>
      <p:sp>
        <p:nvSpPr>
          <p:cNvPr id="17" name="Shape 15"/>
          <p:cNvSpPr/>
          <p:nvPr/>
        </p:nvSpPr>
        <p:spPr>
          <a:xfrm>
            <a:off x="548640" y="3538728"/>
            <a:ext cx="11091672" cy="694944"/>
          </a:xfrm>
          <a:prstGeom prst="roundRect">
            <a:avLst>
              <a:gd name="adj" fmla="val 15789"/>
            </a:avLst>
          </a:prstGeom>
          <a:solidFill>
            <a:srgbClr val="FFFFFF"/>
          </a:solidFill>
          <a:ln w="9525">
            <a:solidFill>
              <a:srgbClr val="E8E6DC"/>
            </a:solidFill>
            <a:prstDash val="solid"/>
          </a:ln>
        </p:spPr>
      </p:sp>
      <p:sp>
        <p:nvSpPr>
          <p:cNvPr id="18" name="Text 16"/>
          <p:cNvSpPr txBox="1"/>
          <p:nvPr/>
        </p:nvSpPr>
        <p:spPr>
          <a:xfrm>
            <a:off x="777240" y="3538728"/>
            <a:ext cx="3611880" cy="694944"/>
          </a:xfrm>
          <a:prstGeom prst="rect">
            <a:avLst/>
          </a:prstGeom>
          <a:noFill/>
          <a:ln/>
        </p:spPr>
        <p:txBody>
          <a:bodyPr wrap="square" lIns="0" tIns="0" rIns="0" bIns="0" rtlCol="0" anchor="ctr"/>
          <a:lstStyle/>
          <a:p>
            <a:pPr indent="0" marL="0">
              <a:buNone/>
            </a:pPr>
            <a:r>
              <a:rPr lang="en-US" sz="1450" dirty="0">
                <a:solidFill>
                  <a:srgbClr val="141413"/>
                </a:solidFill>
                <a:latin typeface="Cambria" pitchFamily="34" charset="0"/>
                <a:ea typeface="Cambria" pitchFamily="34" charset="-122"/>
                <a:cs typeface="Cambria" pitchFamily="34" charset="-120"/>
              </a:rPr>
              <a:t>Reject over-engineering</a:t>
            </a:r>
            <a:endParaRPr lang="en-US" sz="1450" dirty="0"/>
          </a:p>
        </p:txBody>
      </p:sp>
      <p:sp>
        <p:nvSpPr>
          <p:cNvPr id="19" name="Text 17"/>
          <p:cNvSpPr txBox="1"/>
          <p:nvPr/>
        </p:nvSpPr>
        <p:spPr>
          <a:xfrm>
            <a:off x="4480560" y="3538728"/>
            <a:ext cx="4480560" cy="694944"/>
          </a:xfrm>
          <a:prstGeom prst="rect">
            <a:avLst/>
          </a:prstGeom>
          <a:noFill/>
          <a:ln/>
        </p:spPr>
        <p:txBody>
          <a:bodyPr wrap="square" lIns="0" tIns="0" rIns="0" bIns="0" rtlCol="0" anchor="ctr"/>
          <a:lstStyle/>
          <a:p>
            <a:pPr indent="0" marL="0">
              <a:buNone/>
            </a:pPr>
            <a:r>
              <a:rPr lang="en-US" sz="1300" dirty="0">
                <a:solidFill>
                  <a:srgbClr val="5E5D59"/>
                </a:solidFill>
                <a:latin typeface="Calibri" pitchFamily="34" charset="0"/>
                <a:ea typeface="Calibri" pitchFamily="34" charset="-122"/>
                <a:cs typeface="Calibri" pitchFamily="34" charset="-120"/>
              </a:rPr>
              <a:t>Q2: routing layer. Q3: trained classifier.</a:t>
            </a:r>
            <a:endParaRPr lang="en-US" sz="1300" dirty="0"/>
          </a:p>
        </p:txBody>
      </p:sp>
      <p:sp>
        <p:nvSpPr>
          <p:cNvPr id="20" name="Text 18"/>
          <p:cNvSpPr txBox="1"/>
          <p:nvPr/>
        </p:nvSpPr>
        <p:spPr>
          <a:xfrm>
            <a:off x="9144000" y="3538728"/>
            <a:ext cx="2377440" cy="694944"/>
          </a:xfrm>
          <a:prstGeom prst="rect">
            <a:avLst/>
          </a:prstGeom>
          <a:noFill/>
          <a:ln/>
        </p:spPr>
        <p:txBody>
          <a:bodyPr wrap="square" lIns="0" tIns="0" rIns="0" bIns="0" rtlCol="0" anchor="ctr"/>
          <a:lstStyle/>
          <a:p>
            <a:pPr indent="0" marL="0">
              <a:buNone/>
            </a:pPr>
            <a:r>
              <a:rPr lang="en-US" sz="1300" b="1" dirty="0">
                <a:solidFill>
                  <a:srgbClr val="B85C3E"/>
                </a:solidFill>
                <a:latin typeface="Calibri" pitchFamily="34" charset="0"/>
                <a:ea typeface="Calibri" pitchFamily="34" charset="-122"/>
                <a:cs typeface="Calibri" pitchFamily="34" charset="-120"/>
              </a:rPr>
              <a:t>Sessions 3, 6, 15</a:t>
            </a:r>
            <a:endParaRPr lang="en-US" sz="1300" dirty="0"/>
          </a:p>
        </p:txBody>
      </p:sp>
      <p:sp>
        <p:nvSpPr>
          <p:cNvPr id="21" name="Shape 19"/>
          <p:cNvSpPr/>
          <p:nvPr/>
        </p:nvSpPr>
        <p:spPr>
          <a:xfrm>
            <a:off x="548640" y="4325112"/>
            <a:ext cx="11091672" cy="694944"/>
          </a:xfrm>
          <a:prstGeom prst="roundRect">
            <a:avLst>
              <a:gd name="adj" fmla="val 15789"/>
            </a:avLst>
          </a:prstGeom>
          <a:solidFill>
            <a:srgbClr val="FFFFFF"/>
          </a:solidFill>
          <a:ln w="9525">
            <a:solidFill>
              <a:srgbClr val="E8E6DC"/>
            </a:solidFill>
            <a:prstDash val="solid"/>
          </a:ln>
        </p:spPr>
      </p:sp>
      <p:sp>
        <p:nvSpPr>
          <p:cNvPr id="22" name="Text 20"/>
          <p:cNvSpPr txBox="1"/>
          <p:nvPr/>
        </p:nvSpPr>
        <p:spPr>
          <a:xfrm>
            <a:off x="777240" y="4325112"/>
            <a:ext cx="3611880" cy="694944"/>
          </a:xfrm>
          <a:prstGeom prst="rect">
            <a:avLst/>
          </a:prstGeom>
          <a:noFill/>
          <a:ln/>
        </p:spPr>
        <p:txBody>
          <a:bodyPr wrap="square" lIns="0" tIns="0" rIns="0" bIns="0" rtlCol="0" anchor="ctr"/>
          <a:lstStyle/>
          <a:p>
            <a:pPr indent="0" marL="0">
              <a:buNone/>
            </a:pPr>
            <a:r>
              <a:rPr lang="en-US" sz="1450" dirty="0">
                <a:solidFill>
                  <a:srgbClr val="141413"/>
                </a:solidFill>
                <a:latin typeface="Cambria" pitchFamily="34" charset="0"/>
                <a:ea typeface="Cambria" pitchFamily="34" charset="-122"/>
                <a:cs typeface="Cambria" pitchFamily="34" charset="-120"/>
              </a:rPr>
              <a:t>Reject features that do not exist</a:t>
            </a:r>
            <a:endParaRPr lang="en-US" sz="1450" dirty="0"/>
          </a:p>
        </p:txBody>
      </p:sp>
      <p:sp>
        <p:nvSpPr>
          <p:cNvPr id="23" name="Text 21"/>
          <p:cNvSpPr txBox="1"/>
          <p:nvPr/>
        </p:nvSpPr>
        <p:spPr>
          <a:xfrm>
            <a:off x="4480560" y="4325112"/>
            <a:ext cx="4480560" cy="694944"/>
          </a:xfrm>
          <a:prstGeom prst="rect">
            <a:avLst/>
          </a:prstGeom>
          <a:noFill/>
          <a:ln/>
        </p:spPr>
        <p:txBody>
          <a:bodyPr wrap="square" lIns="0" tIns="0" rIns="0" bIns="0" rtlCol="0" anchor="ctr"/>
          <a:lstStyle/>
          <a:p>
            <a:pPr indent="0" marL="0">
              <a:buNone/>
            </a:pPr>
            <a:r>
              <a:rPr lang="en-US" sz="1300" dirty="0">
                <a:solidFill>
                  <a:srgbClr val="5E5D59"/>
                </a:solidFill>
                <a:latin typeface="Calibri" pitchFamily="34" charset="0"/>
                <a:ea typeface="Calibri" pitchFamily="34" charset="-122"/>
                <a:cs typeface="Calibri" pitchFamily="34" charset="-120"/>
              </a:rPr>
              <a:t>Watch for CLAUDE_HEADLESS and --batch in later samples.</a:t>
            </a:r>
            <a:endParaRPr lang="en-US" sz="1300" dirty="0"/>
          </a:p>
        </p:txBody>
      </p:sp>
      <p:sp>
        <p:nvSpPr>
          <p:cNvPr id="24" name="Text 22"/>
          <p:cNvSpPr txBox="1"/>
          <p:nvPr/>
        </p:nvSpPr>
        <p:spPr>
          <a:xfrm>
            <a:off x="9144000" y="4325112"/>
            <a:ext cx="2377440" cy="694944"/>
          </a:xfrm>
          <a:prstGeom prst="rect">
            <a:avLst/>
          </a:prstGeom>
          <a:noFill/>
          <a:ln/>
        </p:spPr>
        <p:txBody>
          <a:bodyPr wrap="square" lIns="0" tIns="0" rIns="0" bIns="0" rtlCol="0" anchor="ctr"/>
          <a:lstStyle/>
          <a:p>
            <a:pPr indent="0" marL="0">
              <a:buNone/>
            </a:pPr>
            <a:r>
              <a:rPr lang="en-US" sz="1300" b="1" dirty="0">
                <a:solidFill>
                  <a:srgbClr val="B85C3E"/>
                </a:solidFill>
                <a:latin typeface="Calibri" pitchFamily="34" charset="0"/>
                <a:ea typeface="Calibri" pitchFamily="34" charset="-122"/>
                <a:cs typeface="Calibri" pitchFamily="34" charset="-120"/>
              </a:rPr>
              <a:t>Sessions 11, 13</a:t>
            </a:r>
            <a:endParaRPr lang="en-US" sz="1300" dirty="0"/>
          </a:p>
        </p:txBody>
      </p:sp>
      <p:sp>
        <p:nvSpPr>
          <p:cNvPr id="25" name="Shape 23"/>
          <p:cNvSpPr/>
          <p:nvPr/>
        </p:nvSpPr>
        <p:spPr>
          <a:xfrm>
            <a:off x="548640" y="5111496"/>
            <a:ext cx="11091672" cy="694944"/>
          </a:xfrm>
          <a:prstGeom prst="roundRect">
            <a:avLst>
              <a:gd name="adj" fmla="val 15789"/>
            </a:avLst>
          </a:prstGeom>
          <a:solidFill>
            <a:srgbClr val="FFFFFF"/>
          </a:solidFill>
          <a:ln w="9525">
            <a:solidFill>
              <a:srgbClr val="E8E6DC"/>
            </a:solidFill>
            <a:prstDash val="solid"/>
          </a:ln>
        </p:spPr>
      </p:sp>
      <p:sp>
        <p:nvSpPr>
          <p:cNvPr id="26" name="Text 24"/>
          <p:cNvSpPr txBox="1"/>
          <p:nvPr/>
        </p:nvSpPr>
        <p:spPr>
          <a:xfrm>
            <a:off x="777240" y="5111496"/>
            <a:ext cx="3611880" cy="694944"/>
          </a:xfrm>
          <a:prstGeom prst="rect">
            <a:avLst/>
          </a:prstGeom>
          <a:noFill/>
          <a:ln/>
        </p:spPr>
        <p:txBody>
          <a:bodyPr wrap="square" lIns="0" tIns="0" rIns="0" bIns="0" rtlCol="0" anchor="ctr"/>
          <a:lstStyle/>
          <a:p>
            <a:pPr indent="0" marL="0">
              <a:buNone/>
            </a:pPr>
            <a:r>
              <a:rPr lang="en-US" sz="1450" dirty="0">
                <a:solidFill>
                  <a:srgbClr val="141413"/>
                </a:solidFill>
                <a:latin typeface="Cambria" pitchFamily="34" charset="0"/>
                <a:ea typeface="Cambria" pitchFamily="34" charset="-122"/>
                <a:cs typeface="Cambria" pitchFamily="34" charset="-120"/>
              </a:rPr>
              <a:t>Deterministic over probabilistic when stakes are high</a:t>
            </a:r>
            <a:endParaRPr lang="en-US" sz="1450" dirty="0"/>
          </a:p>
        </p:txBody>
      </p:sp>
      <p:sp>
        <p:nvSpPr>
          <p:cNvPr id="27" name="Text 25"/>
          <p:cNvSpPr txBox="1"/>
          <p:nvPr/>
        </p:nvSpPr>
        <p:spPr>
          <a:xfrm>
            <a:off x="4480560" y="5111496"/>
            <a:ext cx="4480560" cy="694944"/>
          </a:xfrm>
          <a:prstGeom prst="rect">
            <a:avLst/>
          </a:prstGeom>
          <a:noFill/>
          <a:ln/>
        </p:spPr>
        <p:txBody>
          <a:bodyPr wrap="square" lIns="0" tIns="0" rIns="0" bIns="0" rtlCol="0" anchor="ctr"/>
          <a:lstStyle/>
          <a:p>
            <a:pPr indent="0" marL="0">
              <a:buNone/>
            </a:pPr>
            <a:r>
              <a:rPr lang="en-US" sz="1300" dirty="0">
                <a:solidFill>
                  <a:srgbClr val="5E5D59"/>
                </a:solidFill>
                <a:latin typeface="Calibri" pitchFamily="34" charset="0"/>
                <a:ea typeface="Calibri" pitchFamily="34" charset="-122"/>
                <a:cs typeface="Calibri" pitchFamily="34" charset="-120"/>
              </a:rPr>
              <a:t>Previewed: prompts have a non-zero failure rate.</a:t>
            </a:r>
            <a:endParaRPr lang="en-US" sz="1300" dirty="0"/>
          </a:p>
        </p:txBody>
      </p:sp>
      <p:sp>
        <p:nvSpPr>
          <p:cNvPr id="28" name="Text 26"/>
          <p:cNvSpPr txBox="1"/>
          <p:nvPr/>
        </p:nvSpPr>
        <p:spPr>
          <a:xfrm>
            <a:off x="9144000" y="5111496"/>
            <a:ext cx="2377440" cy="694944"/>
          </a:xfrm>
          <a:prstGeom prst="rect">
            <a:avLst/>
          </a:prstGeom>
          <a:noFill/>
          <a:ln/>
        </p:spPr>
        <p:txBody>
          <a:bodyPr wrap="square" lIns="0" tIns="0" rIns="0" bIns="0" rtlCol="0" anchor="ctr"/>
          <a:lstStyle/>
          <a:p>
            <a:pPr indent="0" marL="0">
              <a:buNone/>
            </a:pPr>
            <a:r>
              <a:rPr lang="en-US" sz="1300" b="1" dirty="0">
                <a:solidFill>
                  <a:srgbClr val="B85C3E"/>
                </a:solidFill>
                <a:latin typeface="Calibri" pitchFamily="34" charset="0"/>
                <a:ea typeface="Calibri" pitchFamily="34" charset="-122"/>
                <a:cs typeface="Calibri" pitchFamily="34" charset="-120"/>
              </a:rPr>
              <a:t>Session 6</a:t>
            </a:r>
            <a:endParaRPr lang="en-US" sz="1300" dirty="0"/>
          </a:p>
        </p:txBody>
      </p:sp>
      <p:sp>
        <p:nvSpPr>
          <p:cNvPr id="29" name="Text 27"/>
          <p:cNvSpPr txBox="1"/>
          <p:nvPr/>
        </p:nvSpPr>
        <p:spPr>
          <a:xfrm>
            <a:off x="548640" y="6035040"/>
            <a:ext cx="11091672" cy="274320"/>
          </a:xfrm>
          <a:prstGeom prst="rect">
            <a:avLst/>
          </a:prstGeom>
          <a:noFill/>
          <a:ln/>
        </p:spPr>
        <p:txBody>
          <a:bodyPr wrap="square" lIns="0" tIns="0" rIns="0" bIns="0" rtlCol="0" anchor="ctr"/>
          <a:lstStyle/>
          <a:p>
            <a:pPr indent="0" marL="0">
              <a:buNone/>
            </a:pPr>
            <a:r>
              <a:rPr lang="en-US" sz="1200" i="1" dirty="0">
                <a:solidFill>
                  <a:srgbClr val="87867F"/>
                </a:solidFill>
                <a:latin typeface="Calibri" pitchFamily="34" charset="0"/>
                <a:ea typeface="Calibri" pitchFamily="34" charset="-122"/>
                <a:cs typeface="Calibri" pitchFamily="34" charset="-120"/>
              </a:rPr>
              <a:t>These grow into the final design-principles sheet in Session 16.</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548640" y="365760"/>
            <a:ext cx="8686800" cy="274320"/>
          </a:xfrm>
          <a:prstGeom prst="rect">
            <a:avLst/>
          </a:prstGeom>
          <a:noFill/>
          <a:ln/>
        </p:spPr>
        <p:txBody>
          <a:bodyPr wrap="square" lIns="0" tIns="0" rIns="0" bIns="0"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WRAP-UP</a:t>
            </a:r>
            <a:endParaRPr lang="en-US" sz="1200" dirty="0"/>
          </a:p>
        </p:txBody>
      </p:sp>
      <p:sp>
        <p:nvSpPr>
          <p:cNvPr id="3" name="Text 1"/>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200" dirty="0">
                <a:solidFill>
                  <a:srgbClr val="141413"/>
                </a:solidFill>
                <a:latin typeface="Cambria" pitchFamily="34" charset="0"/>
                <a:ea typeface="Cambria" pitchFamily="34" charset="-122"/>
                <a:cs typeface="Cambria" pitchFamily="34" charset="-120"/>
              </a:rPr>
              <a:t>Key concepts and what you can now do</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87867F"/>
                </a:solidFill>
                <a:latin typeface="Calibri" pitchFamily="34" charset="0"/>
                <a:ea typeface="Calibri" pitchFamily="34" charset="-122"/>
                <a:cs typeface="Calibri" pitchFamily="34" charset="-120"/>
              </a:rPr>
              <a:t>CCAR-F Skills Curriculum  ·  Session 1  ·  25</a:t>
            </a:r>
            <a:endParaRPr lang="en-US" sz="1000" dirty="0"/>
          </a:p>
        </p:txBody>
      </p:sp>
      <p:sp>
        <p:nvSpPr>
          <p:cNvPr id="5" name="Text 3"/>
          <p:cNvSpPr txBox="1"/>
          <p:nvPr/>
        </p:nvSpPr>
        <p:spPr>
          <a:xfrm>
            <a:off x="8869680" y="365760"/>
            <a:ext cx="2770632" cy="274320"/>
          </a:xfrm>
          <a:prstGeom prst="rect">
            <a:avLst/>
          </a:prstGeom>
          <a:noFill/>
          <a:ln/>
        </p:spPr>
        <p:txBody>
          <a:bodyPr wrap="square" lIns="0" tIns="0" rIns="0" bIns="0" rtlCol="0" anchor="ctr"/>
          <a:lstStyle/>
          <a:p>
            <a:pPr algn="r" indent="0" marL="0">
              <a:buNone/>
            </a:pPr>
            <a:r>
              <a:rPr lang="en-US" sz="1100" dirty="0">
                <a:solidFill>
                  <a:srgbClr val="87867F"/>
                </a:solidFill>
                <a:latin typeface="Calibri" pitchFamily="34" charset="0"/>
                <a:ea typeface="Calibri" pitchFamily="34" charset="-122"/>
                <a:cs typeface="Calibri" pitchFamily="34" charset="-120"/>
              </a:rPr>
              <a:t>52–54 min</a:t>
            </a:r>
            <a:endParaRPr lang="en-US" sz="1100" dirty="0"/>
          </a:p>
        </p:txBody>
      </p:sp>
      <p:sp>
        <p:nvSpPr>
          <p:cNvPr id="6" name="Shape 4"/>
          <p:cNvSpPr/>
          <p:nvPr/>
        </p:nvSpPr>
        <p:spPr>
          <a:xfrm>
            <a:off x="548640" y="1645920"/>
            <a:ext cx="3566160" cy="2011680"/>
          </a:xfrm>
          <a:prstGeom prst="roundRect">
            <a:avLst>
              <a:gd name="adj" fmla="val 5455"/>
            </a:avLst>
          </a:prstGeom>
          <a:solidFill>
            <a:srgbClr val="FFFFFF"/>
          </a:solidFill>
          <a:ln w="9525">
            <a:solidFill>
              <a:srgbClr val="E8E6DC"/>
            </a:solidFill>
            <a:prstDash val="solid"/>
          </a:ln>
        </p:spPr>
      </p:sp>
      <p:pic>
        <p:nvPicPr>
          <p:cNvPr id="7" name="Image 0" descr="preencoded.png">    </p:cNvPr>
          <p:cNvPicPr>
            <a:picLocks noChangeAspect="1"/>
          </p:cNvPicPr>
          <p:nvPr/>
        </p:nvPicPr>
        <p:blipFill>
          <a:blip r:embed="rId1"/>
          <a:stretch>
            <a:fillRect/>
          </a:stretch>
        </p:blipFill>
        <p:spPr>
          <a:xfrm>
            <a:off x="777240" y="1828800"/>
            <a:ext cx="384048" cy="384048"/>
          </a:xfrm>
          <a:prstGeom prst="rect">
            <a:avLst/>
          </a:prstGeom>
        </p:spPr>
      </p:pic>
      <p:sp>
        <p:nvSpPr>
          <p:cNvPr id="8" name="Text 5"/>
          <p:cNvSpPr txBox="1"/>
          <p:nvPr/>
        </p:nvSpPr>
        <p:spPr>
          <a:xfrm>
            <a:off x="1280160" y="1828800"/>
            <a:ext cx="2697480" cy="384048"/>
          </a:xfrm>
          <a:prstGeom prst="rect">
            <a:avLst/>
          </a:prstGeom>
          <a:noFill/>
          <a:ln/>
        </p:spPr>
        <p:txBody>
          <a:bodyPr wrap="square" lIns="0" tIns="0" rIns="0" bIns="0" rtlCol="0" anchor="ctr"/>
          <a:lstStyle/>
          <a:p>
            <a:pPr indent="0" marL="0">
              <a:buNone/>
            </a:pPr>
            <a:r>
              <a:rPr lang="en-US" sz="1600" dirty="0">
                <a:solidFill>
                  <a:srgbClr val="141413"/>
                </a:solidFill>
                <a:latin typeface="Cambria" pitchFamily="34" charset="0"/>
                <a:ea typeface="Cambria" pitchFamily="34" charset="-122"/>
                <a:cs typeface="Cambria" pitchFamily="34" charset="-120"/>
              </a:rPr>
              <a:t>No memory between calls</a:t>
            </a:r>
            <a:endParaRPr lang="en-US" sz="1600" dirty="0"/>
          </a:p>
        </p:txBody>
      </p:sp>
      <p:sp>
        <p:nvSpPr>
          <p:cNvPr id="9" name="Text 6"/>
          <p:cNvSpPr txBox="1"/>
          <p:nvPr/>
        </p:nvSpPr>
        <p:spPr>
          <a:xfrm>
            <a:off x="777240" y="2377440"/>
            <a:ext cx="3108960" cy="1188720"/>
          </a:xfrm>
          <a:prstGeom prst="rect">
            <a:avLst/>
          </a:prstGeom>
          <a:noFill/>
          <a:ln/>
        </p:spPr>
        <p:txBody>
          <a:bodyPr wrap="square" lIns="0" tIns="0" rIns="0" bIns="0" rtlCol="0" anchor="t"/>
          <a:lstStyle/>
          <a:p>
            <a:pPr indent="0" marL="0">
              <a:buNone/>
            </a:pPr>
            <a:r>
              <a:rPr lang="en-US" sz="1350" dirty="0">
                <a:solidFill>
                  <a:srgbClr val="5E5D59"/>
                </a:solidFill>
                <a:latin typeface="Calibri" pitchFamily="34" charset="0"/>
                <a:ea typeface="Calibri" pitchFamily="34" charset="-122"/>
                <a:cs typeface="Calibri" pitchFamily="34" charset="-120"/>
              </a:rPr>
              <a:t>The API is stateless. Your app resends full history each request.</a:t>
            </a:r>
            <a:endParaRPr lang="en-US" sz="1350" dirty="0"/>
          </a:p>
        </p:txBody>
      </p:sp>
      <p:sp>
        <p:nvSpPr>
          <p:cNvPr id="10" name="Shape 7"/>
          <p:cNvSpPr/>
          <p:nvPr/>
        </p:nvSpPr>
        <p:spPr>
          <a:xfrm>
            <a:off x="4306824" y="1645920"/>
            <a:ext cx="3566160" cy="2011680"/>
          </a:xfrm>
          <a:prstGeom prst="roundRect">
            <a:avLst>
              <a:gd name="adj" fmla="val 5455"/>
            </a:avLst>
          </a:prstGeom>
          <a:solidFill>
            <a:srgbClr val="FFFFFF"/>
          </a:solidFill>
          <a:ln w="9525">
            <a:solidFill>
              <a:srgbClr val="E8E6DC"/>
            </a:solidFill>
            <a:prstDash val="solid"/>
          </a:ln>
        </p:spPr>
      </p:sp>
      <p:pic>
        <p:nvPicPr>
          <p:cNvPr id="11" name="Image 1" descr="preencoded.png">    </p:cNvPr>
          <p:cNvPicPr>
            <a:picLocks noChangeAspect="1"/>
          </p:cNvPicPr>
          <p:nvPr/>
        </p:nvPicPr>
        <p:blipFill>
          <a:blip r:embed="rId2"/>
          <a:stretch>
            <a:fillRect/>
          </a:stretch>
        </p:blipFill>
        <p:spPr>
          <a:xfrm>
            <a:off x="4535424" y="1828800"/>
            <a:ext cx="384048" cy="384048"/>
          </a:xfrm>
          <a:prstGeom prst="rect">
            <a:avLst/>
          </a:prstGeom>
        </p:spPr>
      </p:pic>
      <p:sp>
        <p:nvSpPr>
          <p:cNvPr id="12" name="Text 8"/>
          <p:cNvSpPr txBox="1"/>
          <p:nvPr/>
        </p:nvSpPr>
        <p:spPr>
          <a:xfrm>
            <a:off x="5038344" y="1828800"/>
            <a:ext cx="2697480" cy="384048"/>
          </a:xfrm>
          <a:prstGeom prst="rect">
            <a:avLst/>
          </a:prstGeom>
          <a:noFill/>
          <a:ln/>
        </p:spPr>
        <p:txBody>
          <a:bodyPr wrap="square" lIns="0" tIns="0" rIns="0" bIns="0" rtlCol="0" anchor="ctr"/>
          <a:lstStyle/>
          <a:p>
            <a:pPr indent="0" marL="0">
              <a:buNone/>
            </a:pPr>
            <a:r>
              <a:rPr lang="en-US" sz="1600" dirty="0">
                <a:solidFill>
                  <a:srgbClr val="141413"/>
                </a:solidFill>
                <a:latin typeface="Cambria" pitchFamily="34" charset="0"/>
                <a:ea typeface="Cambria" pitchFamily="34" charset="-122"/>
                <a:cs typeface="Cambria" pitchFamily="34" charset="-120"/>
              </a:rPr>
              <a:t>stop_reason drives flow</a:t>
            </a:r>
            <a:endParaRPr lang="en-US" sz="1600" dirty="0"/>
          </a:p>
        </p:txBody>
      </p:sp>
      <p:sp>
        <p:nvSpPr>
          <p:cNvPr id="13" name="Text 9"/>
          <p:cNvSpPr txBox="1"/>
          <p:nvPr/>
        </p:nvSpPr>
        <p:spPr>
          <a:xfrm>
            <a:off x="4535424" y="2377440"/>
            <a:ext cx="3108960" cy="1188720"/>
          </a:xfrm>
          <a:prstGeom prst="rect">
            <a:avLst/>
          </a:prstGeom>
          <a:noFill/>
          <a:ln/>
        </p:spPr>
        <p:txBody>
          <a:bodyPr wrap="square" lIns="0" tIns="0" rIns="0" bIns="0" rtlCol="0" anchor="t"/>
          <a:lstStyle/>
          <a:p>
            <a:pPr indent="0" marL="0">
              <a:buNone/>
            </a:pPr>
            <a:r>
              <a:rPr lang="en-US" sz="1350" dirty="0">
                <a:solidFill>
                  <a:srgbClr val="5E5D59"/>
                </a:solidFill>
                <a:latin typeface="Calibri" pitchFamily="34" charset="0"/>
                <a:ea typeface="Calibri" pitchFamily="34" charset="-122"/>
                <a:cs typeface="Calibri" pitchFamily="34" charset="-120"/>
              </a:rPr>
              <a:t>Continue on "tool_use", finish on "end_turn". Do not guess from the text.</a:t>
            </a:r>
            <a:endParaRPr lang="en-US" sz="1350" dirty="0"/>
          </a:p>
        </p:txBody>
      </p:sp>
      <p:sp>
        <p:nvSpPr>
          <p:cNvPr id="14" name="Shape 10"/>
          <p:cNvSpPr/>
          <p:nvPr/>
        </p:nvSpPr>
        <p:spPr>
          <a:xfrm>
            <a:off x="8065008" y="1645920"/>
            <a:ext cx="3566160" cy="2011680"/>
          </a:xfrm>
          <a:prstGeom prst="roundRect">
            <a:avLst>
              <a:gd name="adj" fmla="val 5455"/>
            </a:avLst>
          </a:prstGeom>
          <a:solidFill>
            <a:srgbClr val="FFFFFF"/>
          </a:solidFill>
          <a:ln w="9525">
            <a:solidFill>
              <a:srgbClr val="E8E6DC"/>
            </a:solidFill>
            <a:prstDash val="solid"/>
          </a:ln>
        </p:spPr>
      </p:sp>
      <p:pic>
        <p:nvPicPr>
          <p:cNvPr id="15" name="Image 2" descr="preencoded.png">    </p:cNvPr>
          <p:cNvPicPr>
            <a:picLocks noChangeAspect="1"/>
          </p:cNvPicPr>
          <p:nvPr/>
        </p:nvPicPr>
        <p:blipFill>
          <a:blip r:embed="rId3"/>
          <a:stretch>
            <a:fillRect/>
          </a:stretch>
        </p:blipFill>
        <p:spPr>
          <a:xfrm>
            <a:off x="8293608" y="1828800"/>
            <a:ext cx="384048" cy="384048"/>
          </a:xfrm>
          <a:prstGeom prst="rect">
            <a:avLst/>
          </a:prstGeom>
        </p:spPr>
      </p:pic>
      <p:sp>
        <p:nvSpPr>
          <p:cNvPr id="16" name="Text 11"/>
          <p:cNvSpPr txBox="1"/>
          <p:nvPr/>
        </p:nvSpPr>
        <p:spPr>
          <a:xfrm>
            <a:off x="8796528" y="1828800"/>
            <a:ext cx="2697480" cy="384048"/>
          </a:xfrm>
          <a:prstGeom prst="rect">
            <a:avLst/>
          </a:prstGeom>
          <a:noFill/>
          <a:ln/>
        </p:spPr>
        <p:txBody>
          <a:bodyPr wrap="square" lIns="0" tIns="0" rIns="0" bIns="0" rtlCol="0" anchor="ctr"/>
          <a:lstStyle/>
          <a:p>
            <a:pPr indent="0" marL="0">
              <a:buNone/>
            </a:pPr>
            <a:r>
              <a:rPr lang="en-US" sz="1600" dirty="0">
                <a:solidFill>
                  <a:srgbClr val="141413"/>
                </a:solidFill>
                <a:latin typeface="Cambria" pitchFamily="34" charset="0"/>
                <a:ea typeface="Cambria" pitchFamily="34" charset="-122"/>
                <a:cs typeface="Cambria" pitchFamily="34" charset="-120"/>
              </a:rPr>
              <a:t>Plausible but fake</a:t>
            </a:r>
            <a:endParaRPr lang="en-US" sz="1600" dirty="0"/>
          </a:p>
        </p:txBody>
      </p:sp>
      <p:sp>
        <p:nvSpPr>
          <p:cNvPr id="17" name="Text 12"/>
          <p:cNvSpPr txBox="1"/>
          <p:nvPr/>
        </p:nvSpPr>
        <p:spPr>
          <a:xfrm>
            <a:off x="8293608" y="2377440"/>
            <a:ext cx="3108960" cy="1188720"/>
          </a:xfrm>
          <a:prstGeom prst="rect">
            <a:avLst/>
          </a:prstGeom>
          <a:noFill/>
          <a:ln/>
        </p:spPr>
        <p:txBody>
          <a:bodyPr wrap="square" lIns="0" tIns="0" rIns="0" bIns="0" rtlCol="0" anchor="t"/>
          <a:lstStyle/>
          <a:p>
            <a:pPr indent="0" marL="0">
              <a:buNone/>
            </a:pPr>
            <a:r>
              <a:rPr lang="en-US" sz="1350" dirty="0">
                <a:solidFill>
                  <a:srgbClr val="5E5D59"/>
                </a:solidFill>
                <a:latin typeface="Calibri" pitchFamily="34" charset="0"/>
                <a:ea typeface="Calibri" pitchFamily="34" charset="-122"/>
                <a:cs typeface="Calibri" pitchFamily="34" charset="-120"/>
              </a:rPr>
              <a:t>Wrong answers often name features that do not exist. Check the docs.</a:t>
            </a:r>
            <a:endParaRPr lang="en-US" sz="1350" dirty="0"/>
          </a:p>
        </p:txBody>
      </p:sp>
      <p:sp>
        <p:nvSpPr>
          <p:cNvPr id="18" name="Text 13"/>
          <p:cNvSpPr txBox="1"/>
          <p:nvPr/>
        </p:nvSpPr>
        <p:spPr>
          <a:xfrm>
            <a:off x="548640" y="3931920"/>
            <a:ext cx="5486400" cy="320040"/>
          </a:xfrm>
          <a:prstGeom prst="rect">
            <a:avLst/>
          </a:prstGeom>
          <a:noFill/>
          <a:ln/>
        </p:spPr>
        <p:txBody>
          <a:bodyPr wrap="square" lIns="0" tIns="0" rIns="0" bIns="0" rtlCol="0" anchor="ctr"/>
          <a:lstStyle/>
          <a:p>
            <a:pPr indent="0" marL="0">
              <a:buNone/>
            </a:pPr>
            <a:r>
              <a:rPr lang="en-US" sz="1700" dirty="0">
                <a:solidFill>
                  <a:srgbClr val="141413"/>
                </a:solidFill>
                <a:latin typeface="Cambria" pitchFamily="34" charset="0"/>
                <a:ea typeface="Cambria" pitchFamily="34" charset="-122"/>
                <a:cs typeface="Cambria" pitchFamily="34" charset="-120"/>
              </a:rPr>
              <a:t>By the end, you can:</a:t>
            </a:r>
            <a:endParaRPr lang="en-US" sz="1700" dirty="0"/>
          </a:p>
        </p:txBody>
      </p:sp>
      <p:pic>
        <p:nvPicPr>
          <p:cNvPr id="19" name="Image 3" descr="preencoded.png">    </p:cNvPr>
          <p:cNvPicPr>
            <a:picLocks noChangeAspect="1"/>
          </p:cNvPicPr>
          <p:nvPr/>
        </p:nvPicPr>
        <p:blipFill>
          <a:blip r:embed="rId4"/>
          <a:stretch>
            <a:fillRect/>
          </a:stretch>
        </p:blipFill>
        <p:spPr>
          <a:xfrm>
            <a:off x="548640" y="4370832"/>
            <a:ext cx="274320" cy="274320"/>
          </a:xfrm>
          <a:prstGeom prst="rect">
            <a:avLst/>
          </a:prstGeom>
        </p:spPr>
      </p:pic>
      <p:sp>
        <p:nvSpPr>
          <p:cNvPr id="20" name="Text 14"/>
          <p:cNvSpPr txBox="1"/>
          <p:nvPr/>
        </p:nvSpPr>
        <p:spPr>
          <a:xfrm>
            <a:off x="960120" y="4343400"/>
            <a:ext cx="10058400" cy="329184"/>
          </a:xfrm>
          <a:prstGeom prst="rect">
            <a:avLst/>
          </a:prstGeom>
          <a:noFill/>
          <a:ln/>
        </p:spPr>
        <p:txBody>
          <a:bodyPr wrap="square" lIns="0" tIns="0" rIns="0" bIns="0" rtlCol="0" anchor="ctr"/>
          <a:lstStyle/>
          <a:p>
            <a:pPr indent="0" marL="0">
              <a:buNone/>
            </a:pPr>
            <a:r>
              <a:rPr lang="en-US" sz="1400" dirty="0">
                <a:solidFill>
                  <a:srgbClr val="141413"/>
                </a:solidFill>
                <a:latin typeface="Calibri" pitchFamily="34" charset="0"/>
                <a:ea typeface="Calibri" pitchFamily="34" charset="-122"/>
                <a:cs typeface="Calibri" pitchFamily="34" charset="-120"/>
              </a:rPr>
              <a:t>Describe how the curriculum is organized around the five domains</a:t>
            </a:r>
            <a:endParaRPr lang="en-US" sz="1400" dirty="0"/>
          </a:p>
        </p:txBody>
      </p:sp>
      <p:pic>
        <p:nvPicPr>
          <p:cNvPr id="21" name="Image 4" descr="preencoded.png">    </p:cNvPr>
          <p:cNvPicPr>
            <a:picLocks noChangeAspect="1"/>
          </p:cNvPicPr>
          <p:nvPr/>
        </p:nvPicPr>
        <p:blipFill>
          <a:blip r:embed="rId5"/>
          <a:stretch>
            <a:fillRect/>
          </a:stretch>
        </p:blipFill>
        <p:spPr>
          <a:xfrm>
            <a:off x="548640" y="4828032"/>
            <a:ext cx="274320" cy="274320"/>
          </a:xfrm>
          <a:prstGeom prst="rect">
            <a:avLst/>
          </a:prstGeom>
        </p:spPr>
      </p:pic>
      <p:sp>
        <p:nvSpPr>
          <p:cNvPr id="22" name="Text 15"/>
          <p:cNvSpPr txBox="1"/>
          <p:nvPr/>
        </p:nvSpPr>
        <p:spPr>
          <a:xfrm>
            <a:off x="960120" y="4800600"/>
            <a:ext cx="10058400" cy="329184"/>
          </a:xfrm>
          <a:prstGeom prst="rect">
            <a:avLst/>
          </a:prstGeom>
          <a:noFill/>
          <a:ln/>
        </p:spPr>
        <p:txBody>
          <a:bodyPr wrap="square" lIns="0" tIns="0" rIns="0" bIns="0" rtlCol="0" anchor="ctr"/>
          <a:lstStyle/>
          <a:p>
            <a:pPr indent="0" marL="0">
              <a:buNone/>
            </a:pPr>
            <a:r>
              <a:rPr lang="en-US" sz="1400" dirty="0">
                <a:solidFill>
                  <a:srgbClr val="141413"/>
                </a:solidFill>
                <a:latin typeface="Calibri" pitchFamily="34" charset="0"/>
                <a:ea typeface="Calibri" pitchFamily="34" charset="-122"/>
                <a:cs typeface="Calibri" pitchFamily="34" charset="-120"/>
              </a:rPr>
              <a:t>Name the six scenarios</a:t>
            </a:r>
            <a:endParaRPr lang="en-US" sz="1400" dirty="0"/>
          </a:p>
        </p:txBody>
      </p:sp>
      <p:pic>
        <p:nvPicPr>
          <p:cNvPr id="23" name="Image 5" descr="preencoded.png">    </p:cNvPr>
          <p:cNvPicPr>
            <a:picLocks noChangeAspect="1"/>
          </p:cNvPicPr>
          <p:nvPr/>
        </p:nvPicPr>
        <p:blipFill>
          <a:blip r:embed="rId6"/>
          <a:stretch>
            <a:fillRect/>
          </a:stretch>
        </p:blipFill>
        <p:spPr>
          <a:xfrm>
            <a:off x="548640" y="5285232"/>
            <a:ext cx="274320" cy="274320"/>
          </a:xfrm>
          <a:prstGeom prst="rect">
            <a:avLst/>
          </a:prstGeom>
        </p:spPr>
      </p:pic>
      <p:sp>
        <p:nvSpPr>
          <p:cNvPr id="24" name="Text 16"/>
          <p:cNvSpPr txBox="1"/>
          <p:nvPr/>
        </p:nvSpPr>
        <p:spPr>
          <a:xfrm>
            <a:off x="960120" y="5257800"/>
            <a:ext cx="10058400" cy="329184"/>
          </a:xfrm>
          <a:prstGeom prst="rect">
            <a:avLst/>
          </a:prstGeom>
          <a:noFill/>
          <a:ln/>
        </p:spPr>
        <p:txBody>
          <a:bodyPr wrap="square" lIns="0" tIns="0" rIns="0" bIns="0" rtlCol="0" anchor="ctr"/>
          <a:lstStyle/>
          <a:p>
            <a:pPr indent="0" marL="0">
              <a:buNone/>
            </a:pPr>
            <a:r>
              <a:rPr lang="en-US" sz="1400" dirty="0">
                <a:solidFill>
                  <a:srgbClr val="141413"/>
                </a:solidFill>
                <a:latin typeface="Calibri" pitchFamily="34" charset="0"/>
                <a:ea typeface="Calibri" pitchFamily="34" charset="-122"/>
                <a:cs typeface="Calibri" pitchFamily="34" charset="-120"/>
              </a:rPr>
              <a:t>Explain a request/response cycle with tools</a:t>
            </a:r>
            <a:endParaRPr lang="en-US" sz="1400" dirty="0"/>
          </a:p>
        </p:txBody>
      </p:sp>
      <p:pic>
        <p:nvPicPr>
          <p:cNvPr id="25" name="Image 6" descr="preencoded.png">    </p:cNvPr>
          <p:cNvPicPr>
            <a:picLocks noChangeAspect="1"/>
          </p:cNvPicPr>
          <p:nvPr/>
        </p:nvPicPr>
        <p:blipFill>
          <a:blip r:embed="rId7"/>
          <a:stretch>
            <a:fillRect/>
          </a:stretch>
        </p:blipFill>
        <p:spPr>
          <a:xfrm>
            <a:off x="548640" y="5742432"/>
            <a:ext cx="274320" cy="274320"/>
          </a:xfrm>
          <a:prstGeom prst="rect">
            <a:avLst/>
          </a:prstGeom>
        </p:spPr>
      </p:pic>
      <p:sp>
        <p:nvSpPr>
          <p:cNvPr id="26" name="Text 17"/>
          <p:cNvSpPr txBox="1"/>
          <p:nvPr/>
        </p:nvSpPr>
        <p:spPr>
          <a:xfrm>
            <a:off x="960120" y="5715000"/>
            <a:ext cx="10058400" cy="329184"/>
          </a:xfrm>
          <a:prstGeom prst="rect">
            <a:avLst/>
          </a:prstGeom>
          <a:noFill/>
          <a:ln/>
        </p:spPr>
        <p:txBody>
          <a:bodyPr wrap="square" lIns="0" tIns="0" rIns="0" bIns="0" rtlCol="0" anchor="ctr"/>
          <a:lstStyle/>
          <a:p>
            <a:pPr indent="0" marL="0">
              <a:buNone/>
            </a:pPr>
            <a:r>
              <a:rPr lang="en-US" sz="1400" dirty="0">
                <a:solidFill>
                  <a:srgbClr val="141413"/>
                </a:solidFill>
                <a:latin typeface="Calibri" pitchFamily="34" charset="0"/>
                <a:ea typeface="Calibri" pitchFamily="34" charset="-122"/>
                <a:cs typeface="Calibri" pitchFamily="34" charset="-120"/>
              </a:rPr>
              <a:t>Apply the basic reasoning approach to scenario questions</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548640" y="365760"/>
            <a:ext cx="8686800" cy="274320"/>
          </a:xfrm>
          <a:prstGeom prst="rect">
            <a:avLst/>
          </a:prstGeom>
          <a:noFill/>
          <a:ln/>
        </p:spPr>
        <p:txBody>
          <a:bodyPr wrap="square" lIns="0" tIns="0" rIns="0" bIns="0"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HOMEWORK BRIEFING</a:t>
            </a:r>
            <a:endParaRPr lang="en-US" sz="1200" dirty="0"/>
          </a:p>
        </p:txBody>
      </p:sp>
      <p:sp>
        <p:nvSpPr>
          <p:cNvPr id="3" name="Text 1"/>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200" dirty="0">
                <a:solidFill>
                  <a:srgbClr val="141413"/>
                </a:solidFill>
                <a:latin typeface="Cambria" pitchFamily="34" charset="0"/>
                <a:ea typeface="Cambria" pitchFamily="34" charset="-122"/>
                <a:cs typeface="Cambria" pitchFamily="34" charset="-120"/>
              </a:rPr>
              <a:t>Before Session 2</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87867F"/>
                </a:solidFill>
                <a:latin typeface="Calibri" pitchFamily="34" charset="0"/>
                <a:ea typeface="Calibri" pitchFamily="34" charset="-122"/>
                <a:cs typeface="Calibri" pitchFamily="34" charset="-120"/>
              </a:rPr>
              <a:t>CCAR-F Skills Curriculum  ·  Session 1  ·  26</a:t>
            </a:r>
            <a:endParaRPr lang="en-US" sz="1000" dirty="0"/>
          </a:p>
        </p:txBody>
      </p:sp>
      <p:sp>
        <p:nvSpPr>
          <p:cNvPr id="5" name="Text 3"/>
          <p:cNvSpPr txBox="1"/>
          <p:nvPr/>
        </p:nvSpPr>
        <p:spPr>
          <a:xfrm>
            <a:off x="8869680" y="365760"/>
            <a:ext cx="2770632" cy="274320"/>
          </a:xfrm>
          <a:prstGeom prst="rect">
            <a:avLst/>
          </a:prstGeom>
          <a:noFill/>
          <a:ln/>
        </p:spPr>
        <p:txBody>
          <a:bodyPr wrap="square" lIns="0" tIns="0" rIns="0" bIns="0" rtlCol="0" anchor="ctr"/>
          <a:lstStyle/>
          <a:p>
            <a:pPr algn="r" indent="0" marL="0">
              <a:buNone/>
            </a:pPr>
            <a:r>
              <a:rPr lang="en-US" sz="1100" dirty="0">
                <a:solidFill>
                  <a:srgbClr val="87867F"/>
                </a:solidFill>
                <a:latin typeface="Calibri" pitchFamily="34" charset="0"/>
                <a:ea typeface="Calibri" pitchFamily="34" charset="-122"/>
                <a:cs typeface="Calibri" pitchFamily="34" charset="-120"/>
              </a:rPr>
              <a:t>54–57 min</a:t>
            </a:r>
            <a:endParaRPr lang="en-US" sz="1100" dirty="0"/>
          </a:p>
        </p:txBody>
      </p:sp>
      <p:sp>
        <p:nvSpPr>
          <p:cNvPr id="6" name="Shape 4"/>
          <p:cNvSpPr/>
          <p:nvPr/>
        </p:nvSpPr>
        <p:spPr>
          <a:xfrm>
            <a:off x="548640" y="1645920"/>
            <a:ext cx="7315200" cy="1234440"/>
          </a:xfrm>
          <a:prstGeom prst="roundRect">
            <a:avLst>
              <a:gd name="adj" fmla="val 8889"/>
            </a:avLst>
          </a:prstGeom>
          <a:solidFill>
            <a:srgbClr val="FFFFFF"/>
          </a:solidFill>
          <a:ln w="9525">
            <a:solidFill>
              <a:srgbClr val="E8E6DC"/>
            </a:solidFill>
            <a:prstDash val="solid"/>
          </a:ln>
        </p:spPr>
      </p:sp>
      <p:sp>
        <p:nvSpPr>
          <p:cNvPr id="7" name="Shape 5"/>
          <p:cNvSpPr/>
          <p:nvPr/>
        </p:nvSpPr>
        <p:spPr>
          <a:xfrm>
            <a:off x="777240" y="2011680"/>
            <a:ext cx="457200" cy="457200"/>
          </a:xfrm>
          <a:prstGeom prst="roundRect">
            <a:avLst>
              <a:gd name="adj" fmla="val 16000"/>
            </a:avLst>
          </a:prstGeom>
          <a:solidFill>
            <a:srgbClr val="FFFFFF"/>
          </a:solidFill>
          <a:ln w="19050">
            <a:solidFill>
              <a:srgbClr val="D97757"/>
            </a:solidFill>
            <a:prstDash val="solid"/>
          </a:ln>
        </p:spPr>
      </p:sp>
      <p:sp>
        <p:nvSpPr>
          <p:cNvPr id="8" name="Text 6"/>
          <p:cNvSpPr txBox="1"/>
          <p:nvPr/>
        </p:nvSpPr>
        <p:spPr>
          <a:xfrm>
            <a:off x="1508760" y="1783080"/>
            <a:ext cx="6126480" cy="365760"/>
          </a:xfrm>
          <a:prstGeom prst="rect">
            <a:avLst/>
          </a:prstGeom>
          <a:noFill/>
          <a:ln/>
        </p:spPr>
        <p:txBody>
          <a:bodyPr wrap="square" lIns="0" tIns="0" rIns="0" bIns="0" rtlCol="0" anchor="ctr"/>
          <a:lstStyle/>
          <a:p>
            <a:pPr indent="0" marL="0">
              <a:buNone/>
            </a:pPr>
            <a:r>
              <a:rPr lang="en-US" sz="1700" dirty="0">
                <a:solidFill>
                  <a:srgbClr val="141413"/>
                </a:solidFill>
                <a:latin typeface="Cambria" pitchFamily="34" charset="0"/>
                <a:ea typeface="Cambria" pitchFamily="34" charset="-122"/>
                <a:cs typeface="Cambria" pitchFamily="34" charset="-120"/>
              </a:rPr>
              <a:t>Read the full exam guide</a:t>
            </a:r>
            <a:endParaRPr lang="en-US" sz="1700" dirty="0"/>
          </a:p>
        </p:txBody>
      </p:sp>
      <p:sp>
        <p:nvSpPr>
          <p:cNvPr id="9" name="Text 7"/>
          <p:cNvSpPr txBox="1"/>
          <p:nvPr/>
        </p:nvSpPr>
        <p:spPr>
          <a:xfrm>
            <a:off x="1508760" y="2176272"/>
            <a:ext cx="6126480" cy="640080"/>
          </a:xfrm>
          <a:prstGeom prst="rect">
            <a:avLst/>
          </a:prstGeom>
          <a:noFill/>
          <a:ln/>
        </p:spPr>
        <p:txBody>
          <a:bodyPr wrap="square" lIns="0" tIns="0" rIns="0" bIns="0" rtlCol="0" anchor="t"/>
          <a:lstStyle/>
          <a:p>
            <a:pPr indent="0" marL="0">
              <a:buNone/>
            </a:pPr>
            <a:r>
              <a:rPr lang="en-US" sz="1300" dirty="0">
                <a:solidFill>
                  <a:srgbClr val="5E5D59"/>
                </a:solidFill>
                <a:latin typeface="Calibri" pitchFamily="34" charset="0"/>
                <a:ea typeface="Calibri" pitchFamily="34" charset="-122"/>
                <a:cs typeface="Calibri" pitchFamily="34" charset="-120"/>
              </a:rPr>
              <a:t>Treat it as your syllabus.</a:t>
            </a:r>
            <a:endParaRPr lang="en-US" sz="1300" dirty="0"/>
          </a:p>
        </p:txBody>
      </p:sp>
      <p:sp>
        <p:nvSpPr>
          <p:cNvPr id="10" name="Shape 8"/>
          <p:cNvSpPr/>
          <p:nvPr/>
        </p:nvSpPr>
        <p:spPr>
          <a:xfrm>
            <a:off x="548640" y="3017520"/>
            <a:ext cx="7315200" cy="1234440"/>
          </a:xfrm>
          <a:prstGeom prst="roundRect">
            <a:avLst>
              <a:gd name="adj" fmla="val 8889"/>
            </a:avLst>
          </a:prstGeom>
          <a:solidFill>
            <a:srgbClr val="FFFFFF"/>
          </a:solidFill>
          <a:ln w="9525">
            <a:solidFill>
              <a:srgbClr val="E8E6DC"/>
            </a:solidFill>
            <a:prstDash val="solid"/>
          </a:ln>
        </p:spPr>
      </p:sp>
      <p:sp>
        <p:nvSpPr>
          <p:cNvPr id="11" name="Shape 9"/>
          <p:cNvSpPr/>
          <p:nvPr/>
        </p:nvSpPr>
        <p:spPr>
          <a:xfrm>
            <a:off x="777240" y="3383280"/>
            <a:ext cx="457200" cy="457200"/>
          </a:xfrm>
          <a:prstGeom prst="roundRect">
            <a:avLst>
              <a:gd name="adj" fmla="val 16000"/>
            </a:avLst>
          </a:prstGeom>
          <a:solidFill>
            <a:srgbClr val="FFFFFF"/>
          </a:solidFill>
          <a:ln w="19050">
            <a:solidFill>
              <a:srgbClr val="D97757"/>
            </a:solidFill>
            <a:prstDash val="solid"/>
          </a:ln>
        </p:spPr>
      </p:sp>
      <p:sp>
        <p:nvSpPr>
          <p:cNvPr id="12" name="Text 10"/>
          <p:cNvSpPr txBox="1"/>
          <p:nvPr/>
        </p:nvSpPr>
        <p:spPr>
          <a:xfrm>
            <a:off x="1508760" y="3154680"/>
            <a:ext cx="6126480" cy="365760"/>
          </a:xfrm>
          <a:prstGeom prst="rect">
            <a:avLst/>
          </a:prstGeom>
          <a:noFill/>
          <a:ln/>
        </p:spPr>
        <p:txBody>
          <a:bodyPr wrap="square" lIns="0" tIns="0" rIns="0" bIns="0" rtlCol="0" anchor="ctr"/>
          <a:lstStyle/>
          <a:p>
            <a:pPr indent="0" marL="0">
              <a:buNone/>
            </a:pPr>
            <a:r>
              <a:rPr lang="en-US" sz="1700" dirty="0">
                <a:solidFill>
                  <a:srgbClr val="141413"/>
                </a:solidFill>
                <a:latin typeface="Cambria" pitchFamily="34" charset="0"/>
                <a:ea typeface="Cambria" pitchFamily="34" charset="-122"/>
                <a:cs typeface="Cambria" pitchFamily="34" charset="-120"/>
              </a:rPr>
              <a:t>Take the API course units</a:t>
            </a:r>
            <a:endParaRPr lang="en-US" sz="1700" dirty="0"/>
          </a:p>
        </p:txBody>
      </p:sp>
      <p:sp>
        <p:nvSpPr>
          <p:cNvPr id="13" name="Text 11"/>
          <p:cNvSpPr txBox="1"/>
          <p:nvPr/>
        </p:nvSpPr>
        <p:spPr>
          <a:xfrm>
            <a:off x="1508760" y="3547872"/>
            <a:ext cx="6126480" cy="640080"/>
          </a:xfrm>
          <a:prstGeom prst="rect">
            <a:avLst/>
          </a:prstGeom>
          <a:noFill/>
          <a:ln/>
        </p:spPr>
        <p:txBody>
          <a:bodyPr wrap="square" lIns="0" tIns="0" rIns="0" bIns="0" rtlCol="0" anchor="t"/>
          <a:lstStyle/>
          <a:p>
            <a:pPr indent="0" marL="0">
              <a:buNone/>
            </a:pPr>
            <a:r>
              <a:rPr lang="en-US" sz="1300" dirty="0">
                <a:solidFill>
                  <a:srgbClr val="5E5D59"/>
                </a:solidFill>
                <a:latin typeface="Calibri" pitchFamily="34" charset="0"/>
                <a:ea typeface="Calibri" pitchFamily="34" charset="-122"/>
                <a:cs typeface="Calibri" pitchFamily="34" charset="-120"/>
              </a:rPr>
              <a:t>"Accessing Claude with the API" (skip streaming) and "Tool use with Claude" up to "Sending tool results".</a:t>
            </a:r>
            <a:endParaRPr lang="en-US" sz="1300" dirty="0"/>
          </a:p>
        </p:txBody>
      </p:sp>
      <p:sp>
        <p:nvSpPr>
          <p:cNvPr id="14" name="Shape 12"/>
          <p:cNvSpPr/>
          <p:nvPr/>
        </p:nvSpPr>
        <p:spPr>
          <a:xfrm>
            <a:off x="548640" y="4389120"/>
            <a:ext cx="7315200" cy="1234440"/>
          </a:xfrm>
          <a:prstGeom prst="roundRect">
            <a:avLst>
              <a:gd name="adj" fmla="val 8889"/>
            </a:avLst>
          </a:prstGeom>
          <a:solidFill>
            <a:srgbClr val="FFFFFF"/>
          </a:solidFill>
          <a:ln w="9525">
            <a:solidFill>
              <a:srgbClr val="E8E6DC"/>
            </a:solidFill>
            <a:prstDash val="solid"/>
          </a:ln>
        </p:spPr>
      </p:sp>
      <p:sp>
        <p:nvSpPr>
          <p:cNvPr id="15" name="Shape 13"/>
          <p:cNvSpPr/>
          <p:nvPr/>
        </p:nvSpPr>
        <p:spPr>
          <a:xfrm>
            <a:off x="777240" y="4754880"/>
            <a:ext cx="457200" cy="457200"/>
          </a:xfrm>
          <a:prstGeom prst="roundRect">
            <a:avLst>
              <a:gd name="adj" fmla="val 16000"/>
            </a:avLst>
          </a:prstGeom>
          <a:solidFill>
            <a:srgbClr val="FFFFFF"/>
          </a:solidFill>
          <a:ln w="19050">
            <a:solidFill>
              <a:srgbClr val="D97757"/>
            </a:solidFill>
            <a:prstDash val="solid"/>
          </a:ln>
        </p:spPr>
      </p:sp>
      <p:sp>
        <p:nvSpPr>
          <p:cNvPr id="16" name="Text 14"/>
          <p:cNvSpPr txBox="1"/>
          <p:nvPr/>
        </p:nvSpPr>
        <p:spPr>
          <a:xfrm>
            <a:off x="1508760" y="4526280"/>
            <a:ext cx="6126480" cy="365760"/>
          </a:xfrm>
          <a:prstGeom prst="rect">
            <a:avLst/>
          </a:prstGeom>
          <a:noFill/>
          <a:ln/>
        </p:spPr>
        <p:txBody>
          <a:bodyPr wrap="square" lIns="0" tIns="0" rIns="0" bIns="0" rtlCol="0" anchor="ctr"/>
          <a:lstStyle/>
          <a:p>
            <a:pPr indent="0" marL="0">
              <a:buNone/>
            </a:pPr>
            <a:r>
              <a:rPr lang="en-US" sz="1700" dirty="0">
                <a:solidFill>
                  <a:srgbClr val="141413"/>
                </a:solidFill>
                <a:latin typeface="Cambria" pitchFamily="34" charset="0"/>
                <a:ea typeface="Cambria" pitchFamily="34" charset="-122"/>
                <a:cs typeface="Cambria" pitchFamily="34" charset="-120"/>
              </a:rPr>
              <a:t>Set up API and Agent SDK access</a:t>
            </a:r>
            <a:endParaRPr lang="en-US" sz="1700" dirty="0"/>
          </a:p>
        </p:txBody>
      </p:sp>
      <p:sp>
        <p:nvSpPr>
          <p:cNvPr id="17" name="Text 15"/>
          <p:cNvSpPr txBox="1"/>
          <p:nvPr/>
        </p:nvSpPr>
        <p:spPr>
          <a:xfrm>
            <a:off x="1508760" y="4919472"/>
            <a:ext cx="6126480" cy="640080"/>
          </a:xfrm>
          <a:prstGeom prst="rect">
            <a:avLst/>
          </a:prstGeom>
          <a:noFill/>
          <a:ln/>
        </p:spPr>
        <p:txBody>
          <a:bodyPr wrap="square" lIns="0" tIns="0" rIns="0" bIns="0" rtlCol="0" anchor="t"/>
          <a:lstStyle/>
          <a:p>
            <a:pPr indent="0" marL="0">
              <a:buNone/>
            </a:pPr>
            <a:r>
              <a:rPr lang="en-US" sz="1300" dirty="0">
                <a:solidFill>
                  <a:srgbClr val="5E5D59"/>
                </a:solidFill>
                <a:latin typeface="Calibri" pitchFamily="34" charset="0"/>
                <a:ea typeface="Calibri" pitchFamily="34" charset="-122"/>
                <a:cs typeface="Calibri" pitchFamily="34" charset="-120"/>
              </a:rPr>
              <a:t>Make one call with a single tool. Print stop_reason and the content blocks. Practical document, steps 1 to 6.</a:t>
            </a:r>
            <a:endParaRPr lang="en-US" sz="1300" dirty="0"/>
          </a:p>
        </p:txBody>
      </p:sp>
      <p:sp>
        <p:nvSpPr>
          <p:cNvPr id="18" name="Shape 16"/>
          <p:cNvSpPr/>
          <p:nvPr/>
        </p:nvSpPr>
        <p:spPr>
          <a:xfrm>
            <a:off x="8138160" y="1645920"/>
            <a:ext cx="3502152" cy="3977640"/>
          </a:xfrm>
          <a:prstGeom prst="roundRect">
            <a:avLst>
              <a:gd name="adj" fmla="val 3133"/>
            </a:avLst>
          </a:prstGeom>
          <a:solidFill>
            <a:srgbClr val="F6E4DB"/>
          </a:solidFill>
          <a:ln w="9525">
            <a:solidFill>
              <a:srgbClr val="F6E4DB"/>
            </a:solidFill>
            <a:prstDash val="solid"/>
          </a:ln>
        </p:spPr>
      </p:sp>
      <p:sp>
        <p:nvSpPr>
          <p:cNvPr id="19" name="Text 17"/>
          <p:cNvSpPr txBox="1"/>
          <p:nvPr/>
        </p:nvSpPr>
        <p:spPr>
          <a:xfrm>
            <a:off x="8366760" y="1783080"/>
            <a:ext cx="3108960" cy="365760"/>
          </a:xfrm>
          <a:prstGeom prst="rect">
            <a:avLst/>
          </a:prstGeom>
          <a:noFill/>
          <a:ln/>
        </p:spPr>
        <p:txBody>
          <a:bodyPr wrap="square" lIns="0" tIns="0" rIns="0" bIns="0" rtlCol="0" anchor="ctr"/>
          <a:lstStyle/>
          <a:p>
            <a:pPr indent="0" marL="0">
              <a:buNone/>
            </a:pPr>
            <a:r>
              <a:rPr lang="en-US" sz="1800" dirty="0">
                <a:solidFill>
                  <a:srgbClr val="B85C3E"/>
                </a:solidFill>
                <a:latin typeface="Cambria" pitchFamily="34" charset="0"/>
                <a:ea typeface="Cambria" pitchFamily="34" charset="-122"/>
                <a:cs typeface="Cambria" pitchFamily="34" charset="-120"/>
              </a:rPr>
              <a:t>Where this leads</a:t>
            </a:r>
            <a:endParaRPr lang="en-US" sz="1800" dirty="0"/>
          </a:p>
        </p:txBody>
      </p:sp>
      <p:sp>
        <p:nvSpPr>
          <p:cNvPr id="20" name="Text 18"/>
          <p:cNvSpPr txBox="1"/>
          <p:nvPr/>
        </p:nvSpPr>
        <p:spPr>
          <a:xfrm>
            <a:off x="8366760" y="2240280"/>
            <a:ext cx="3108960" cy="3200400"/>
          </a:xfrm>
          <a:prstGeom prst="rect">
            <a:avLst/>
          </a:prstGeom>
          <a:noFill/>
          <a:ln/>
        </p:spPr>
        <p:txBody>
          <a:bodyPr wrap="square" lIns="0" tIns="0" rIns="0" bIns="0" rtlCol="0" anchor="t"/>
          <a:lstStyle/>
          <a:p>
            <a:pPr indent="0" marL="0">
              <a:buNone/>
            </a:pPr>
            <a:r>
              <a:rPr lang="en-US" sz="1400" dirty="0">
                <a:solidFill>
                  <a:srgbClr val="141413"/>
                </a:solidFill>
                <a:latin typeface="Calibri" pitchFamily="34" charset="0"/>
                <a:ea typeface="Calibri" pitchFamily="34" charset="-122"/>
                <a:cs typeface="Calibri" pitchFamily="34" charset="-120"/>
              </a:rPr>
              <a:t>The single-tool script becomes the foundation of Exercise 1, a customer-support agent. In Session 2 you turn one call into a full agentic loop.</a:t>
            </a:r>
            <a:endParaRPr lang="en-US" sz="1400" dirty="0"/>
          </a:p>
        </p:txBody>
      </p:sp>
      <p:sp>
        <p:nvSpPr>
          <p:cNvPr id="21" name="Shape 19"/>
          <p:cNvSpPr/>
          <p:nvPr/>
        </p:nvSpPr>
        <p:spPr>
          <a:xfrm>
            <a:off x="548640" y="5760720"/>
            <a:ext cx="11091672" cy="502920"/>
          </a:xfrm>
          <a:prstGeom prst="roundRect">
            <a:avLst>
              <a:gd name="adj" fmla="val 21818"/>
            </a:avLst>
          </a:prstGeom>
          <a:solidFill>
            <a:srgbClr val="FFFFFF"/>
          </a:solidFill>
          <a:ln w="9525">
            <a:solidFill>
              <a:srgbClr val="E8E6DC"/>
            </a:solidFill>
            <a:prstDash val="solid"/>
          </a:ln>
        </p:spPr>
      </p:sp>
      <p:sp>
        <p:nvSpPr>
          <p:cNvPr id="22" name="Text 20"/>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300" i="1" dirty="0">
                <a:solidFill>
                  <a:srgbClr val="5E5D59"/>
                </a:solidFill>
                <a:latin typeface="Calibri" pitchFamily="34" charset="0"/>
                <a:ea typeface="Calibri" pitchFamily="34" charset="-122"/>
                <a:cs typeface="Calibri" pitchFamily="34" charset="-120"/>
              </a:rPr>
              <a:t>Tip: Read the exam guide with a pencil. Mark task statements you feel unsure about.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548640" y="365760"/>
            <a:ext cx="8686800" cy="274320"/>
          </a:xfrm>
          <a:prstGeom prst="rect">
            <a:avLst/>
          </a:prstGeom>
          <a:noFill/>
          <a:ln/>
        </p:spPr>
        <p:txBody>
          <a:bodyPr wrap="square" lIns="0" tIns="0" rIns="0" bIns="0"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TAKE-HOME QUESTIONS</a:t>
            </a:r>
            <a:endParaRPr lang="en-US" sz="1200" dirty="0"/>
          </a:p>
        </p:txBody>
      </p:sp>
      <p:sp>
        <p:nvSpPr>
          <p:cNvPr id="3" name="Text 1"/>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200" dirty="0">
                <a:solidFill>
                  <a:srgbClr val="141413"/>
                </a:solidFill>
                <a:latin typeface="Cambria" pitchFamily="34" charset="0"/>
                <a:ea typeface="Cambria" pitchFamily="34" charset="-122"/>
                <a:cs typeface="Cambria" pitchFamily="34" charset="-120"/>
              </a:rPr>
              <a:t>Questions 1 and 2 (original practice, exam format)</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87867F"/>
                </a:solidFill>
                <a:latin typeface="Calibri" pitchFamily="34" charset="0"/>
                <a:ea typeface="Calibri" pitchFamily="34" charset="-122"/>
                <a:cs typeface="Calibri" pitchFamily="34" charset="-120"/>
              </a:rPr>
              <a:t>CCAR-F Skills Curriculum  ·  Session 1  ·  27</a:t>
            </a:r>
            <a:endParaRPr lang="en-US" sz="1000" dirty="0"/>
          </a:p>
        </p:txBody>
      </p:sp>
      <p:sp>
        <p:nvSpPr>
          <p:cNvPr id="5" name="Text 3"/>
          <p:cNvSpPr txBox="1"/>
          <p:nvPr/>
        </p:nvSpPr>
        <p:spPr>
          <a:xfrm>
            <a:off x="8869680" y="365760"/>
            <a:ext cx="2770632" cy="274320"/>
          </a:xfrm>
          <a:prstGeom prst="rect">
            <a:avLst/>
          </a:prstGeom>
          <a:noFill/>
          <a:ln/>
        </p:spPr>
        <p:txBody>
          <a:bodyPr wrap="square" lIns="0" tIns="0" rIns="0" bIns="0" rtlCol="0" anchor="ctr"/>
          <a:lstStyle/>
          <a:p>
            <a:pPr algn="r" indent="0" marL="0">
              <a:buNone/>
            </a:pPr>
            <a:r>
              <a:rPr lang="en-US" sz="1100" dirty="0">
                <a:solidFill>
                  <a:srgbClr val="87867F"/>
                </a:solidFill>
                <a:latin typeface="Calibri" pitchFamily="34" charset="0"/>
                <a:ea typeface="Calibri" pitchFamily="34" charset="-122"/>
                <a:cs typeface="Calibri" pitchFamily="34" charset="-120"/>
              </a:rPr>
              <a:t>57–58 min</a:t>
            </a:r>
            <a:endParaRPr lang="en-US" sz="1100" dirty="0"/>
          </a:p>
        </p:txBody>
      </p:sp>
      <p:sp>
        <p:nvSpPr>
          <p:cNvPr id="6" name="Shape 4"/>
          <p:cNvSpPr/>
          <p:nvPr/>
        </p:nvSpPr>
        <p:spPr>
          <a:xfrm>
            <a:off x="548640" y="1600200"/>
            <a:ext cx="11091672" cy="2148840"/>
          </a:xfrm>
          <a:prstGeom prst="roundRect">
            <a:avLst>
              <a:gd name="adj" fmla="val 5106"/>
            </a:avLst>
          </a:prstGeom>
          <a:solidFill>
            <a:srgbClr val="FFFFFF"/>
          </a:solidFill>
          <a:ln w="9525">
            <a:solidFill>
              <a:srgbClr val="E8E6DC"/>
            </a:solidFill>
            <a:prstDash val="solid"/>
          </a:ln>
        </p:spPr>
      </p:sp>
      <p:sp>
        <p:nvSpPr>
          <p:cNvPr id="7" name="Text 5"/>
          <p:cNvSpPr txBox="1"/>
          <p:nvPr/>
        </p:nvSpPr>
        <p:spPr>
          <a:xfrm>
            <a:off x="777240" y="1737360"/>
            <a:ext cx="731520" cy="411480"/>
          </a:xfrm>
          <a:prstGeom prst="rect">
            <a:avLst/>
          </a:prstGeom>
          <a:noFill/>
          <a:ln/>
        </p:spPr>
        <p:txBody>
          <a:bodyPr wrap="square" lIns="0" tIns="0" rIns="0" bIns="0" rtlCol="0" anchor="ctr"/>
          <a:lstStyle/>
          <a:p>
            <a:pPr indent="0" marL="0">
              <a:buNone/>
            </a:pPr>
            <a:r>
              <a:rPr lang="en-US" sz="2200" dirty="0">
                <a:solidFill>
                  <a:srgbClr val="D97757"/>
                </a:solidFill>
                <a:latin typeface="Cambria" pitchFamily="34" charset="0"/>
                <a:ea typeface="Cambria" pitchFamily="34" charset="-122"/>
                <a:cs typeface="Cambria" pitchFamily="34" charset="-120"/>
              </a:rPr>
              <a:t>Q1</a:t>
            </a:r>
            <a:endParaRPr lang="en-US" sz="2200" dirty="0"/>
          </a:p>
        </p:txBody>
      </p:sp>
      <p:sp>
        <p:nvSpPr>
          <p:cNvPr id="8" name="Text 6"/>
          <p:cNvSpPr txBox="1"/>
          <p:nvPr/>
        </p:nvSpPr>
        <p:spPr>
          <a:xfrm>
            <a:off x="1554480" y="1709928"/>
            <a:ext cx="9875520" cy="868680"/>
          </a:xfrm>
          <a:prstGeom prst="rect">
            <a:avLst/>
          </a:prstGeom>
          <a:noFill/>
          <a:ln/>
        </p:spPr>
        <p:txBody>
          <a:bodyPr wrap="square" lIns="0" tIns="0" rIns="0" bIns="0" rtlCol="0" anchor="t"/>
          <a:lstStyle/>
          <a:p>
            <a:pPr indent="0" marL="0">
              <a:buNone/>
            </a:pPr>
            <a:r>
              <a:rPr lang="en-US" sz="1300" dirty="0">
                <a:solidFill>
                  <a:srgbClr val="141413"/>
                </a:solidFill>
                <a:latin typeface="Calibri" pitchFamily="34" charset="0"/>
                <a:ea typeface="Calibri" pitchFamily="34" charset="-122"/>
                <a:cs typeface="Calibri" pitchFamily="34" charset="-120"/>
              </a:rPr>
              <a:t>A support app calls the Messages API with one user message. Claude answers a follow-up ("and what is its status?") with "Which order do you mean?" even though the customer gave the order number two turns ago. The app sends only the newest user message each time. What is the correct fix?</a:t>
            </a:r>
            <a:endParaRPr lang="en-US" sz="1300" dirty="0"/>
          </a:p>
        </p:txBody>
      </p:sp>
      <p:sp>
        <p:nvSpPr>
          <p:cNvPr id="9" name="Text 7"/>
          <p:cNvSpPr txBox="1"/>
          <p:nvPr/>
        </p:nvSpPr>
        <p:spPr>
          <a:xfrm>
            <a:off x="1554480" y="2606040"/>
            <a:ext cx="4846320" cy="502920"/>
          </a:xfrm>
          <a:prstGeom prst="rect">
            <a:avLst/>
          </a:prstGeom>
          <a:noFill/>
          <a:ln/>
        </p:spPr>
        <p:txBody>
          <a:bodyPr wrap="square" lIns="0" tIns="0" rIns="0" bIns="0" rtlCol="0" anchor="t"/>
          <a:lstStyle/>
          <a:p>
            <a:pPr indent="0" marL="0">
              <a:buNone/>
            </a:pPr>
            <a:r>
              <a:rPr lang="en-US" sz="1150" b="1" dirty="0">
                <a:solidFill>
                  <a:srgbClr val="B85C3E"/>
                </a:solidFill>
                <a:latin typeface="Calibri" pitchFamily="34" charset="0"/>
                <a:ea typeface="Calibri" pitchFamily="34" charset="-122"/>
                <a:cs typeface="Calibri" pitchFamily="34" charset="-120"/>
              </a:rPr>
              <a:t>A.  </a:t>
            </a:r>
            <a:pPr indent="0" marL="0">
              <a:buNone/>
            </a:pPr>
            <a:r>
              <a:rPr lang="en-US" sz="1150" dirty="0">
                <a:solidFill>
                  <a:srgbClr val="5E5D59"/>
                </a:solidFill>
                <a:latin typeface="Calibri" pitchFamily="34" charset="0"/>
                <a:ea typeface="Calibri" pitchFamily="34" charset="-122"/>
                <a:cs typeface="Calibri" pitchFamily="34" charset="-120"/>
              </a:rPr>
              <a:t>Add a system prompt telling Claude to remember earlier turns.</a:t>
            </a:r>
            <a:endParaRPr lang="en-US" sz="1150" dirty="0"/>
          </a:p>
        </p:txBody>
      </p:sp>
      <p:sp>
        <p:nvSpPr>
          <p:cNvPr id="10" name="Text 8"/>
          <p:cNvSpPr txBox="1"/>
          <p:nvPr/>
        </p:nvSpPr>
        <p:spPr>
          <a:xfrm>
            <a:off x="6537960" y="2606040"/>
            <a:ext cx="4846320" cy="502920"/>
          </a:xfrm>
          <a:prstGeom prst="rect">
            <a:avLst/>
          </a:prstGeom>
          <a:noFill/>
          <a:ln/>
        </p:spPr>
        <p:txBody>
          <a:bodyPr wrap="square" lIns="0" tIns="0" rIns="0" bIns="0" rtlCol="0" anchor="t"/>
          <a:lstStyle/>
          <a:p>
            <a:pPr indent="0" marL="0">
              <a:buNone/>
            </a:pPr>
            <a:r>
              <a:rPr lang="en-US" sz="1150" b="1" dirty="0">
                <a:solidFill>
                  <a:srgbClr val="B85C3E"/>
                </a:solidFill>
                <a:latin typeface="Calibri" pitchFamily="34" charset="0"/>
                <a:ea typeface="Calibri" pitchFamily="34" charset="-122"/>
                <a:cs typeface="Calibri" pitchFamily="34" charset="-120"/>
              </a:rPr>
              <a:t>B.  </a:t>
            </a:r>
            <a:pPr indent="0" marL="0">
              <a:buNone/>
            </a:pPr>
            <a:r>
              <a:rPr lang="en-US" sz="1150" dirty="0">
                <a:solidFill>
                  <a:srgbClr val="5E5D59"/>
                </a:solidFill>
                <a:latin typeface="Calibri" pitchFamily="34" charset="0"/>
                <a:ea typeface="Calibri" pitchFamily="34" charset="-122"/>
                <a:cs typeface="Calibri" pitchFamily="34" charset="-120"/>
              </a:rPr>
              <a:t>Send the full conversation history in messages on every request.</a:t>
            </a:r>
            <a:endParaRPr lang="en-US" sz="1150" dirty="0"/>
          </a:p>
        </p:txBody>
      </p:sp>
      <p:sp>
        <p:nvSpPr>
          <p:cNvPr id="11" name="Text 9"/>
          <p:cNvSpPr txBox="1"/>
          <p:nvPr/>
        </p:nvSpPr>
        <p:spPr>
          <a:xfrm>
            <a:off x="1554480" y="3154680"/>
            <a:ext cx="4846320" cy="502920"/>
          </a:xfrm>
          <a:prstGeom prst="rect">
            <a:avLst/>
          </a:prstGeom>
          <a:noFill/>
          <a:ln/>
        </p:spPr>
        <p:txBody>
          <a:bodyPr wrap="square" lIns="0" tIns="0" rIns="0" bIns="0" rtlCol="0" anchor="t"/>
          <a:lstStyle/>
          <a:p>
            <a:pPr indent="0" marL="0">
              <a:buNone/>
            </a:pPr>
            <a:r>
              <a:rPr lang="en-US" sz="1150" b="1" dirty="0">
                <a:solidFill>
                  <a:srgbClr val="B85C3E"/>
                </a:solidFill>
                <a:latin typeface="Calibri" pitchFamily="34" charset="0"/>
                <a:ea typeface="Calibri" pitchFamily="34" charset="-122"/>
                <a:cs typeface="Calibri" pitchFamily="34" charset="-120"/>
              </a:rPr>
              <a:t>C.  </a:t>
            </a:r>
            <a:pPr indent="0" marL="0">
              <a:buNone/>
            </a:pPr>
            <a:r>
              <a:rPr lang="en-US" sz="1150" dirty="0">
                <a:solidFill>
                  <a:srgbClr val="5E5D59"/>
                </a:solidFill>
                <a:latin typeface="Calibri" pitchFamily="34" charset="0"/>
                <a:ea typeface="Calibri" pitchFamily="34" charset="-122"/>
                <a:cs typeface="Calibri" pitchFamily="34" charset="-120"/>
              </a:rPr>
              <a:t>Increase max_tokens so Claude has more room to recall.</a:t>
            </a:r>
            <a:endParaRPr lang="en-US" sz="1150" dirty="0"/>
          </a:p>
        </p:txBody>
      </p:sp>
      <p:sp>
        <p:nvSpPr>
          <p:cNvPr id="12" name="Text 10"/>
          <p:cNvSpPr txBox="1"/>
          <p:nvPr/>
        </p:nvSpPr>
        <p:spPr>
          <a:xfrm>
            <a:off x="6537960" y="3154680"/>
            <a:ext cx="4846320" cy="502920"/>
          </a:xfrm>
          <a:prstGeom prst="rect">
            <a:avLst/>
          </a:prstGeom>
          <a:noFill/>
          <a:ln/>
        </p:spPr>
        <p:txBody>
          <a:bodyPr wrap="square" lIns="0" tIns="0" rIns="0" bIns="0" rtlCol="0" anchor="t"/>
          <a:lstStyle/>
          <a:p>
            <a:pPr indent="0" marL="0">
              <a:buNone/>
            </a:pPr>
            <a:r>
              <a:rPr lang="en-US" sz="1150" b="1" dirty="0">
                <a:solidFill>
                  <a:srgbClr val="B85C3E"/>
                </a:solidFill>
                <a:latin typeface="Calibri" pitchFamily="34" charset="0"/>
                <a:ea typeface="Calibri" pitchFamily="34" charset="-122"/>
                <a:cs typeface="Calibri" pitchFamily="34" charset="-120"/>
              </a:rPr>
              <a:t>D.  </a:t>
            </a:r>
            <a:pPr indent="0" marL="0">
              <a:buNone/>
            </a:pPr>
            <a:r>
              <a:rPr lang="en-US" sz="1150" dirty="0">
                <a:solidFill>
                  <a:srgbClr val="5E5D59"/>
                </a:solidFill>
                <a:latin typeface="Calibri" pitchFamily="34" charset="0"/>
                <a:ea typeface="Calibri" pitchFamily="34" charset="-122"/>
                <a:cs typeface="Calibri" pitchFamily="34" charset="-120"/>
              </a:rPr>
              <a:t>Switch to a larger model so it retains context longer.</a:t>
            </a:r>
            <a:endParaRPr lang="en-US" sz="1150" dirty="0"/>
          </a:p>
        </p:txBody>
      </p:sp>
      <p:sp>
        <p:nvSpPr>
          <p:cNvPr id="13" name="Shape 11"/>
          <p:cNvSpPr/>
          <p:nvPr/>
        </p:nvSpPr>
        <p:spPr>
          <a:xfrm>
            <a:off x="548640" y="3886200"/>
            <a:ext cx="11091672" cy="2148840"/>
          </a:xfrm>
          <a:prstGeom prst="roundRect">
            <a:avLst>
              <a:gd name="adj" fmla="val 5106"/>
            </a:avLst>
          </a:prstGeom>
          <a:solidFill>
            <a:srgbClr val="FFFFFF"/>
          </a:solidFill>
          <a:ln w="9525">
            <a:solidFill>
              <a:srgbClr val="E8E6DC"/>
            </a:solidFill>
            <a:prstDash val="solid"/>
          </a:ln>
        </p:spPr>
      </p:sp>
      <p:sp>
        <p:nvSpPr>
          <p:cNvPr id="14" name="Text 12"/>
          <p:cNvSpPr txBox="1"/>
          <p:nvPr/>
        </p:nvSpPr>
        <p:spPr>
          <a:xfrm>
            <a:off x="777240" y="4023360"/>
            <a:ext cx="731520" cy="411480"/>
          </a:xfrm>
          <a:prstGeom prst="rect">
            <a:avLst/>
          </a:prstGeom>
          <a:noFill/>
          <a:ln/>
        </p:spPr>
        <p:txBody>
          <a:bodyPr wrap="square" lIns="0" tIns="0" rIns="0" bIns="0" rtlCol="0" anchor="ctr"/>
          <a:lstStyle/>
          <a:p>
            <a:pPr indent="0" marL="0">
              <a:buNone/>
            </a:pPr>
            <a:r>
              <a:rPr lang="en-US" sz="2200" dirty="0">
                <a:solidFill>
                  <a:srgbClr val="D97757"/>
                </a:solidFill>
                <a:latin typeface="Cambria" pitchFamily="34" charset="0"/>
                <a:ea typeface="Cambria" pitchFamily="34" charset="-122"/>
                <a:cs typeface="Cambria" pitchFamily="34" charset="-120"/>
              </a:rPr>
              <a:t>Q2</a:t>
            </a:r>
            <a:endParaRPr lang="en-US" sz="2200" dirty="0"/>
          </a:p>
        </p:txBody>
      </p:sp>
      <p:sp>
        <p:nvSpPr>
          <p:cNvPr id="15" name="Text 13"/>
          <p:cNvSpPr txBox="1"/>
          <p:nvPr/>
        </p:nvSpPr>
        <p:spPr>
          <a:xfrm>
            <a:off x="1554480" y="3995928"/>
            <a:ext cx="9875520" cy="868680"/>
          </a:xfrm>
          <a:prstGeom prst="rect">
            <a:avLst/>
          </a:prstGeom>
          <a:noFill/>
          <a:ln/>
        </p:spPr>
        <p:txBody>
          <a:bodyPr wrap="square" lIns="0" tIns="0" rIns="0" bIns="0" rtlCol="0" anchor="t"/>
          <a:lstStyle/>
          <a:p>
            <a:pPr indent="0" marL="0">
              <a:buNone/>
            </a:pPr>
            <a:r>
              <a:rPr lang="en-US" sz="1300" dirty="0">
                <a:solidFill>
                  <a:srgbClr val="141413"/>
                </a:solidFill>
                <a:latin typeface="Calibri" pitchFamily="34" charset="0"/>
                <a:ea typeface="Calibri" pitchFamily="34" charset="-122"/>
                <a:cs typeface="Calibri" pitchFamily="34" charset="-120"/>
              </a:rPr>
              <a:t>A developer's app prints content[0].text to the customer and stops. Sometimes customers see "I'll check that for you" and nothing more. Logs show stop_reason is "tool_use" in those cases. What is the root cause?</a:t>
            </a:r>
            <a:endParaRPr lang="en-US" sz="1300" dirty="0"/>
          </a:p>
        </p:txBody>
      </p:sp>
      <p:sp>
        <p:nvSpPr>
          <p:cNvPr id="16" name="Text 14"/>
          <p:cNvSpPr txBox="1"/>
          <p:nvPr/>
        </p:nvSpPr>
        <p:spPr>
          <a:xfrm>
            <a:off x="1554480" y="4892040"/>
            <a:ext cx="4846320" cy="502920"/>
          </a:xfrm>
          <a:prstGeom prst="rect">
            <a:avLst/>
          </a:prstGeom>
          <a:noFill/>
          <a:ln/>
        </p:spPr>
        <p:txBody>
          <a:bodyPr wrap="square" lIns="0" tIns="0" rIns="0" bIns="0" rtlCol="0" anchor="t"/>
          <a:lstStyle/>
          <a:p>
            <a:pPr indent="0" marL="0">
              <a:buNone/>
            </a:pPr>
            <a:r>
              <a:rPr lang="en-US" sz="1150" b="1" dirty="0">
                <a:solidFill>
                  <a:srgbClr val="B85C3E"/>
                </a:solidFill>
                <a:latin typeface="Calibri" pitchFamily="34" charset="0"/>
                <a:ea typeface="Calibri" pitchFamily="34" charset="-122"/>
                <a:cs typeface="Calibri" pitchFamily="34" charset="-120"/>
              </a:rPr>
              <a:t>A.  </a:t>
            </a:r>
            <a:pPr indent="0" marL="0">
              <a:buNone/>
            </a:pPr>
            <a:r>
              <a:rPr lang="en-US" sz="1150" dirty="0">
                <a:solidFill>
                  <a:srgbClr val="5E5D59"/>
                </a:solidFill>
                <a:latin typeface="Calibri" pitchFamily="34" charset="0"/>
                <a:ea typeface="Calibri" pitchFamily="34" charset="-122"/>
                <a:cs typeface="Calibri" pitchFamily="34" charset="-120"/>
              </a:rPr>
              <a:t>The app treats a text block as the final answer instead of checking stop_reason.</a:t>
            </a:r>
            <a:endParaRPr lang="en-US" sz="1150" dirty="0"/>
          </a:p>
        </p:txBody>
      </p:sp>
      <p:sp>
        <p:nvSpPr>
          <p:cNvPr id="17" name="Text 15"/>
          <p:cNvSpPr txBox="1"/>
          <p:nvPr/>
        </p:nvSpPr>
        <p:spPr>
          <a:xfrm>
            <a:off x="6537960" y="4892040"/>
            <a:ext cx="4846320" cy="502920"/>
          </a:xfrm>
          <a:prstGeom prst="rect">
            <a:avLst/>
          </a:prstGeom>
          <a:noFill/>
          <a:ln/>
        </p:spPr>
        <p:txBody>
          <a:bodyPr wrap="square" lIns="0" tIns="0" rIns="0" bIns="0" rtlCol="0" anchor="t"/>
          <a:lstStyle/>
          <a:p>
            <a:pPr indent="0" marL="0">
              <a:buNone/>
            </a:pPr>
            <a:r>
              <a:rPr lang="en-US" sz="1150" b="1" dirty="0">
                <a:solidFill>
                  <a:srgbClr val="B85C3E"/>
                </a:solidFill>
                <a:latin typeface="Calibri" pitchFamily="34" charset="0"/>
                <a:ea typeface="Calibri" pitchFamily="34" charset="-122"/>
                <a:cs typeface="Calibri" pitchFamily="34" charset="-120"/>
              </a:rPr>
              <a:t>B.  </a:t>
            </a:r>
            <a:pPr indent="0" marL="0">
              <a:buNone/>
            </a:pPr>
            <a:r>
              <a:rPr lang="en-US" sz="1150" dirty="0">
                <a:solidFill>
                  <a:srgbClr val="5E5D59"/>
                </a:solidFill>
                <a:latin typeface="Calibri" pitchFamily="34" charset="0"/>
                <a:ea typeface="Calibri" pitchFamily="34" charset="-122"/>
                <a:cs typeface="Calibri" pitchFamily="34" charset="-120"/>
              </a:rPr>
              <a:t>The system prompt is missing an instruction to always answer.</a:t>
            </a:r>
            <a:endParaRPr lang="en-US" sz="1150" dirty="0"/>
          </a:p>
        </p:txBody>
      </p:sp>
      <p:sp>
        <p:nvSpPr>
          <p:cNvPr id="18" name="Text 16"/>
          <p:cNvSpPr txBox="1"/>
          <p:nvPr/>
        </p:nvSpPr>
        <p:spPr>
          <a:xfrm>
            <a:off x="1554480" y="5440680"/>
            <a:ext cx="4846320" cy="502920"/>
          </a:xfrm>
          <a:prstGeom prst="rect">
            <a:avLst/>
          </a:prstGeom>
          <a:noFill/>
          <a:ln/>
        </p:spPr>
        <p:txBody>
          <a:bodyPr wrap="square" lIns="0" tIns="0" rIns="0" bIns="0" rtlCol="0" anchor="t"/>
          <a:lstStyle/>
          <a:p>
            <a:pPr indent="0" marL="0">
              <a:buNone/>
            </a:pPr>
            <a:r>
              <a:rPr lang="en-US" sz="1150" b="1" dirty="0">
                <a:solidFill>
                  <a:srgbClr val="B85C3E"/>
                </a:solidFill>
                <a:latin typeface="Calibri" pitchFamily="34" charset="0"/>
                <a:ea typeface="Calibri" pitchFamily="34" charset="-122"/>
                <a:cs typeface="Calibri" pitchFamily="34" charset="-120"/>
              </a:rPr>
              <a:t>C.  </a:t>
            </a:r>
            <a:pPr indent="0" marL="0">
              <a:buNone/>
            </a:pPr>
            <a:r>
              <a:rPr lang="en-US" sz="1150" dirty="0">
                <a:solidFill>
                  <a:srgbClr val="5E5D59"/>
                </a:solidFill>
                <a:latin typeface="Calibri" pitchFamily="34" charset="0"/>
                <a:ea typeface="Calibri" pitchFamily="34" charset="-122"/>
                <a:cs typeface="Calibri" pitchFamily="34" charset="-120"/>
              </a:rPr>
              <a:t>max_tokens is set too low for the response.</a:t>
            </a:r>
            <a:endParaRPr lang="en-US" sz="1150" dirty="0"/>
          </a:p>
        </p:txBody>
      </p:sp>
      <p:sp>
        <p:nvSpPr>
          <p:cNvPr id="19" name="Text 17"/>
          <p:cNvSpPr txBox="1"/>
          <p:nvPr/>
        </p:nvSpPr>
        <p:spPr>
          <a:xfrm>
            <a:off x="6537960" y="5440680"/>
            <a:ext cx="4846320" cy="502920"/>
          </a:xfrm>
          <a:prstGeom prst="rect">
            <a:avLst/>
          </a:prstGeom>
          <a:noFill/>
          <a:ln/>
        </p:spPr>
        <p:txBody>
          <a:bodyPr wrap="square" lIns="0" tIns="0" rIns="0" bIns="0" rtlCol="0" anchor="t"/>
          <a:lstStyle/>
          <a:p>
            <a:pPr indent="0" marL="0">
              <a:buNone/>
            </a:pPr>
            <a:r>
              <a:rPr lang="en-US" sz="1150" b="1" dirty="0">
                <a:solidFill>
                  <a:srgbClr val="B85C3E"/>
                </a:solidFill>
                <a:latin typeface="Calibri" pitchFamily="34" charset="0"/>
                <a:ea typeface="Calibri" pitchFamily="34" charset="-122"/>
                <a:cs typeface="Calibri" pitchFamily="34" charset="-120"/>
              </a:rPr>
              <a:t>D.  </a:t>
            </a:r>
            <a:pPr indent="0" marL="0">
              <a:buNone/>
            </a:pPr>
            <a:r>
              <a:rPr lang="en-US" sz="1150" dirty="0">
                <a:solidFill>
                  <a:srgbClr val="5E5D59"/>
                </a:solidFill>
                <a:latin typeface="Calibri" pitchFamily="34" charset="0"/>
                <a:ea typeface="Calibri" pitchFamily="34" charset="-122"/>
                <a:cs typeface="Calibri" pitchFamily="34" charset="-120"/>
              </a:rPr>
              <a:t>The tool description is too long.</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548640" y="365760"/>
            <a:ext cx="8686800" cy="274320"/>
          </a:xfrm>
          <a:prstGeom prst="rect">
            <a:avLst/>
          </a:prstGeom>
          <a:noFill/>
          <a:ln/>
        </p:spPr>
        <p:txBody>
          <a:bodyPr wrap="square" lIns="0" tIns="0" rIns="0" bIns="0"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TAKE-HOME QUESTIONS</a:t>
            </a:r>
            <a:endParaRPr lang="en-US" sz="1200" dirty="0"/>
          </a:p>
        </p:txBody>
      </p:sp>
      <p:sp>
        <p:nvSpPr>
          <p:cNvPr id="3" name="Text 1"/>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200" dirty="0">
                <a:solidFill>
                  <a:srgbClr val="141413"/>
                </a:solidFill>
                <a:latin typeface="Cambria" pitchFamily="34" charset="0"/>
                <a:ea typeface="Cambria" pitchFamily="34" charset="-122"/>
                <a:cs typeface="Cambria" pitchFamily="34" charset="-120"/>
              </a:rPr>
              <a:t>Questions 3 and 4 (original practice, exam format)</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87867F"/>
                </a:solidFill>
                <a:latin typeface="Calibri" pitchFamily="34" charset="0"/>
                <a:ea typeface="Calibri" pitchFamily="34" charset="-122"/>
                <a:cs typeface="Calibri" pitchFamily="34" charset="-120"/>
              </a:rPr>
              <a:t>CCAR-F Skills Curriculum  ·  Session 1  ·  28</a:t>
            </a:r>
            <a:endParaRPr lang="en-US" sz="1000" dirty="0"/>
          </a:p>
        </p:txBody>
      </p:sp>
      <p:sp>
        <p:nvSpPr>
          <p:cNvPr id="5" name="Text 3"/>
          <p:cNvSpPr txBox="1"/>
          <p:nvPr/>
        </p:nvSpPr>
        <p:spPr>
          <a:xfrm>
            <a:off x="8869680" y="365760"/>
            <a:ext cx="2770632" cy="274320"/>
          </a:xfrm>
          <a:prstGeom prst="rect">
            <a:avLst/>
          </a:prstGeom>
          <a:noFill/>
          <a:ln/>
        </p:spPr>
        <p:txBody>
          <a:bodyPr wrap="square" lIns="0" tIns="0" rIns="0" bIns="0" rtlCol="0" anchor="ctr"/>
          <a:lstStyle/>
          <a:p>
            <a:pPr algn="r" indent="0" marL="0">
              <a:buNone/>
            </a:pPr>
            <a:r>
              <a:rPr lang="en-US" sz="1100" dirty="0">
                <a:solidFill>
                  <a:srgbClr val="87867F"/>
                </a:solidFill>
                <a:latin typeface="Calibri" pitchFamily="34" charset="0"/>
                <a:ea typeface="Calibri" pitchFamily="34" charset="-122"/>
                <a:cs typeface="Calibri" pitchFamily="34" charset="-120"/>
              </a:rPr>
              <a:t>58–59 min</a:t>
            </a:r>
            <a:endParaRPr lang="en-US" sz="1100" dirty="0"/>
          </a:p>
        </p:txBody>
      </p:sp>
      <p:sp>
        <p:nvSpPr>
          <p:cNvPr id="6" name="Shape 4"/>
          <p:cNvSpPr/>
          <p:nvPr/>
        </p:nvSpPr>
        <p:spPr>
          <a:xfrm>
            <a:off x="548640" y="1600200"/>
            <a:ext cx="11091672" cy="2148840"/>
          </a:xfrm>
          <a:prstGeom prst="roundRect">
            <a:avLst>
              <a:gd name="adj" fmla="val 5106"/>
            </a:avLst>
          </a:prstGeom>
          <a:solidFill>
            <a:srgbClr val="FFFFFF"/>
          </a:solidFill>
          <a:ln w="9525">
            <a:solidFill>
              <a:srgbClr val="E8E6DC"/>
            </a:solidFill>
            <a:prstDash val="solid"/>
          </a:ln>
        </p:spPr>
      </p:sp>
      <p:sp>
        <p:nvSpPr>
          <p:cNvPr id="7" name="Text 5"/>
          <p:cNvSpPr txBox="1"/>
          <p:nvPr/>
        </p:nvSpPr>
        <p:spPr>
          <a:xfrm>
            <a:off x="777240" y="1737360"/>
            <a:ext cx="731520" cy="411480"/>
          </a:xfrm>
          <a:prstGeom prst="rect">
            <a:avLst/>
          </a:prstGeom>
          <a:noFill/>
          <a:ln/>
        </p:spPr>
        <p:txBody>
          <a:bodyPr wrap="square" lIns="0" tIns="0" rIns="0" bIns="0" rtlCol="0" anchor="ctr"/>
          <a:lstStyle/>
          <a:p>
            <a:pPr indent="0" marL="0">
              <a:buNone/>
            </a:pPr>
            <a:r>
              <a:rPr lang="en-US" sz="2200" dirty="0">
                <a:solidFill>
                  <a:srgbClr val="D97757"/>
                </a:solidFill>
                <a:latin typeface="Cambria" pitchFamily="34" charset="0"/>
                <a:ea typeface="Cambria" pitchFamily="34" charset="-122"/>
                <a:cs typeface="Cambria" pitchFamily="34" charset="-120"/>
              </a:rPr>
              <a:t>Q3</a:t>
            </a:r>
            <a:endParaRPr lang="en-US" sz="2200" dirty="0"/>
          </a:p>
        </p:txBody>
      </p:sp>
      <p:sp>
        <p:nvSpPr>
          <p:cNvPr id="8" name="Text 6"/>
          <p:cNvSpPr txBox="1"/>
          <p:nvPr/>
        </p:nvSpPr>
        <p:spPr>
          <a:xfrm>
            <a:off x="1554480" y="1709928"/>
            <a:ext cx="9875520" cy="868680"/>
          </a:xfrm>
          <a:prstGeom prst="rect">
            <a:avLst/>
          </a:prstGeom>
          <a:noFill/>
          <a:ln/>
        </p:spPr>
        <p:txBody>
          <a:bodyPr wrap="square" lIns="0" tIns="0" rIns="0" bIns="0" rtlCol="0" anchor="t"/>
          <a:lstStyle/>
          <a:p>
            <a:pPr indent="0" marL="0">
              <a:buNone/>
            </a:pPr>
            <a:r>
              <a:rPr lang="en-US" sz="1300" dirty="0">
                <a:solidFill>
                  <a:srgbClr val="141413"/>
                </a:solidFill>
                <a:latin typeface="Calibri" pitchFamily="34" charset="0"/>
                <a:ea typeface="Calibri" pitchFamily="34" charset="-122"/>
                <a:cs typeface="Calibri" pitchFamily="34" charset="-120"/>
              </a:rPr>
              <a:t>After Claude returns a tool_use block, the app runs the tool and calls the API again with the original user message and the tool's output as a plain user text message. The API rejects the request or Claude ignores the result. What is missing?</a:t>
            </a:r>
            <a:endParaRPr lang="en-US" sz="1300" dirty="0"/>
          </a:p>
        </p:txBody>
      </p:sp>
      <p:sp>
        <p:nvSpPr>
          <p:cNvPr id="9" name="Text 7"/>
          <p:cNvSpPr txBox="1"/>
          <p:nvPr/>
        </p:nvSpPr>
        <p:spPr>
          <a:xfrm>
            <a:off x="1554480" y="2606040"/>
            <a:ext cx="4846320" cy="502920"/>
          </a:xfrm>
          <a:prstGeom prst="rect">
            <a:avLst/>
          </a:prstGeom>
          <a:noFill/>
          <a:ln/>
        </p:spPr>
        <p:txBody>
          <a:bodyPr wrap="square" lIns="0" tIns="0" rIns="0" bIns="0" rtlCol="0" anchor="t"/>
          <a:lstStyle/>
          <a:p>
            <a:pPr indent="0" marL="0">
              <a:buNone/>
            </a:pPr>
            <a:r>
              <a:rPr lang="en-US" sz="1150" b="1" dirty="0">
                <a:solidFill>
                  <a:srgbClr val="B85C3E"/>
                </a:solidFill>
                <a:latin typeface="Calibri" pitchFamily="34" charset="0"/>
                <a:ea typeface="Calibri" pitchFamily="34" charset="-122"/>
                <a:cs typeface="Calibri" pitchFamily="34" charset="-120"/>
              </a:rPr>
              <a:t>A.  </a:t>
            </a:r>
            <a:pPr indent="0" marL="0">
              <a:buNone/>
            </a:pPr>
            <a:r>
              <a:rPr lang="en-US" sz="1150" dirty="0">
                <a:solidFill>
                  <a:srgbClr val="5E5D59"/>
                </a:solidFill>
                <a:latin typeface="Calibri" pitchFamily="34" charset="0"/>
                <a:ea typeface="Calibri" pitchFamily="34" charset="-122"/>
                <a:cs typeface="Calibri" pitchFamily="34" charset="-120"/>
              </a:rPr>
              <a:t>The assistant's tool_use turn, followed by a user turn containing a tool_result with the matching tool_use_id.</a:t>
            </a:r>
            <a:endParaRPr lang="en-US" sz="1150" dirty="0"/>
          </a:p>
        </p:txBody>
      </p:sp>
      <p:sp>
        <p:nvSpPr>
          <p:cNvPr id="10" name="Text 8"/>
          <p:cNvSpPr txBox="1"/>
          <p:nvPr/>
        </p:nvSpPr>
        <p:spPr>
          <a:xfrm>
            <a:off x="6537960" y="2606040"/>
            <a:ext cx="4846320" cy="502920"/>
          </a:xfrm>
          <a:prstGeom prst="rect">
            <a:avLst/>
          </a:prstGeom>
          <a:noFill/>
          <a:ln/>
        </p:spPr>
        <p:txBody>
          <a:bodyPr wrap="square" lIns="0" tIns="0" rIns="0" bIns="0" rtlCol="0" anchor="t"/>
          <a:lstStyle/>
          <a:p>
            <a:pPr indent="0" marL="0">
              <a:buNone/>
            </a:pPr>
            <a:r>
              <a:rPr lang="en-US" sz="1150" b="1" dirty="0">
                <a:solidFill>
                  <a:srgbClr val="B85C3E"/>
                </a:solidFill>
                <a:latin typeface="Calibri" pitchFamily="34" charset="0"/>
                <a:ea typeface="Calibri" pitchFamily="34" charset="-122"/>
                <a:cs typeface="Calibri" pitchFamily="34" charset="-120"/>
              </a:rPr>
              <a:t>B.  </a:t>
            </a:r>
            <a:pPr indent="0" marL="0">
              <a:buNone/>
            </a:pPr>
            <a:r>
              <a:rPr lang="en-US" sz="1150" dirty="0">
                <a:solidFill>
                  <a:srgbClr val="5E5D59"/>
                </a:solidFill>
                <a:latin typeface="Calibri" pitchFamily="34" charset="0"/>
                <a:ea typeface="Calibri" pitchFamily="34" charset="-122"/>
                <a:cs typeface="Calibri" pitchFamily="34" charset="-120"/>
              </a:rPr>
              <a:t>A higher temperature so Claude uses tool output.</a:t>
            </a:r>
            <a:endParaRPr lang="en-US" sz="1150" dirty="0"/>
          </a:p>
        </p:txBody>
      </p:sp>
      <p:sp>
        <p:nvSpPr>
          <p:cNvPr id="11" name="Text 9"/>
          <p:cNvSpPr txBox="1"/>
          <p:nvPr/>
        </p:nvSpPr>
        <p:spPr>
          <a:xfrm>
            <a:off x="1554480" y="3154680"/>
            <a:ext cx="4846320" cy="502920"/>
          </a:xfrm>
          <a:prstGeom prst="rect">
            <a:avLst/>
          </a:prstGeom>
          <a:noFill/>
          <a:ln/>
        </p:spPr>
        <p:txBody>
          <a:bodyPr wrap="square" lIns="0" tIns="0" rIns="0" bIns="0" rtlCol="0" anchor="t"/>
          <a:lstStyle/>
          <a:p>
            <a:pPr indent="0" marL="0">
              <a:buNone/>
            </a:pPr>
            <a:r>
              <a:rPr lang="en-US" sz="1150" b="1" dirty="0">
                <a:solidFill>
                  <a:srgbClr val="B85C3E"/>
                </a:solidFill>
                <a:latin typeface="Calibri" pitchFamily="34" charset="0"/>
                <a:ea typeface="Calibri" pitchFamily="34" charset="-122"/>
                <a:cs typeface="Calibri" pitchFamily="34" charset="-120"/>
              </a:rPr>
              <a:t>C.  </a:t>
            </a:r>
            <a:pPr indent="0" marL="0">
              <a:buNone/>
            </a:pPr>
            <a:r>
              <a:rPr lang="en-US" sz="1150" dirty="0">
                <a:solidFill>
                  <a:srgbClr val="5E5D59"/>
                </a:solidFill>
                <a:latin typeface="Calibri" pitchFamily="34" charset="0"/>
                <a:ea typeface="Calibri" pitchFamily="34" charset="-122"/>
                <a:cs typeface="Calibri" pitchFamily="34" charset="-120"/>
              </a:rPr>
              <a:t>A second system prompt describing the tool output.</a:t>
            </a:r>
            <a:endParaRPr lang="en-US" sz="1150" dirty="0"/>
          </a:p>
        </p:txBody>
      </p:sp>
      <p:sp>
        <p:nvSpPr>
          <p:cNvPr id="12" name="Text 10"/>
          <p:cNvSpPr txBox="1"/>
          <p:nvPr/>
        </p:nvSpPr>
        <p:spPr>
          <a:xfrm>
            <a:off x="6537960" y="3154680"/>
            <a:ext cx="4846320" cy="502920"/>
          </a:xfrm>
          <a:prstGeom prst="rect">
            <a:avLst/>
          </a:prstGeom>
          <a:noFill/>
          <a:ln/>
        </p:spPr>
        <p:txBody>
          <a:bodyPr wrap="square" lIns="0" tIns="0" rIns="0" bIns="0" rtlCol="0" anchor="t"/>
          <a:lstStyle/>
          <a:p>
            <a:pPr indent="0" marL="0">
              <a:buNone/>
            </a:pPr>
            <a:r>
              <a:rPr lang="en-US" sz="1150" b="1" dirty="0">
                <a:solidFill>
                  <a:srgbClr val="B85C3E"/>
                </a:solidFill>
                <a:latin typeface="Calibri" pitchFamily="34" charset="0"/>
                <a:ea typeface="Calibri" pitchFamily="34" charset="-122"/>
                <a:cs typeface="Calibri" pitchFamily="34" charset="-120"/>
              </a:rPr>
              <a:t>D.  </a:t>
            </a:r>
            <a:pPr indent="0" marL="0">
              <a:buNone/>
            </a:pPr>
            <a:r>
              <a:rPr lang="en-US" sz="1150" dirty="0">
                <a:solidFill>
                  <a:srgbClr val="5E5D59"/>
                </a:solidFill>
                <a:latin typeface="Calibri" pitchFamily="34" charset="0"/>
                <a:ea typeface="Calibri" pitchFamily="34" charset="-122"/>
                <a:cs typeface="Calibri" pitchFamily="34" charset="-120"/>
              </a:rPr>
              <a:t>A stop_sequence set to the tool name.</a:t>
            </a:r>
            <a:endParaRPr lang="en-US" sz="1150" dirty="0"/>
          </a:p>
        </p:txBody>
      </p:sp>
      <p:sp>
        <p:nvSpPr>
          <p:cNvPr id="13" name="Shape 11"/>
          <p:cNvSpPr/>
          <p:nvPr/>
        </p:nvSpPr>
        <p:spPr>
          <a:xfrm>
            <a:off x="548640" y="3886200"/>
            <a:ext cx="11091672" cy="2148840"/>
          </a:xfrm>
          <a:prstGeom prst="roundRect">
            <a:avLst>
              <a:gd name="adj" fmla="val 5106"/>
            </a:avLst>
          </a:prstGeom>
          <a:solidFill>
            <a:srgbClr val="FFFFFF"/>
          </a:solidFill>
          <a:ln w="9525">
            <a:solidFill>
              <a:srgbClr val="E8E6DC"/>
            </a:solidFill>
            <a:prstDash val="solid"/>
          </a:ln>
        </p:spPr>
      </p:sp>
      <p:sp>
        <p:nvSpPr>
          <p:cNvPr id="14" name="Text 12"/>
          <p:cNvSpPr txBox="1"/>
          <p:nvPr/>
        </p:nvSpPr>
        <p:spPr>
          <a:xfrm>
            <a:off x="777240" y="4023360"/>
            <a:ext cx="731520" cy="411480"/>
          </a:xfrm>
          <a:prstGeom prst="rect">
            <a:avLst/>
          </a:prstGeom>
          <a:noFill/>
          <a:ln/>
        </p:spPr>
        <p:txBody>
          <a:bodyPr wrap="square" lIns="0" tIns="0" rIns="0" bIns="0" rtlCol="0" anchor="ctr"/>
          <a:lstStyle/>
          <a:p>
            <a:pPr indent="0" marL="0">
              <a:buNone/>
            </a:pPr>
            <a:r>
              <a:rPr lang="en-US" sz="2200" dirty="0">
                <a:solidFill>
                  <a:srgbClr val="D97757"/>
                </a:solidFill>
                <a:latin typeface="Cambria" pitchFamily="34" charset="0"/>
                <a:ea typeface="Cambria" pitchFamily="34" charset="-122"/>
                <a:cs typeface="Cambria" pitchFamily="34" charset="-120"/>
              </a:rPr>
              <a:t>Q4</a:t>
            </a:r>
            <a:endParaRPr lang="en-US" sz="2200" dirty="0"/>
          </a:p>
        </p:txBody>
      </p:sp>
      <p:sp>
        <p:nvSpPr>
          <p:cNvPr id="15" name="Text 13"/>
          <p:cNvSpPr txBox="1"/>
          <p:nvPr/>
        </p:nvSpPr>
        <p:spPr>
          <a:xfrm>
            <a:off x="1554480" y="3995928"/>
            <a:ext cx="9875520" cy="868680"/>
          </a:xfrm>
          <a:prstGeom prst="rect">
            <a:avLst/>
          </a:prstGeom>
          <a:noFill/>
          <a:ln/>
        </p:spPr>
        <p:txBody>
          <a:bodyPr wrap="square" lIns="0" tIns="0" rIns="0" bIns="0" rtlCol="0" anchor="t"/>
          <a:lstStyle/>
          <a:p>
            <a:pPr indent="0" marL="0">
              <a:buNone/>
            </a:pPr>
            <a:r>
              <a:rPr lang="en-US" sz="1300" dirty="0">
                <a:solidFill>
                  <a:srgbClr val="141413"/>
                </a:solidFill>
                <a:latin typeface="Calibri" pitchFamily="34" charset="0"/>
                <a:ea typeface="Calibri" pitchFamily="34" charset="-122"/>
                <a:cs typeface="Calibri" pitchFamily="34" charset="-120"/>
              </a:rPr>
              <a:t>Agents skip the "verify the customer first" step in about 3% of refund conversations despite a clear system prompt instruction. Each skipped check risks a wrong refund. Which is the most reliable first step?</a:t>
            </a:r>
            <a:endParaRPr lang="en-US" sz="1300" dirty="0"/>
          </a:p>
        </p:txBody>
      </p:sp>
      <p:sp>
        <p:nvSpPr>
          <p:cNvPr id="16" name="Text 14"/>
          <p:cNvSpPr txBox="1"/>
          <p:nvPr/>
        </p:nvSpPr>
        <p:spPr>
          <a:xfrm>
            <a:off x="1554480" y="4892040"/>
            <a:ext cx="4846320" cy="502920"/>
          </a:xfrm>
          <a:prstGeom prst="rect">
            <a:avLst/>
          </a:prstGeom>
          <a:noFill/>
          <a:ln/>
        </p:spPr>
        <p:txBody>
          <a:bodyPr wrap="square" lIns="0" tIns="0" rIns="0" bIns="0" rtlCol="0" anchor="t"/>
          <a:lstStyle/>
          <a:p>
            <a:pPr indent="0" marL="0">
              <a:buNone/>
            </a:pPr>
            <a:r>
              <a:rPr lang="en-US" sz="1150" b="1" dirty="0">
                <a:solidFill>
                  <a:srgbClr val="B85C3E"/>
                </a:solidFill>
                <a:latin typeface="Calibri" pitchFamily="34" charset="0"/>
                <a:ea typeface="Calibri" pitchFamily="34" charset="-122"/>
                <a:cs typeface="Calibri" pitchFamily="34" charset="-120"/>
              </a:rPr>
              <a:t>A.  </a:t>
            </a:r>
            <a:pPr indent="0" marL="0">
              <a:buNone/>
            </a:pPr>
            <a:r>
              <a:rPr lang="en-US" sz="1150" dirty="0">
                <a:solidFill>
                  <a:srgbClr val="5E5D59"/>
                </a:solidFill>
                <a:latin typeface="Calibri" pitchFamily="34" charset="0"/>
                <a:ea typeface="Calibri" pitchFamily="34" charset="-122"/>
                <a:cs typeface="Calibri" pitchFamily="34" charset="-120"/>
              </a:rPr>
              <a:t>Reword the instruction in capital letters.</a:t>
            </a:r>
            <a:endParaRPr lang="en-US" sz="1150" dirty="0"/>
          </a:p>
        </p:txBody>
      </p:sp>
      <p:sp>
        <p:nvSpPr>
          <p:cNvPr id="17" name="Text 15"/>
          <p:cNvSpPr txBox="1"/>
          <p:nvPr/>
        </p:nvSpPr>
        <p:spPr>
          <a:xfrm>
            <a:off x="6537960" y="4892040"/>
            <a:ext cx="4846320" cy="502920"/>
          </a:xfrm>
          <a:prstGeom prst="rect">
            <a:avLst/>
          </a:prstGeom>
          <a:noFill/>
          <a:ln/>
        </p:spPr>
        <p:txBody>
          <a:bodyPr wrap="square" lIns="0" tIns="0" rIns="0" bIns="0" rtlCol="0" anchor="t"/>
          <a:lstStyle/>
          <a:p>
            <a:pPr indent="0" marL="0">
              <a:buNone/>
            </a:pPr>
            <a:r>
              <a:rPr lang="en-US" sz="1150" b="1" dirty="0">
                <a:solidFill>
                  <a:srgbClr val="B85C3E"/>
                </a:solidFill>
                <a:latin typeface="Calibri" pitchFamily="34" charset="0"/>
                <a:ea typeface="Calibri" pitchFamily="34" charset="-122"/>
                <a:cs typeface="Calibri" pitchFamily="34" charset="-120"/>
              </a:rPr>
              <a:t>B.  </a:t>
            </a:r>
            <a:pPr indent="0" marL="0">
              <a:buNone/>
            </a:pPr>
            <a:r>
              <a:rPr lang="en-US" sz="1150" dirty="0">
                <a:solidFill>
                  <a:srgbClr val="5E5D59"/>
                </a:solidFill>
                <a:latin typeface="Calibri" pitchFamily="34" charset="0"/>
                <a:ea typeface="Calibri" pitchFamily="34" charset="-122"/>
                <a:cs typeface="Calibri" pitchFamily="34" charset="-120"/>
              </a:rPr>
              <a:t>Add three few-shot examples of correct verification.</a:t>
            </a:r>
            <a:endParaRPr lang="en-US" sz="1150" dirty="0"/>
          </a:p>
        </p:txBody>
      </p:sp>
      <p:sp>
        <p:nvSpPr>
          <p:cNvPr id="18" name="Text 16"/>
          <p:cNvSpPr txBox="1"/>
          <p:nvPr/>
        </p:nvSpPr>
        <p:spPr>
          <a:xfrm>
            <a:off x="1554480" y="5440680"/>
            <a:ext cx="4846320" cy="502920"/>
          </a:xfrm>
          <a:prstGeom prst="rect">
            <a:avLst/>
          </a:prstGeom>
          <a:noFill/>
          <a:ln/>
        </p:spPr>
        <p:txBody>
          <a:bodyPr wrap="square" lIns="0" tIns="0" rIns="0" bIns="0" rtlCol="0" anchor="t"/>
          <a:lstStyle/>
          <a:p>
            <a:pPr indent="0" marL="0">
              <a:buNone/>
            </a:pPr>
            <a:r>
              <a:rPr lang="en-US" sz="1150" b="1" dirty="0">
                <a:solidFill>
                  <a:srgbClr val="B85C3E"/>
                </a:solidFill>
                <a:latin typeface="Calibri" pitchFamily="34" charset="0"/>
                <a:ea typeface="Calibri" pitchFamily="34" charset="-122"/>
                <a:cs typeface="Calibri" pitchFamily="34" charset="-120"/>
              </a:rPr>
              <a:t>C.  </a:t>
            </a:r>
            <a:pPr indent="0" marL="0">
              <a:buNone/>
            </a:pPr>
            <a:r>
              <a:rPr lang="en-US" sz="1150" dirty="0">
                <a:solidFill>
                  <a:srgbClr val="5E5D59"/>
                </a:solidFill>
                <a:latin typeface="Calibri" pitchFamily="34" charset="0"/>
                <a:ea typeface="Calibri" pitchFamily="34" charset="-122"/>
                <a:cs typeface="Calibri" pitchFamily="34" charset="-120"/>
              </a:rPr>
              <a:t>Enforce the prerequisite in code so the refund tool cannot run until verification succeeds.</a:t>
            </a:r>
            <a:endParaRPr lang="en-US" sz="1150" dirty="0"/>
          </a:p>
        </p:txBody>
      </p:sp>
      <p:sp>
        <p:nvSpPr>
          <p:cNvPr id="19" name="Text 17"/>
          <p:cNvSpPr txBox="1"/>
          <p:nvPr/>
        </p:nvSpPr>
        <p:spPr>
          <a:xfrm>
            <a:off x="6537960" y="5440680"/>
            <a:ext cx="4846320" cy="502920"/>
          </a:xfrm>
          <a:prstGeom prst="rect">
            <a:avLst/>
          </a:prstGeom>
          <a:noFill/>
          <a:ln/>
        </p:spPr>
        <p:txBody>
          <a:bodyPr wrap="square" lIns="0" tIns="0" rIns="0" bIns="0" rtlCol="0" anchor="t"/>
          <a:lstStyle/>
          <a:p>
            <a:pPr indent="0" marL="0">
              <a:buNone/>
            </a:pPr>
            <a:r>
              <a:rPr lang="en-US" sz="1150" b="1" dirty="0">
                <a:solidFill>
                  <a:srgbClr val="B85C3E"/>
                </a:solidFill>
                <a:latin typeface="Calibri" pitchFamily="34" charset="0"/>
                <a:ea typeface="Calibri" pitchFamily="34" charset="-122"/>
                <a:cs typeface="Calibri" pitchFamily="34" charset="-120"/>
              </a:rPr>
              <a:t>D.  </a:t>
            </a:r>
            <a:pPr indent="0" marL="0">
              <a:buNone/>
            </a:pPr>
            <a:r>
              <a:rPr lang="en-US" sz="1150" dirty="0">
                <a:solidFill>
                  <a:srgbClr val="5E5D59"/>
                </a:solidFill>
                <a:latin typeface="Calibri" pitchFamily="34" charset="0"/>
                <a:ea typeface="Calibri" pitchFamily="34" charset="-122"/>
                <a:cs typeface="Calibri" pitchFamily="34" charset="-120"/>
              </a:rPr>
              <a:t>Ask Claude to rate its confidence before each refund.</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548640" y="365760"/>
            <a:ext cx="8686800" cy="274320"/>
          </a:xfrm>
          <a:prstGeom prst="rect">
            <a:avLst/>
          </a:prstGeom>
          <a:noFill/>
          <a:ln/>
        </p:spPr>
        <p:txBody>
          <a:bodyPr wrap="square" lIns="0" tIns="0" rIns="0" bIns="0"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REFERENCES</a:t>
            </a:r>
            <a:endParaRPr lang="en-US" sz="1200" dirty="0"/>
          </a:p>
        </p:txBody>
      </p:sp>
      <p:sp>
        <p:nvSpPr>
          <p:cNvPr id="3" name="Text 1"/>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200" dirty="0">
                <a:solidFill>
                  <a:srgbClr val="141413"/>
                </a:solidFill>
                <a:latin typeface="Cambria" pitchFamily="34" charset="0"/>
                <a:ea typeface="Cambria" pitchFamily="34" charset="-122"/>
                <a:cs typeface="Cambria" pitchFamily="34" charset="-120"/>
              </a:rPr>
              <a:t>Further reading: official sources</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87867F"/>
                </a:solidFill>
                <a:latin typeface="Calibri" pitchFamily="34" charset="0"/>
                <a:ea typeface="Calibri" pitchFamily="34" charset="-122"/>
                <a:cs typeface="Calibri" pitchFamily="34" charset="-120"/>
              </a:rPr>
              <a:t>CCAR-F Skills Curriculum  ·  Session 1  ·  29</a:t>
            </a:r>
            <a:endParaRPr lang="en-US" sz="1000" dirty="0"/>
          </a:p>
        </p:txBody>
      </p:sp>
      <p:sp>
        <p:nvSpPr>
          <p:cNvPr id="5" name="Text 3"/>
          <p:cNvSpPr txBox="1"/>
          <p:nvPr/>
        </p:nvSpPr>
        <p:spPr>
          <a:xfrm>
            <a:off x="548640" y="1554480"/>
            <a:ext cx="5120640" cy="411480"/>
          </a:xfrm>
          <a:prstGeom prst="rect">
            <a:avLst/>
          </a:prstGeom>
          <a:noFill/>
          <a:ln/>
        </p:spPr>
        <p:txBody>
          <a:bodyPr wrap="square" lIns="0" tIns="0" rIns="0" bIns="0" rtlCol="0" anchor="ctr"/>
          <a:lstStyle/>
          <a:p>
            <a:pPr indent="0" marL="0">
              <a:buNone/>
            </a:pPr>
            <a:r>
              <a:rPr lang="en-US" sz="1350" b="1" dirty="0">
                <a:solidFill>
                  <a:srgbClr val="141413"/>
                </a:solidFill>
                <a:latin typeface="Calibri" pitchFamily="34" charset="0"/>
                <a:ea typeface="Calibri" pitchFamily="34" charset="-122"/>
                <a:cs typeface="Calibri" pitchFamily="34" charset="-120"/>
              </a:rPr>
              <a:t>Messages API reference</a:t>
            </a:r>
            <a:endParaRPr lang="en-US" sz="1350" dirty="0"/>
          </a:p>
        </p:txBody>
      </p:sp>
      <p:sp>
        <p:nvSpPr>
          <p:cNvPr id="6" name="Text 4"/>
          <p:cNvSpPr txBox="1"/>
          <p:nvPr/>
        </p:nvSpPr>
        <p:spPr>
          <a:xfrm>
            <a:off x="5760720" y="1554480"/>
            <a:ext cx="5852160" cy="411480"/>
          </a:xfrm>
          <a:prstGeom prst="rect">
            <a:avLst/>
          </a:prstGeom>
          <a:noFill/>
          <a:ln/>
        </p:spPr>
        <p:txBody>
          <a:bodyPr wrap="square" lIns="0" tIns="0" rIns="0" bIns="0" rtlCol="0" anchor="ctr"/>
          <a:lstStyle/>
          <a:p>
            <a:pPr indent="0" marL="0">
              <a:buNone/>
            </a:pPr>
            <a:r>
              <a:rPr lang="en-US" sz="1100" dirty="0">
                <a:solidFill>
                  <a:srgbClr val="B85C3E"/>
                </a:solidFill>
                <a:latin typeface="Courier New" pitchFamily="34" charset="0"/>
                <a:ea typeface="Courier New" pitchFamily="34" charset="-122"/>
                <a:cs typeface="Courier New" pitchFamily="34" charset="-120"/>
              </a:rPr>
              <a:t>platform.claude.com/docs/en/api/messages</a:t>
            </a:r>
            <a:endParaRPr lang="en-US" sz="1100" dirty="0"/>
          </a:p>
        </p:txBody>
      </p:sp>
      <p:sp>
        <p:nvSpPr>
          <p:cNvPr id="7" name="Text 5"/>
          <p:cNvSpPr txBox="1"/>
          <p:nvPr/>
        </p:nvSpPr>
        <p:spPr>
          <a:xfrm>
            <a:off x="548640" y="2066544"/>
            <a:ext cx="5120640" cy="411480"/>
          </a:xfrm>
          <a:prstGeom prst="rect">
            <a:avLst/>
          </a:prstGeom>
          <a:noFill/>
          <a:ln/>
        </p:spPr>
        <p:txBody>
          <a:bodyPr wrap="square" lIns="0" tIns="0" rIns="0" bIns="0" rtlCol="0" anchor="ctr"/>
          <a:lstStyle/>
          <a:p>
            <a:pPr indent="0" marL="0">
              <a:buNone/>
            </a:pPr>
            <a:r>
              <a:rPr lang="en-US" sz="1350" b="1" dirty="0">
                <a:solidFill>
                  <a:srgbClr val="141413"/>
                </a:solidFill>
                <a:latin typeface="Calibri" pitchFamily="34" charset="0"/>
                <a:ea typeface="Calibri" pitchFamily="34" charset="-122"/>
                <a:cs typeface="Calibri" pitchFamily="34" charset="-120"/>
              </a:rPr>
              <a:t>Tool use overview</a:t>
            </a:r>
            <a:endParaRPr lang="en-US" sz="1350" dirty="0"/>
          </a:p>
        </p:txBody>
      </p:sp>
      <p:sp>
        <p:nvSpPr>
          <p:cNvPr id="8" name="Text 6"/>
          <p:cNvSpPr txBox="1"/>
          <p:nvPr/>
        </p:nvSpPr>
        <p:spPr>
          <a:xfrm>
            <a:off x="5760720" y="2066544"/>
            <a:ext cx="5852160" cy="411480"/>
          </a:xfrm>
          <a:prstGeom prst="rect">
            <a:avLst/>
          </a:prstGeom>
          <a:noFill/>
          <a:ln/>
        </p:spPr>
        <p:txBody>
          <a:bodyPr wrap="square" lIns="0" tIns="0" rIns="0" bIns="0" rtlCol="0" anchor="ctr"/>
          <a:lstStyle/>
          <a:p>
            <a:pPr indent="0" marL="0">
              <a:buNone/>
            </a:pPr>
            <a:r>
              <a:rPr lang="en-US" sz="1100" dirty="0">
                <a:solidFill>
                  <a:srgbClr val="B85C3E"/>
                </a:solidFill>
                <a:latin typeface="Courier New" pitchFamily="34" charset="0"/>
                <a:ea typeface="Courier New" pitchFamily="34" charset="-122"/>
                <a:cs typeface="Courier New" pitchFamily="34" charset="-120"/>
              </a:rPr>
              <a:t>platform.claude.com/docs/en/agents-and-tools/tool-use/overview</a:t>
            </a:r>
            <a:endParaRPr lang="en-US" sz="1100" dirty="0"/>
          </a:p>
        </p:txBody>
      </p:sp>
      <p:sp>
        <p:nvSpPr>
          <p:cNvPr id="9" name="Text 7"/>
          <p:cNvSpPr txBox="1"/>
          <p:nvPr/>
        </p:nvSpPr>
        <p:spPr>
          <a:xfrm>
            <a:off x="548640" y="2578608"/>
            <a:ext cx="5120640" cy="411480"/>
          </a:xfrm>
          <a:prstGeom prst="rect">
            <a:avLst/>
          </a:prstGeom>
          <a:noFill/>
          <a:ln/>
        </p:spPr>
        <p:txBody>
          <a:bodyPr wrap="square" lIns="0" tIns="0" rIns="0" bIns="0" rtlCol="0" anchor="ctr"/>
          <a:lstStyle/>
          <a:p>
            <a:pPr indent="0" marL="0">
              <a:buNone/>
            </a:pPr>
            <a:r>
              <a:rPr lang="en-US" sz="1350" b="1" dirty="0">
                <a:solidFill>
                  <a:srgbClr val="141413"/>
                </a:solidFill>
                <a:latin typeface="Calibri" pitchFamily="34" charset="0"/>
                <a:ea typeface="Calibri" pitchFamily="34" charset="-122"/>
                <a:cs typeface="Calibri" pitchFamily="34" charset="-120"/>
              </a:rPr>
              <a:t>How tool use works</a:t>
            </a:r>
            <a:endParaRPr lang="en-US" sz="1350" dirty="0"/>
          </a:p>
        </p:txBody>
      </p:sp>
      <p:sp>
        <p:nvSpPr>
          <p:cNvPr id="10" name="Text 8"/>
          <p:cNvSpPr txBox="1"/>
          <p:nvPr/>
        </p:nvSpPr>
        <p:spPr>
          <a:xfrm>
            <a:off x="5760720" y="2578608"/>
            <a:ext cx="5852160" cy="411480"/>
          </a:xfrm>
          <a:prstGeom prst="rect">
            <a:avLst/>
          </a:prstGeom>
          <a:noFill/>
          <a:ln/>
        </p:spPr>
        <p:txBody>
          <a:bodyPr wrap="square" lIns="0" tIns="0" rIns="0" bIns="0" rtlCol="0" anchor="ctr"/>
          <a:lstStyle/>
          <a:p>
            <a:pPr indent="0" marL="0">
              <a:buNone/>
            </a:pPr>
            <a:r>
              <a:rPr lang="en-US" sz="1100" dirty="0">
                <a:solidFill>
                  <a:srgbClr val="B85C3E"/>
                </a:solidFill>
                <a:latin typeface="Courier New" pitchFamily="34" charset="0"/>
                <a:ea typeface="Courier New" pitchFamily="34" charset="-122"/>
                <a:cs typeface="Courier New" pitchFamily="34" charset="-120"/>
              </a:rPr>
              <a:t>platform.claude.com/docs/en/agents-and-tools/tool-use/how-tool-use-works</a:t>
            </a:r>
            <a:endParaRPr lang="en-US" sz="1100" dirty="0"/>
          </a:p>
        </p:txBody>
      </p:sp>
      <p:sp>
        <p:nvSpPr>
          <p:cNvPr id="11" name="Text 9"/>
          <p:cNvSpPr txBox="1"/>
          <p:nvPr/>
        </p:nvSpPr>
        <p:spPr>
          <a:xfrm>
            <a:off x="548640" y="3090672"/>
            <a:ext cx="5120640" cy="411480"/>
          </a:xfrm>
          <a:prstGeom prst="rect">
            <a:avLst/>
          </a:prstGeom>
          <a:noFill/>
          <a:ln/>
        </p:spPr>
        <p:txBody>
          <a:bodyPr wrap="square" lIns="0" tIns="0" rIns="0" bIns="0" rtlCol="0" anchor="ctr"/>
          <a:lstStyle/>
          <a:p>
            <a:pPr indent="0" marL="0">
              <a:buNone/>
            </a:pPr>
            <a:r>
              <a:rPr lang="en-US" sz="1350" b="1" dirty="0">
                <a:solidFill>
                  <a:srgbClr val="141413"/>
                </a:solidFill>
                <a:latin typeface="Calibri" pitchFamily="34" charset="0"/>
                <a:ea typeface="Calibri" pitchFamily="34" charset="-122"/>
                <a:cs typeface="Calibri" pitchFamily="34" charset="-120"/>
              </a:rPr>
              <a:t>Handling stop reasons</a:t>
            </a:r>
            <a:endParaRPr lang="en-US" sz="1350" dirty="0"/>
          </a:p>
        </p:txBody>
      </p:sp>
      <p:sp>
        <p:nvSpPr>
          <p:cNvPr id="12" name="Text 10"/>
          <p:cNvSpPr txBox="1"/>
          <p:nvPr/>
        </p:nvSpPr>
        <p:spPr>
          <a:xfrm>
            <a:off x="5760720" y="3090672"/>
            <a:ext cx="5852160" cy="411480"/>
          </a:xfrm>
          <a:prstGeom prst="rect">
            <a:avLst/>
          </a:prstGeom>
          <a:noFill/>
          <a:ln/>
        </p:spPr>
        <p:txBody>
          <a:bodyPr wrap="square" lIns="0" tIns="0" rIns="0" bIns="0" rtlCol="0" anchor="ctr"/>
          <a:lstStyle/>
          <a:p>
            <a:pPr indent="0" marL="0">
              <a:buNone/>
            </a:pPr>
            <a:r>
              <a:rPr lang="en-US" sz="1100" dirty="0">
                <a:solidFill>
                  <a:srgbClr val="B85C3E"/>
                </a:solidFill>
                <a:latin typeface="Courier New" pitchFamily="34" charset="0"/>
                <a:ea typeface="Courier New" pitchFamily="34" charset="-122"/>
                <a:cs typeface="Courier New" pitchFamily="34" charset="-120"/>
              </a:rPr>
              <a:t>platform.claude.com/docs/en/build-with-claude/handling-stop-reasons</a:t>
            </a:r>
            <a:endParaRPr lang="en-US" sz="1100" dirty="0"/>
          </a:p>
        </p:txBody>
      </p:sp>
      <p:sp>
        <p:nvSpPr>
          <p:cNvPr id="13" name="Text 11"/>
          <p:cNvSpPr txBox="1"/>
          <p:nvPr/>
        </p:nvSpPr>
        <p:spPr>
          <a:xfrm>
            <a:off x="548640" y="3602736"/>
            <a:ext cx="5120640" cy="411480"/>
          </a:xfrm>
          <a:prstGeom prst="rect">
            <a:avLst/>
          </a:prstGeom>
          <a:noFill/>
          <a:ln/>
        </p:spPr>
        <p:txBody>
          <a:bodyPr wrap="square" lIns="0" tIns="0" rIns="0" bIns="0" rtlCol="0" anchor="ctr"/>
          <a:lstStyle/>
          <a:p>
            <a:pPr indent="0" marL="0">
              <a:buNone/>
            </a:pPr>
            <a:r>
              <a:rPr lang="en-US" sz="1350" b="1" dirty="0">
                <a:solidFill>
                  <a:srgbClr val="141413"/>
                </a:solidFill>
                <a:latin typeface="Calibri" pitchFamily="34" charset="0"/>
                <a:ea typeface="Calibri" pitchFamily="34" charset="-122"/>
                <a:cs typeface="Calibri" pitchFamily="34" charset="-120"/>
              </a:rPr>
              <a:t>Prompt caching (existence only)</a:t>
            </a:r>
            <a:endParaRPr lang="en-US" sz="1350" dirty="0"/>
          </a:p>
        </p:txBody>
      </p:sp>
      <p:sp>
        <p:nvSpPr>
          <p:cNvPr id="14" name="Text 12"/>
          <p:cNvSpPr txBox="1"/>
          <p:nvPr/>
        </p:nvSpPr>
        <p:spPr>
          <a:xfrm>
            <a:off x="5760720" y="3602736"/>
            <a:ext cx="5852160" cy="411480"/>
          </a:xfrm>
          <a:prstGeom prst="rect">
            <a:avLst/>
          </a:prstGeom>
          <a:noFill/>
          <a:ln/>
        </p:spPr>
        <p:txBody>
          <a:bodyPr wrap="square" lIns="0" tIns="0" rIns="0" bIns="0" rtlCol="0" anchor="ctr"/>
          <a:lstStyle/>
          <a:p>
            <a:pPr indent="0" marL="0">
              <a:buNone/>
            </a:pPr>
            <a:r>
              <a:rPr lang="en-US" sz="1100" dirty="0">
                <a:solidFill>
                  <a:srgbClr val="B85C3E"/>
                </a:solidFill>
                <a:latin typeface="Courier New" pitchFamily="34" charset="0"/>
                <a:ea typeface="Courier New" pitchFamily="34" charset="-122"/>
                <a:cs typeface="Courier New" pitchFamily="34" charset="-120"/>
              </a:rPr>
              <a:t>platform.claude.com/docs/en/build-with-claude/prompt-caching</a:t>
            </a:r>
            <a:endParaRPr lang="en-US" sz="1100" dirty="0"/>
          </a:p>
        </p:txBody>
      </p:sp>
      <p:sp>
        <p:nvSpPr>
          <p:cNvPr id="15" name="Text 13"/>
          <p:cNvSpPr txBox="1"/>
          <p:nvPr/>
        </p:nvSpPr>
        <p:spPr>
          <a:xfrm>
            <a:off x="548640" y="4114800"/>
            <a:ext cx="5120640" cy="411480"/>
          </a:xfrm>
          <a:prstGeom prst="rect">
            <a:avLst/>
          </a:prstGeom>
          <a:noFill/>
          <a:ln/>
        </p:spPr>
        <p:txBody>
          <a:bodyPr wrap="square" lIns="0" tIns="0" rIns="0" bIns="0" rtlCol="0" anchor="ctr"/>
          <a:lstStyle/>
          <a:p>
            <a:pPr indent="0" marL="0">
              <a:buNone/>
            </a:pPr>
            <a:r>
              <a:rPr lang="en-US" sz="1350" b="1" dirty="0">
                <a:solidFill>
                  <a:srgbClr val="141413"/>
                </a:solidFill>
                <a:latin typeface="Calibri" pitchFamily="34" charset="0"/>
                <a:ea typeface="Calibri" pitchFamily="34" charset="-122"/>
                <a:cs typeface="Calibri" pitchFamily="34" charset="-120"/>
              </a:rPr>
              <a:t>Getting started with the API</a:t>
            </a:r>
            <a:endParaRPr lang="en-US" sz="1350" dirty="0"/>
          </a:p>
        </p:txBody>
      </p:sp>
      <p:sp>
        <p:nvSpPr>
          <p:cNvPr id="16" name="Text 14"/>
          <p:cNvSpPr txBox="1"/>
          <p:nvPr/>
        </p:nvSpPr>
        <p:spPr>
          <a:xfrm>
            <a:off x="5760720" y="4114800"/>
            <a:ext cx="5852160" cy="411480"/>
          </a:xfrm>
          <a:prstGeom prst="rect">
            <a:avLst/>
          </a:prstGeom>
          <a:noFill/>
          <a:ln/>
        </p:spPr>
        <p:txBody>
          <a:bodyPr wrap="square" lIns="0" tIns="0" rIns="0" bIns="0" rtlCol="0" anchor="ctr"/>
          <a:lstStyle/>
          <a:p>
            <a:pPr indent="0" marL="0">
              <a:buNone/>
            </a:pPr>
            <a:r>
              <a:rPr lang="en-US" sz="1100" dirty="0">
                <a:solidFill>
                  <a:srgbClr val="B85C3E"/>
                </a:solidFill>
                <a:latin typeface="Courier New" pitchFamily="34" charset="0"/>
                <a:ea typeface="Courier New" pitchFamily="34" charset="-122"/>
                <a:cs typeface="Courier New" pitchFamily="34" charset="-120"/>
              </a:rPr>
              <a:t>platform.claude.com/docs/en/api/getting-started</a:t>
            </a:r>
            <a:endParaRPr lang="en-US" sz="1100" dirty="0"/>
          </a:p>
        </p:txBody>
      </p:sp>
      <p:sp>
        <p:nvSpPr>
          <p:cNvPr id="17" name="Text 15"/>
          <p:cNvSpPr txBox="1"/>
          <p:nvPr/>
        </p:nvSpPr>
        <p:spPr>
          <a:xfrm>
            <a:off x="548640" y="4626864"/>
            <a:ext cx="5120640" cy="411480"/>
          </a:xfrm>
          <a:prstGeom prst="rect">
            <a:avLst/>
          </a:prstGeom>
          <a:noFill/>
          <a:ln/>
        </p:spPr>
        <p:txBody>
          <a:bodyPr wrap="square" lIns="0" tIns="0" rIns="0" bIns="0" rtlCol="0" anchor="ctr"/>
          <a:lstStyle/>
          <a:p>
            <a:pPr indent="0" marL="0">
              <a:buNone/>
            </a:pPr>
            <a:r>
              <a:rPr lang="en-US" sz="1350" b="1" dirty="0">
                <a:solidFill>
                  <a:srgbClr val="141413"/>
                </a:solidFill>
                <a:latin typeface="Calibri" pitchFamily="34" charset="0"/>
                <a:ea typeface="Calibri" pitchFamily="34" charset="-122"/>
                <a:cs typeface="Calibri" pitchFamily="34" charset="-120"/>
              </a:rPr>
              <a:t>Agent SDK quickstart</a:t>
            </a:r>
            <a:endParaRPr lang="en-US" sz="1350" dirty="0"/>
          </a:p>
        </p:txBody>
      </p:sp>
      <p:sp>
        <p:nvSpPr>
          <p:cNvPr id="18" name="Text 16"/>
          <p:cNvSpPr txBox="1"/>
          <p:nvPr/>
        </p:nvSpPr>
        <p:spPr>
          <a:xfrm>
            <a:off x="5760720" y="4626864"/>
            <a:ext cx="5852160" cy="411480"/>
          </a:xfrm>
          <a:prstGeom prst="rect">
            <a:avLst/>
          </a:prstGeom>
          <a:noFill/>
          <a:ln/>
        </p:spPr>
        <p:txBody>
          <a:bodyPr wrap="square" lIns="0" tIns="0" rIns="0" bIns="0" rtlCol="0" anchor="ctr"/>
          <a:lstStyle/>
          <a:p>
            <a:pPr indent="0" marL="0">
              <a:buNone/>
            </a:pPr>
            <a:r>
              <a:rPr lang="en-US" sz="1100" dirty="0">
                <a:solidFill>
                  <a:srgbClr val="B85C3E"/>
                </a:solidFill>
                <a:latin typeface="Courier New" pitchFamily="34" charset="0"/>
                <a:ea typeface="Courier New" pitchFamily="34" charset="-122"/>
                <a:cs typeface="Courier New" pitchFamily="34" charset="-120"/>
              </a:rPr>
              <a:t>code.claude.com/docs/en/agent-sdk/quickstart</a:t>
            </a:r>
            <a:endParaRPr lang="en-US" sz="1100" dirty="0"/>
          </a:p>
        </p:txBody>
      </p:sp>
      <p:sp>
        <p:nvSpPr>
          <p:cNvPr id="19" name="Text 17"/>
          <p:cNvSpPr txBox="1"/>
          <p:nvPr/>
        </p:nvSpPr>
        <p:spPr>
          <a:xfrm>
            <a:off x="548640" y="5138928"/>
            <a:ext cx="5120640" cy="411480"/>
          </a:xfrm>
          <a:prstGeom prst="rect">
            <a:avLst/>
          </a:prstGeom>
          <a:noFill/>
          <a:ln/>
        </p:spPr>
        <p:txBody>
          <a:bodyPr wrap="square" lIns="0" tIns="0" rIns="0" bIns="0" rtlCol="0" anchor="ctr"/>
          <a:lstStyle/>
          <a:p>
            <a:pPr indent="0" marL="0">
              <a:buNone/>
            </a:pPr>
            <a:r>
              <a:rPr lang="en-US" sz="1350" b="1" dirty="0">
                <a:solidFill>
                  <a:srgbClr val="141413"/>
                </a:solidFill>
                <a:latin typeface="Calibri" pitchFamily="34" charset="0"/>
                <a:ea typeface="Calibri" pitchFamily="34" charset="-122"/>
                <a:cs typeface="Calibri" pitchFamily="34" charset="-120"/>
              </a:rPr>
              <a:t>Building effective agents (Anthropic Engineering)</a:t>
            </a:r>
            <a:endParaRPr lang="en-US" sz="1350" dirty="0"/>
          </a:p>
        </p:txBody>
      </p:sp>
      <p:sp>
        <p:nvSpPr>
          <p:cNvPr id="20" name="Text 18"/>
          <p:cNvSpPr txBox="1"/>
          <p:nvPr/>
        </p:nvSpPr>
        <p:spPr>
          <a:xfrm>
            <a:off x="5760720" y="5138928"/>
            <a:ext cx="5852160" cy="411480"/>
          </a:xfrm>
          <a:prstGeom prst="rect">
            <a:avLst/>
          </a:prstGeom>
          <a:noFill/>
          <a:ln/>
        </p:spPr>
        <p:txBody>
          <a:bodyPr wrap="square" lIns="0" tIns="0" rIns="0" bIns="0" rtlCol="0" anchor="ctr"/>
          <a:lstStyle/>
          <a:p>
            <a:pPr indent="0" marL="0">
              <a:buNone/>
            </a:pPr>
            <a:r>
              <a:rPr lang="en-US" sz="1100" dirty="0">
                <a:solidFill>
                  <a:srgbClr val="B85C3E"/>
                </a:solidFill>
                <a:latin typeface="Courier New" pitchFamily="34" charset="0"/>
                <a:ea typeface="Courier New" pitchFamily="34" charset="-122"/>
                <a:cs typeface="Courier New" pitchFamily="34" charset="-120"/>
              </a:rPr>
              <a:t>anthropic.com/engineering/building-effective-agents</a:t>
            </a:r>
            <a:endParaRPr lang="en-US" sz="1100" dirty="0"/>
          </a:p>
        </p:txBody>
      </p:sp>
      <p:sp>
        <p:nvSpPr>
          <p:cNvPr id="21" name="Text 19"/>
          <p:cNvSpPr txBox="1"/>
          <p:nvPr/>
        </p:nvSpPr>
        <p:spPr>
          <a:xfrm>
            <a:off x="548640" y="5650992"/>
            <a:ext cx="5120640" cy="411480"/>
          </a:xfrm>
          <a:prstGeom prst="rect">
            <a:avLst/>
          </a:prstGeom>
          <a:noFill/>
          <a:ln/>
        </p:spPr>
        <p:txBody>
          <a:bodyPr wrap="square" lIns="0" tIns="0" rIns="0" bIns="0" rtlCol="0" anchor="ctr"/>
          <a:lstStyle/>
          <a:p>
            <a:pPr indent="0" marL="0">
              <a:buNone/>
            </a:pPr>
            <a:r>
              <a:rPr lang="en-US" sz="1350" b="1" dirty="0">
                <a:solidFill>
                  <a:srgbClr val="141413"/>
                </a:solidFill>
                <a:latin typeface="Calibri" pitchFamily="34" charset="0"/>
                <a:ea typeface="Calibri" pitchFamily="34" charset="-122"/>
                <a:cs typeface="Calibri" pitchFamily="34" charset="-120"/>
              </a:rPr>
              <a:t>Anthropic Academy: Building with the Claude API; AI Fluency</a:t>
            </a:r>
            <a:endParaRPr lang="en-US" sz="1350" dirty="0"/>
          </a:p>
        </p:txBody>
      </p:sp>
      <p:sp>
        <p:nvSpPr>
          <p:cNvPr id="22" name="Text 20"/>
          <p:cNvSpPr txBox="1"/>
          <p:nvPr/>
        </p:nvSpPr>
        <p:spPr>
          <a:xfrm>
            <a:off x="5760720" y="5650992"/>
            <a:ext cx="5852160" cy="411480"/>
          </a:xfrm>
          <a:prstGeom prst="rect">
            <a:avLst/>
          </a:prstGeom>
          <a:noFill/>
          <a:ln/>
        </p:spPr>
        <p:txBody>
          <a:bodyPr wrap="square" lIns="0" tIns="0" rIns="0" bIns="0" rtlCol="0" anchor="ctr"/>
          <a:lstStyle/>
          <a:p>
            <a:pPr indent="0" marL="0">
              <a:buNone/>
            </a:pPr>
            <a:r>
              <a:rPr lang="en-US" sz="1100" dirty="0">
                <a:solidFill>
                  <a:srgbClr val="B85C3E"/>
                </a:solidFill>
                <a:latin typeface="Courier New" pitchFamily="34" charset="0"/>
                <a:ea typeface="Courier New" pitchFamily="34" charset="-122"/>
                <a:cs typeface="Courier New" pitchFamily="34" charset="-120"/>
              </a:rPr>
              <a:t>anthropic.skilljar.com</a:t>
            </a:r>
            <a:endParaRPr lang="en-US" sz="1100" dirty="0"/>
          </a:p>
        </p:txBody>
      </p:sp>
      <p:sp>
        <p:nvSpPr>
          <p:cNvPr id="23" name="Text 21"/>
          <p:cNvSpPr txBox="1"/>
          <p:nvPr/>
        </p:nvSpPr>
        <p:spPr>
          <a:xfrm>
            <a:off x="548640" y="6172200"/>
            <a:ext cx="11064240" cy="274320"/>
          </a:xfrm>
          <a:prstGeom prst="rect">
            <a:avLst/>
          </a:prstGeom>
          <a:noFill/>
          <a:ln/>
        </p:spPr>
        <p:txBody>
          <a:bodyPr wrap="square" lIns="0" tIns="0" rIns="0" bIns="0" rtlCol="0" anchor="ctr"/>
          <a:lstStyle/>
          <a:p>
            <a:pPr indent="0" marL="0">
              <a:buNone/>
            </a:pPr>
            <a:r>
              <a:rPr lang="en-US" sz="1100" i="1" dirty="0">
                <a:solidFill>
                  <a:srgbClr val="87867F"/>
                </a:solidFill>
                <a:latin typeface="Calibri" pitchFamily="34" charset="0"/>
                <a:ea typeface="Calibri" pitchFamily="34" charset="-122"/>
                <a:cs typeface="Calibri" pitchFamily="34" charset="-120"/>
              </a:rPr>
              <a:t>Exam scenarios and sample questions: Claude Certified Architect – Foundations exam guide. Diagram: Anthropic, "Building effective agents".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1: Curriculum Orientation and Claude API Foundations</dc:title>
  <dc:subject>PptxGenJS Presentation</dc:subject>
  <dc:creator>Claude Architect Skills Curriculum</dc:creator>
  <cp:lastModifiedBy>Claude Architect Skills Curriculum</cp:lastModifiedBy>
  <cp:revision>1</cp:revision>
  <dcterms:created xsi:type="dcterms:W3CDTF">2026-09-29T07:50:06Z</dcterms:created>
  <dcterms:modified xsi:type="dcterms:W3CDTF">2026-09-29T07:50:06Z</dcterms:modified>
</cp:coreProperties>
</file>